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71" r:id="rId15"/>
    <p:sldId id="272" r:id="rId16"/>
    <p:sldId id="274" r:id="rId17"/>
    <p:sldId id="276" r:id="rId18"/>
    <p:sldId id="277" r:id="rId19"/>
    <p:sldId id="278" r:id="rId20"/>
    <p:sldId id="279" r:id="rId21"/>
    <p:sldId id="280" r:id="rId22"/>
    <p:sldId id="281" r:id="rId23"/>
    <p:sldId id="283" r:id="rId24"/>
    <p:sldId id="284" r:id="rId25"/>
    <p:sldId id="302" r:id="rId26"/>
    <p:sldId id="303" r:id="rId27"/>
    <p:sldId id="285" r:id="rId28"/>
    <p:sldId id="286" r:id="rId29"/>
    <p:sldId id="287" r:id="rId30"/>
    <p:sldId id="288" r:id="rId31"/>
    <p:sldId id="289" r:id="rId32"/>
    <p:sldId id="290" r:id="rId33"/>
    <p:sldId id="291" r:id="rId34"/>
    <p:sldId id="292" r:id="rId35"/>
    <p:sldId id="293" r:id="rId36"/>
    <p:sldId id="294" r:id="rId37"/>
    <p:sldId id="295" r:id="rId38"/>
    <p:sldId id="296" r:id="rId39"/>
    <p:sldId id="297" r:id="rId40"/>
    <p:sldId id="299" r:id="rId41"/>
    <p:sldId id="300" r:id="rId42"/>
  </p:sldIdLst>
  <p:sldSz cx="18288000" cy="10287000"/>
  <p:notesSz cx="6858000" cy="9144000"/>
  <p:embeddedFontLst>
    <p:embeddedFont>
      <p:font typeface="Glacial Indifference" panose="020B0604020202020204" charset="0"/>
      <p:regular r:id="rId43"/>
    </p:embeddedFont>
    <p:embeddedFont>
      <p:font typeface="Glacial Indifference Bold" panose="020B0604020202020204" charset="0"/>
      <p:regular r:id="rId44"/>
    </p:embeddedFont>
    <p:embeddedFont>
      <p:font typeface="Times New Roman Bold" panose="02020803070505020304" pitchFamily="18" charset="0"/>
      <p:regular r:id="rId45"/>
      <p:bold r:id="rId4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p:scale>
          <a:sx n="47" d="100"/>
          <a:sy n="47" d="100"/>
        </p:scale>
        <p:origin x="380" y="-74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font" Target="fonts/font3.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font" Target="fonts/font2.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font" Target="fonts/font1.fntdata"/><Relationship Id="rId48"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font" Target="fonts/font4.fntdata"/><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7/1/2026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7/1/2026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7/1/2026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7/1/2026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7/1/2026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7/1/2026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7/1/2026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7/1/2026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7/1/2026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7/1/2026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7/1/2026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7/1/2026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10.png"/></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12.png"/></Relationships>
</file>

<file path=ppt/slides/_rels/slide15.xml.rels><?xml version="1.0" encoding="UTF-8" standalone="yes"?>
<Relationships xmlns="http://schemas.openxmlformats.org/package/2006/relationships"><Relationship Id="rId3" Type="http://schemas.openxmlformats.org/officeDocument/2006/relationships/image" Target="../media/image13.png"/><Relationship Id="rId7" Type="http://schemas.openxmlformats.org/officeDocument/2006/relationships/image" Target="../media/image17.pn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1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20.png"/><Relationship Id="rId4" Type="http://schemas.openxmlformats.org/officeDocument/2006/relationships/image" Target="../media/image19.png"/></Relationships>
</file>

<file path=ppt/slides/_rels/slide1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27.png"/></Relationships>
</file>

<file path=ppt/slides/_rels/slide24.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29.png"/></Relationships>
</file>

<file path=ppt/slides/_rels/slide2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32.png"/></Relationships>
</file>

<file path=ppt/slides/_rels/slide2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35.png"/><Relationship Id="rId4" Type="http://schemas.openxmlformats.org/officeDocument/2006/relationships/image" Target="../media/image34.png"/></Relationships>
</file>

<file path=ppt/slides/_rels/slide32.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7.xml"/><Relationship Id="rId5" Type="http://schemas.openxmlformats.org/officeDocument/2006/relationships/image" Target="../media/image39.png"/><Relationship Id="rId4" Type="http://schemas.openxmlformats.org/officeDocument/2006/relationships/image" Target="../media/image38.png"/></Relationships>
</file>

<file path=ppt/slides/_rels/slide3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4683794" y="-1057737"/>
            <a:ext cx="18398613" cy="11344737"/>
          </a:xfrm>
          <a:custGeom>
            <a:avLst/>
            <a:gdLst/>
            <a:ahLst/>
            <a:cxnLst/>
            <a:rect l="l" t="t" r="r" b="b"/>
            <a:pathLst>
              <a:path w="18398613" h="11344737">
                <a:moveTo>
                  <a:pt x="0" y="0"/>
                </a:moveTo>
                <a:lnTo>
                  <a:pt x="18398613" y="0"/>
                </a:lnTo>
                <a:lnTo>
                  <a:pt x="18398613" y="11344737"/>
                </a:lnTo>
                <a:lnTo>
                  <a:pt x="0" y="11344737"/>
                </a:lnTo>
                <a:lnTo>
                  <a:pt x="0" y="0"/>
                </a:lnTo>
                <a:close/>
              </a:path>
            </a:pathLst>
          </a:custGeom>
          <a:blipFill>
            <a:blip r:embed="rId2"/>
            <a:stretch>
              <a:fillRect l="-33672" t="-41712" r="-37018" b="-13999"/>
            </a:stretch>
          </a:blipFill>
        </p:spPr>
        <p:txBody>
          <a:bodyPr/>
          <a:lstStyle/>
          <a:p>
            <a:endParaRPr lang="ar-SA"/>
          </a:p>
        </p:txBody>
      </p:sp>
      <p:grpSp>
        <p:nvGrpSpPr>
          <p:cNvPr id="3" name="Group 3"/>
          <p:cNvGrpSpPr/>
          <p:nvPr/>
        </p:nvGrpSpPr>
        <p:grpSpPr>
          <a:xfrm rot="-2088381">
            <a:off x="6234676" y="5034634"/>
            <a:ext cx="7946576" cy="1601596"/>
            <a:chOff x="0" y="0"/>
            <a:chExt cx="3539030" cy="713275"/>
          </a:xfrm>
        </p:grpSpPr>
        <p:sp>
          <p:nvSpPr>
            <p:cNvPr id="4" name="Freeform 4"/>
            <p:cNvSpPr/>
            <p:nvPr/>
          </p:nvSpPr>
          <p:spPr>
            <a:xfrm>
              <a:off x="0" y="0"/>
              <a:ext cx="3539030" cy="713275"/>
            </a:xfrm>
            <a:custGeom>
              <a:avLst/>
              <a:gdLst/>
              <a:ahLst/>
              <a:cxnLst/>
              <a:rect l="l" t="t" r="r" b="b"/>
              <a:pathLst>
                <a:path w="3539030" h="713275">
                  <a:moveTo>
                    <a:pt x="203200" y="0"/>
                  </a:moveTo>
                  <a:lnTo>
                    <a:pt x="3539030" y="0"/>
                  </a:lnTo>
                  <a:lnTo>
                    <a:pt x="3335830" y="713275"/>
                  </a:lnTo>
                  <a:lnTo>
                    <a:pt x="0" y="713275"/>
                  </a:lnTo>
                  <a:lnTo>
                    <a:pt x="203200" y="0"/>
                  </a:lnTo>
                  <a:close/>
                </a:path>
              </a:pathLst>
            </a:custGeom>
            <a:solidFill>
              <a:srgbClr val="66574D"/>
            </a:solidFill>
          </p:spPr>
          <p:txBody>
            <a:bodyPr/>
            <a:lstStyle/>
            <a:p>
              <a:endParaRPr lang="ar-SA"/>
            </a:p>
          </p:txBody>
        </p:sp>
        <p:sp>
          <p:nvSpPr>
            <p:cNvPr id="5" name="TextBox 5"/>
            <p:cNvSpPr txBox="1"/>
            <p:nvPr/>
          </p:nvSpPr>
          <p:spPr>
            <a:xfrm>
              <a:off x="101600" y="-38100"/>
              <a:ext cx="3335830" cy="751375"/>
            </a:xfrm>
            <a:prstGeom prst="rect">
              <a:avLst/>
            </a:prstGeom>
          </p:spPr>
          <p:txBody>
            <a:bodyPr lIns="50800" tIns="50800" rIns="50800" bIns="50800" rtlCol="0" anchor="ctr"/>
            <a:lstStyle/>
            <a:p>
              <a:pPr algn="ctr">
                <a:lnSpc>
                  <a:spcPts val="2659"/>
                </a:lnSpc>
              </a:pPr>
              <a:endParaRPr/>
            </a:p>
          </p:txBody>
        </p:sp>
      </p:grpSp>
      <p:grpSp>
        <p:nvGrpSpPr>
          <p:cNvPr id="6" name="Group 6"/>
          <p:cNvGrpSpPr/>
          <p:nvPr/>
        </p:nvGrpSpPr>
        <p:grpSpPr>
          <a:xfrm>
            <a:off x="6869839" y="905009"/>
            <a:ext cx="14248619" cy="8476983"/>
            <a:chOff x="0" y="0"/>
            <a:chExt cx="1024652" cy="609600"/>
          </a:xfrm>
        </p:grpSpPr>
        <p:sp>
          <p:nvSpPr>
            <p:cNvPr id="7" name="Freeform 7"/>
            <p:cNvSpPr/>
            <p:nvPr/>
          </p:nvSpPr>
          <p:spPr>
            <a:xfrm>
              <a:off x="0" y="0"/>
              <a:ext cx="1024652" cy="609600"/>
            </a:xfrm>
            <a:custGeom>
              <a:avLst/>
              <a:gdLst/>
              <a:ahLst/>
              <a:cxnLst/>
              <a:rect l="l" t="t" r="r" b="b"/>
              <a:pathLst>
                <a:path w="1024652" h="609600">
                  <a:moveTo>
                    <a:pt x="821452" y="0"/>
                  </a:moveTo>
                  <a:lnTo>
                    <a:pt x="0" y="0"/>
                  </a:lnTo>
                  <a:lnTo>
                    <a:pt x="203200" y="609600"/>
                  </a:lnTo>
                  <a:lnTo>
                    <a:pt x="1024652" y="609600"/>
                  </a:lnTo>
                  <a:lnTo>
                    <a:pt x="821452" y="0"/>
                  </a:lnTo>
                  <a:close/>
                </a:path>
              </a:pathLst>
            </a:custGeom>
            <a:solidFill>
              <a:srgbClr val="3D3735"/>
            </a:solidFill>
          </p:spPr>
          <p:txBody>
            <a:bodyPr/>
            <a:lstStyle/>
            <a:p>
              <a:endParaRPr lang="ar-SA"/>
            </a:p>
          </p:txBody>
        </p:sp>
        <p:sp>
          <p:nvSpPr>
            <p:cNvPr id="8" name="TextBox 8"/>
            <p:cNvSpPr txBox="1"/>
            <p:nvPr/>
          </p:nvSpPr>
          <p:spPr>
            <a:xfrm>
              <a:off x="101600" y="-38100"/>
              <a:ext cx="821452" cy="647700"/>
            </a:xfrm>
            <a:prstGeom prst="rect">
              <a:avLst/>
            </a:prstGeom>
          </p:spPr>
          <p:txBody>
            <a:bodyPr lIns="50800" tIns="50800" rIns="50800" bIns="50800" rtlCol="0" anchor="ctr"/>
            <a:lstStyle/>
            <a:p>
              <a:pPr algn="ctr">
                <a:lnSpc>
                  <a:spcPts val="2659"/>
                </a:lnSpc>
                <a:spcBef>
                  <a:spcPct val="0"/>
                </a:spcBef>
              </a:pPr>
              <a:endParaRPr/>
            </a:p>
          </p:txBody>
        </p:sp>
      </p:grpSp>
      <p:grpSp>
        <p:nvGrpSpPr>
          <p:cNvPr id="9" name="Group 9"/>
          <p:cNvGrpSpPr/>
          <p:nvPr/>
        </p:nvGrpSpPr>
        <p:grpSpPr>
          <a:xfrm>
            <a:off x="6869839" y="7206282"/>
            <a:ext cx="13689960" cy="1554646"/>
            <a:chOff x="0" y="0"/>
            <a:chExt cx="5368038" cy="609600"/>
          </a:xfrm>
        </p:grpSpPr>
        <p:sp>
          <p:nvSpPr>
            <p:cNvPr id="10" name="Freeform 10"/>
            <p:cNvSpPr/>
            <p:nvPr/>
          </p:nvSpPr>
          <p:spPr>
            <a:xfrm>
              <a:off x="0" y="0"/>
              <a:ext cx="5368038" cy="609600"/>
            </a:xfrm>
            <a:custGeom>
              <a:avLst/>
              <a:gdLst/>
              <a:ahLst/>
              <a:cxnLst/>
              <a:rect l="l" t="t" r="r" b="b"/>
              <a:pathLst>
                <a:path w="5368038" h="609600">
                  <a:moveTo>
                    <a:pt x="5164838" y="0"/>
                  </a:moveTo>
                  <a:lnTo>
                    <a:pt x="0" y="0"/>
                  </a:lnTo>
                  <a:lnTo>
                    <a:pt x="203200" y="609600"/>
                  </a:lnTo>
                  <a:lnTo>
                    <a:pt x="5368038" y="609600"/>
                  </a:lnTo>
                  <a:lnTo>
                    <a:pt x="5164838" y="0"/>
                  </a:lnTo>
                  <a:close/>
                </a:path>
              </a:pathLst>
            </a:custGeom>
            <a:solidFill>
              <a:srgbClr val="E9E1DB"/>
            </a:solidFill>
          </p:spPr>
          <p:txBody>
            <a:bodyPr/>
            <a:lstStyle/>
            <a:p>
              <a:endParaRPr lang="ar-SA"/>
            </a:p>
          </p:txBody>
        </p:sp>
        <p:sp>
          <p:nvSpPr>
            <p:cNvPr id="11" name="TextBox 11"/>
            <p:cNvSpPr txBox="1"/>
            <p:nvPr/>
          </p:nvSpPr>
          <p:spPr>
            <a:xfrm>
              <a:off x="101600" y="-38100"/>
              <a:ext cx="5164838" cy="647700"/>
            </a:xfrm>
            <a:prstGeom prst="rect">
              <a:avLst/>
            </a:prstGeom>
          </p:spPr>
          <p:txBody>
            <a:bodyPr lIns="50800" tIns="50800" rIns="50800" bIns="50800" rtlCol="0" anchor="ctr"/>
            <a:lstStyle/>
            <a:p>
              <a:pPr algn="ctr">
                <a:lnSpc>
                  <a:spcPts val="2659"/>
                </a:lnSpc>
                <a:spcBef>
                  <a:spcPct val="0"/>
                </a:spcBef>
              </a:pPr>
              <a:endParaRPr/>
            </a:p>
          </p:txBody>
        </p:sp>
      </p:grpSp>
      <p:grpSp>
        <p:nvGrpSpPr>
          <p:cNvPr id="12" name="Group 12"/>
          <p:cNvGrpSpPr/>
          <p:nvPr/>
        </p:nvGrpSpPr>
        <p:grpSpPr>
          <a:xfrm rot="8711618">
            <a:off x="-4404721" y="9273126"/>
            <a:ext cx="7946576" cy="1601596"/>
            <a:chOff x="0" y="0"/>
            <a:chExt cx="3539030" cy="713275"/>
          </a:xfrm>
        </p:grpSpPr>
        <p:sp>
          <p:nvSpPr>
            <p:cNvPr id="13" name="Freeform 13"/>
            <p:cNvSpPr/>
            <p:nvPr/>
          </p:nvSpPr>
          <p:spPr>
            <a:xfrm>
              <a:off x="0" y="0"/>
              <a:ext cx="3539030" cy="713275"/>
            </a:xfrm>
            <a:custGeom>
              <a:avLst/>
              <a:gdLst/>
              <a:ahLst/>
              <a:cxnLst/>
              <a:rect l="l" t="t" r="r" b="b"/>
              <a:pathLst>
                <a:path w="3539030" h="713275">
                  <a:moveTo>
                    <a:pt x="203200" y="0"/>
                  </a:moveTo>
                  <a:lnTo>
                    <a:pt x="3539030" y="0"/>
                  </a:lnTo>
                  <a:lnTo>
                    <a:pt x="3335830" y="713275"/>
                  </a:lnTo>
                  <a:lnTo>
                    <a:pt x="0" y="713275"/>
                  </a:lnTo>
                  <a:lnTo>
                    <a:pt x="203200" y="0"/>
                  </a:lnTo>
                  <a:close/>
                </a:path>
              </a:pathLst>
            </a:custGeom>
            <a:solidFill>
              <a:srgbClr val="66574D"/>
            </a:solidFill>
          </p:spPr>
          <p:txBody>
            <a:bodyPr/>
            <a:lstStyle/>
            <a:p>
              <a:endParaRPr lang="ar-SA"/>
            </a:p>
          </p:txBody>
        </p:sp>
        <p:sp>
          <p:nvSpPr>
            <p:cNvPr id="14" name="TextBox 14"/>
            <p:cNvSpPr txBox="1"/>
            <p:nvPr/>
          </p:nvSpPr>
          <p:spPr>
            <a:xfrm>
              <a:off x="101600" y="-38100"/>
              <a:ext cx="3335830" cy="751375"/>
            </a:xfrm>
            <a:prstGeom prst="rect">
              <a:avLst/>
            </a:prstGeom>
          </p:spPr>
          <p:txBody>
            <a:bodyPr lIns="50800" tIns="50800" rIns="50800" bIns="50800" rtlCol="0" anchor="ctr"/>
            <a:lstStyle/>
            <a:p>
              <a:pPr algn="ctr">
                <a:lnSpc>
                  <a:spcPts val="2659"/>
                </a:lnSpc>
              </a:pPr>
              <a:endParaRPr/>
            </a:p>
          </p:txBody>
        </p:sp>
      </p:grpSp>
      <p:grpSp>
        <p:nvGrpSpPr>
          <p:cNvPr id="15" name="Group 15"/>
          <p:cNvGrpSpPr/>
          <p:nvPr/>
        </p:nvGrpSpPr>
        <p:grpSpPr>
          <a:xfrm>
            <a:off x="-10960542" y="5835432"/>
            <a:ext cx="14248619" cy="8476983"/>
            <a:chOff x="0" y="0"/>
            <a:chExt cx="1024652" cy="609600"/>
          </a:xfrm>
        </p:grpSpPr>
        <p:sp>
          <p:nvSpPr>
            <p:cNvPr id="16" name="Freeform 16"/>
            <p:cNvSpPr/>
            <p:nvPr/>
          </p:nvSpPr>
          <p:spPr>
            <a:xfrm>
              <a:off x="0" y="0"/>
              <a:ext cx="1024652" cy="609600"/>
            </a:xfrm>
            <a:custGeom>
              <a:avLst/>
              <a:gdLst/>
              <a:ahLst/>
              <a:cxnLst/>
              <a:rect l="l" t="t" r="r" b="b"/>
              <a:pathLst>
                <a:path w="1024652" h="609600">
                  <a:moveTo>
                    <a:pt x="821452" y="0"/>
                  </a:moveTo>
                  <a:lnTo>
                    <a:pt x="0" y="0"/>
                  </a:lnTo>
                  <a:lnTo>
                    <a:pt x="203200" y="609600"/>
                  </a:lnTo>
                  <a:lnTo>
                    <a:pt x="1024652" y="609600"/>
                  </a:lnTo>
                  <a:lnTo>
                    <a:pt x="821452" y="0"/>
                  </a:lnTo>
                  <a:close/>
                </a:path>
              </a:pathLst>
            </a:custGeom>
            <a:solidFill>
              <a:srgbClr val="3D3735"/>
            </a:solidFill>
          </p:spPr>
          <p:txBody>
            <a:bodyPr/>
            <a:lstStyle/>
            <a:p>
              <a:endParaRPr lang="ar-SA"/>
            </a:p>
          </p:txBody>
        </p:sp>
        <p:sp>
          <p:nvSpPr>
            <p:cNvPr id="17" name="TextBox 17"/>
            <p:cNvSpPr txBox="1"/>
            <p:nvPr/>
          </p:nvSpPr>
          <p:spPr>
            <a:xfrm>
              <a:off x="101600" y="-38100"/>
              <a:ext cx="821452" cy="647700"/>
            </a:xfrm>
            <a:prstGeom prst="rect">
              <a:avLst/>
            </a:prstGeom>
          </p:spPr>
          <p:txBody>
            <a:bodyPr lIns="50800" tIns="50800" rIns="50800" bIns="50800" rtlCol="0" anchor="ctr"/>
            <a:lstStyle/>
            <a:p>
              <a:pPr algn="ctr">
                <a:lnSpc>
                  <a:spcPts val="2659"/>
                </a:lnSpc>
                <a:spcBef>
                  <a:spcPct val="0"/>
                </a:spcBef>
              </a:pPr>
              <a:endParaRPr/>
            </a:p>
          </p:txBody>
        </p:sp>
      </p:grpSp>
      <p:grpSp>
        <p:nvGrpSpPr>
          <p:cNvPr id="18" name="Group 18"/>
          <p:cNvGrpSpPr/>
          <p:nvPr/>
        </p:nvGrpSpPr>
        <p:grpSpPr>
          <a:xfrm rot="-10800000">
            <a:off x="-10792952" y="7148428"/>
            <a:ext cx="13689960" cy="1554646"/>
            <a:chOff x="0" y="0"/>
            <a:chExt cx="5368038" cy="609600"/>
          </a:xfrm>
        </p:grpSpPr>
        <p:sp>
          <p:nvSpPr>
            <p:cNvPr id="19" name="Freeform 19"/>
            <p:cNvSpPr/>
            <p:nvPr/>
          </p:nvSpPr>
          <p:spPr>
            <a:xfrm>
              <a:off x="0" y="0"/>
              <a:ext cx="5368038" cy="609600"/>
            </a:xfrm>
            <a:custGeom>
              <a:avLst/>
              <a:gdLst/>
              <a:ahLst/>
              <a:cxnLst/>
              <a:rect l="l" t="t" r="r" b="b"/>
              <a:pathLst>
                <a:path w="5368038" h="609600">
                  <a:moveTo>
                    <a:pt x="5164838" y="0"/>
                  </a:moveTo>
                  <a:lnTo>
                    <a:pt x="0" y="0"/>
                  </a:lnTo>
                  <a:lnTo>
                    <a:pt x="203200" y="609600"/>
                  </a:lnTo>
                  <a:lnTo>
                    <a:pt x="5368038" y="609600"/>
                  </a:lnTo>
                  <a:lnTo>
                    <a:pt x="5164838" y="0"/>
                  </a:lnTo>
                  <a:close/>
                </a:path>
              </a:pathLst>
            </a:custGeom>
            <a:solidFill>
              <a:srgbClr val="E9E1DB"/>
            </a:solidFill>
          </p:spPr>
          <p:txBody>
            <a:bodyPr/>
            <a:lstStyle/>
            <a:p>
              <a:endParaRPr lang="ar-SA"/>
            </a:p>
          </p:txBody>
        </p:sp>
        <p:sp>
          <p:nvSpPr>
            <p:cNvPr id="20" name="TextBox 20"/>
            <p:cNvSpPr txBox="1"/>
            <p:nvPr/>
          </p:nvSpPr>
          <p:spPr>
            <a:xfrm>
              <a:off x="101600" y="-38100"/>
              <a:ext cx="5164838" cy="647700"/>
            </a:xfrm>
            <a:prstGeom prst="rect">
              <a:avLst/>
            </a:prstGeom>
          </p:spPr>
          <p:txBody>
            <a:bodyPr lIns="50800" tIns="50800" rIns="50800" bIns="50800" rtlCol="0" anchor="ctr"/>
            <a:lstStyle/>
            <a:p>
              <a:pPr algn="ctr">
                <a:lnSpc>
                  <a:spcPts val="2659"/>
                </a:lnSpc>
                <a:spcBef>
                  <a:spcPct val="0"/>
                </a:spcBef>
              </a:pPr>
              <a:endParaRPr/>
            </a:p>
          </p:txBody>
        </p:sp>
      </p:grpSp>
      <p:sp>
        <p:nvSpPr>
          <p:cNvPr id="21" name="TextBox 21"/>
          <p:cNvSpPr txBox="1"/>
          <p:nvPr/>
        </p:nvSpPr>
        <p:spPr>
          <a:xfrm>
            <a:off x="13319428" y="5787807"/>
            <a:ext cx="3939872" cy="422275"/>
          </a:xfrm>
          <a:prstGeom prst="rect">
            <a:avLst/>
          </a:prstGeom>
        </p:spPr>
        <p:txBody>
          <a:bodyPr lIns="0" tIns="0" rIns="0" bIns="0" rtlCol="0" anchor="t">
            <a:spAutoFit/>
          </a:bodyPr>
          <a:lstStyle/>
          <a:p>
            <a:pPr algn="r">
              <a:lnSpc>
                <a:spcPts val="2974"/>
              </a:lnSpc>
            </a:pPr>
            <a:r>
              <a:rPr lang="en-US" sz="2499">
                <a:solidFill>
                  <a:srgbClr val="E9E1DB"/>
                </a:solidFill>
                <a:latin typeface="Times New Roman"/>
                <a:ea typeface="Times New Roman"/>
                <a:cs typeface="Times New Roman"/>
                <a:sym typeface="Times New Roman"/>
              </a:rPr>
              <a:t>Presented By: Amjad Alamri</a:t>
            </a:r>
          </a:p>
        </p:txBody>
      </p:sp>
      <p:sp>
        <p:nvSpPr>
          <p:cNvPr id="22" name="TextBox 22"/>
          <p:cNvSpPr txBox="1"/>
          <p:nvPr/>
        </p:nvSpPr>
        <p:spPr>
          <a:xfrm>
            <a:off x="12238158" y="7652770"/>
            <a:ext cx="5021142" cy="594995"/>
          </a:xfrm>
          <a:prstGeom prst="rect">
            <a:avLst/>
          </a:prstGeom>
        </p:spPr>
        <p:txBody>
          <a:bodyPr lIns="0" tIns="0" rIns="0" bIns="0" rtlCol="0" anchor="t">
            <a:spAutoFit/>
          </a:bodyPr>
          <a:lstStyle/>
          <a:p>
            <a:pPr algn="r">
              <a:lnSpc>
                <a:spcPts val="4165"/>
              </a:lnSpc>
            </a:pPr>
            <a:r>
              <a:rPr lang="en-US" sz="3500">
                <a:solidFill>
                  <a:srgbClr val="3D3735"/>
                </a:solidFill>
                <a:latin typeface="Times New Roman"/>
                <a:ea typeface="Times New Roman"/>
                <a:cs typeface="Times New Roman"/>
                <a:sym typeface="Times New Roman"/>
              </a:rPr>
              <a:t>2025-1447 </a:t>
            </a:r>
          </a:p>
        </p:txBody>
      </p:sp>
      <p:sp>
        <p:nvSpPr>
          <p:cNvPr id="23" name="TextBox 23"/>
          <p:cNvSpPr txBox="1"/>
          <p:nvPr/>
        </p:nvSpPr>
        <p:spPr>
          <a:xfrm>
            <a:off x="9144000" y="3840607"/>
            <a:ext cx="8115300" cy="1462141"/>
          </a:xfrm>
          <a:prstGeom prst="rect">
            <a:avLst/>
          </a:prstGeom>
        </p:spPr>
        <p:txBody>
          <a:bodyPr lIns="0" tIns="0" rIns="0" bIns="0" rtlCol="0" anchor="t">
            <a:spAutoFit/>
          </a:bodyPr>
          <a:lstStyle/>
          <a:p>
            <a:pPr algn="r">
              <a:lnSpc>
                <a:spcPts val="10759"/>
              </a:lnSpc>
            </a:pPr>
            <a:r>
              <a:rPr lang="en-US" sz="7685">
                <a:solidFill>
                  <a:srgbClr val="E9E1DB"/>
                </a:solidFill>
                <a:latin typeface="Times New Roman"/>
                <a:ea typeface="Times New Roman"/>
                <a:cs typeface="Times New Roman"/>
                <a:sym typeface="Times New Roman"/>
              </a:rPr>
              <a:t>PRESENTATION</a:t>
            </a:r>
          </a:p>
        </p:txBody>
      </p:sp>
      <p:sp>
        <p:nvSpPr>
          <p:cNvPr id="24" name="TextBox 24"/>
          <p:cNvSpPr txBox="1"/>
          <p:nvPr/>
        </p:nvSpPr>
        <p:spPr>
          <a:xfrm>
            <a:off x="9144000" y="2322664"/>
            <a:ext cx="8115300" cy="1530349"/>
          </a:xfrm>
          <a:prstGeom prst="rect">
            <a:avLst/>
          </a:prstGeom>
        </p:spPr>
        <p:txBody>
          <a:bodyPr lIns="0" tIns="0" rIns="0" bIns="0" rtlCol="0" anchor="t">
            <a:spAutoFit/>
          </a:bodyPr>
          <a:lstStyle/>
          <a:p>
            <a:pPr algn="r">
              <a:lnSpc>
                <a:spcPts val="11200"/>
              </a:lnSpc>
            </a:pPr>
            <a:r>
              <a:rPr lang="en-US" sz="8000">
                <a:solidFill>
                  <a:srgbClr val="E9E1DB"/>
                </a:solidFill>
                <a:latin typeface="Times New Roman"/>
                <a:ea typeface="Times New Roman"/>
                <a:cs typeface="Times New Roman"/>
                <a:sym typeface="Times New Roman"/>
              </a:rPr>
              <a:t>CO-OP Report</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400235" y="-2280012"/>
            <a:ext cx="21938561" cy="13496146"/>
          </a:xfrm>
          <a:custGeom>
            <a:avLst/>
            <a:gdLst/>
            <a:ahLst/>
            <a:cxnLst/>
            <a:rect l="l" t="t" r="r" b="b"/>
            <a:pathLst>
              <a:path w="21938561" h="13496146">
                <a:moveTo>
                  <a:pt x="0" y="0"/>
                </a:moveTo>
                <a:lnTo>
                  <a:pt x="21938560" y="0"/>
                </a:lnTo>
                <a:lnTo>
                  <a:pt x="21938560" y="13496146"/>
                </a:lnTo>
                <a:lnTo>
                  <a:pt x="0" y="13496146"/>
                </a:lnTo>
                <a:lnTo>
                  <a:pt x="0" y="0"/>
                </a:lnTo>
                <a:close/>
              </a:path>
            </a:pathLst>
          </a:custGeom>
          <a:blipFill>
            <a:blip r:embed="rId2"/>
            <a:stretch>
              <a:fillRect l="-32641" t="-36451" r="-34370" b="-16258"/>
            </a:stretch>
          </a:blipFill>
        </p:spPr>
        <p:txBody>
          <a:bodyPr/>
          <a:lstStyle/>
          <a:p>
            <a:endParaRPr lang="ar-SA"/>
          </a:p>
        </p:txBody>
      </p:sp>
      <p:grpSp>
        <p:nvGrpSpPr>
          <p:cNvPr id="3" name="Group 3"/>
          <p:cNvGrpSpPr/>
          <p:nvPr/>
        </p:nvGrpSpPr>
        <p:grpSpPr>
          <a:xfrm rot="-2088381">
            <a:off x="513524" y="5158326"/>
            <a:ext cx="7946576" cy="1601596"/>
            <a:chOff x="0" y="0"/>
            <a:chExt cx="3539030" cy="713275"/>
          </a:xfrm>
        </p:grpSpPr>
        <p:sp>
          <p:nvSpPr>
            <p:cNvPr id="4" name="Freeform 4"/>
            <p:cNvSpPr/>
            <p:nvPr/>
          </p:nvSpPr>
          <p:spPr>
            <a:xfrm>
              <a:off x="0" y="0"/>
              <a:ext cx="3539030" cy="713275"/>
            </a:xfrm>
            <a:custGeom>
              <a:avLst/>
              <a:gdLst/>
              <a:ahLst/>
              <a:cxnLst/>
              <a:rect l="l" t="t" r="r" b="b"/>
              <a:pathLst>
                <a:path w="3539030" h="713275">
                  <a:moveTo>
                    <a:pt x="203200" y="0"/>
                  </a:moveTo>
                  <a:lnTo>
                    <a:pt x="3539030" y="0"/>
                  </a:lnTo>
                  <a:lnTo>
                    <a:pt x="3335830" y="713275"/>
                  </a:lnTo>
                  <a:lnTo>
                    <a:pt x="0" y="713275"/>
                  </a:lnTo>
                  <a:lnTo>
                    <a:pt x="203200" y="0"/>
                  </a:lnTo>
                  <a:close/>
                </a:path>
              </a:pathLst>
            </a:custGeom>
            <a:solidFill>
              <a:srgbClr val="66574D"/>
            </a:solidFill>
          </p:spPr>
          <p:txBody>
            <a:bodyPr/>
            <a:lstStyle/>
            <a:p>
              <a:endParaRPr lang="ar-SA"/>
            </a:p>
          </p:txBody>
        </p:sp>
        <p:sp>
          <p:nvSpPr>
            <p:cNvPr id="5" name="TextBox 5"/>
            <p:cNvSpPr txBox="1"/>
            <p:nvPr/>
          </p:nvSpPr>
          <p:spPr>
            <a:xfrm>
              <a:off x="101600" y="-38100"/>
              <a:ext cx="3335830" cy="751375"/>
            </a:xfrm>
            <a:prstGeom prst="rect">
              <a:avLst/>
            </a:prstGeom>
          </p:spPr>
          <p:txBody>
            <a:bodyPr lIns="50800" tIns="50800" rIns="50800" bIns="50800" rtlCol="0" anchor="ctr"/>
            <a:lstStyle/>
            <a:p>
              <a:pPr algn="ctr">
                <a:lnSpc>
                  <a:spcPts val="2659"/>
                </a:lnSpc>
              </a:pPr>
              <a:endParaRPr/>
            </a:p>
          </p:txBody>
        </p:sp>
      </p:grpSp>
      <p:grpSp>
        <p:nvGrpSpPr>
          <p:cNvPr id="6" name="Group 6"/>
          <p:cNvGrpSpPr/>
          <p:nvPr/>
        </p:nvGrpSpPr>
        <p:grpSpPr>
          <a:xfrm>
            <a:off x="1148687" y="1028700"/>
            <a:ext cx="16394051" cy="8476983"/>
            <a:chOff x="0" y="0"/>
            <a:chExt cx="1178935" cy="609600"/>
          </a:xfrm>
        </p:grpSpPr>
        <p:sp>
          <p:nvSpPr>
            <p:cNvPr id="7" name="Freeform 7"/>
            <p:cNvSpPr/>
            <p:nvPr/>
          </p:nvSpPr>
          <p:spPr>
            <a:xfrm>
              <a:off x="0" y="0"/>
              <a:ext cx="1178935" cy="609600"/>
            </a:xfrm>
            <a:custGeom>
              <a:avLst/>
              <a:gdLst/>
              <a:ahLst/>
              <a:cxnLst/>
              <a:rect l="l" t="t" r="r" b="b"/>
              <a:pathLst>
                <a:path w="1178935" h="609600">
                  <a:moveTo>
                    <a:pt x="975735" y="0"/>
                  </a:moveTo>
                  <a:lnTo>
                    <a:pt x="0" y="0"/>
                  </a:lnTo>
                  <a:lnTo>
                    <a:pt x="203200" y="609600"/>
                  </a:lnTo>
                  <a:lnTo>
                    <a:pt x="1178935" y="609600"/>
                  </a:lnTo>
                  <a:lnTo>
                    <a:pt x="975735" y="0"/>
                  </a:lnTo>
                  <a:close/>
                </a:path>
              </a:pathLst>
            </a:custGeom>
            <a:solidFill>
              <a:srgbClr val="3D3735"/>
            </a:solidFill>
          </p:spPr>
          <p:txBody>
            <a:bodyPr/>
            <a:lstStyle/>
            <a:p>
              <a:endParaRPr lang="ar-SA"/>
            </a:p>
          </p:txBody>
        </p:sp>
        <p:sp>
          <p:nvSpPr>
            <p:cNvPr id="8" name="TextBox 8"/>
            <p:cNvSpPr txBox="1"/>
            <p:nvPr/>
          </p:nvSpPr>
          <p:spPr>
            <a:xfrm>
              <a:off x="101600" y="-38100"/>
              <a:ext cx="975735" cy="647700"/>
            </a:xfrm>
            <a:prstGeom prst="rect">
              <a:avLst/>
            </a:prstGeom>
          </p:spPr>
          <p:txBody>
            <a:bodyPr lIns="50800" tIns="50800" rIns="50800" bIns="50800" rtlCol="0" anchor="ctr"/>
            <a:lstStyle/>
            <a:p>
              <a:pPr algn="ctr">
                <a:lnSpc>
                  <a:spcPts val="2659"/>
                </a:lnSpc>
                <a:spcBef>
                  <a:spcPct val="0"/>
                </a:spcBef>
              </a:pPr>
              <a:endParaRPr/>
            </a:p>
          </p:txBody>
        </p:sp>
      </p:grpSp>
      <p:grpSp>
        <p:nvGrpSpPr>
          <p:cNvPr id="9" name="Group 9"/>
          <p:cNvGrpSpPr/>
          <p:nvPr/>
        </p:nvGrpSpPr>
        <p:grpSpPr>
          <a:xfrm>
            <a:off x="1148687" y="7329973"/>
            <a:ext cx="18998529" cy="1554646"/>
            <a:chOff x="0" y="0"/>
            <a:chExt cx="7449608" cy="609600"/>
          </a:xfrm>
        </p:grpSpPr>
        <p:sp>
          <p:nvSpPr>
            <p:cNvPr id="10" name="Freeform 10"/>
            <p:cNvSpPr/>
            <p:nvPr/>
          </p:nvSpPr>
          <p:spPr>
            <a:xfrm>
              <a:off x="0" y="0"/>
              <a:ext cx="7449608" cy="609600"/>
            </a:xfrm>
            <a:custGeom>
              <a:avLst/>
              <a:gdLst/>
              <a:ahLst/>
              <a:cxnLst/>
              <a:rect l="l" t="t" r="r" b="b"/>
              <a:pathLst>
                <a:path w="7449608" h="609600">
                  <a:moveTo>
                    <a:pt x="7246408" y="0"/>
                  </a:moveTo>
                  <a:lnTo>
                    <a:pt x="0" y="0"/>
                  </a:lnTo>
                  <a:lnTo>
                    <a:pt x="203200" y="609600"/>
                  </a:lnTo>
                  <a:lnTo>
                    <a:pt x="7449608" y="609600"/>
                  </a:lnTo>
                  <a:lnTo>
                    <a:pt x="7246408" y="0"/>
                  </a:lnTo>
                  <a:close/>
                </a:path>
              </a:pathLst>
            </a:custGeom>
            <a:solidFill>
              <a:srgbClr val="E9E1DB"/>
            </a:solidFill>
          </p:spPr>
          <p:txBody>
            <a:bodyPr/>
            <a:lstStyle/>
            <a:p>
              <a:endParaRPr lang="ar-SA"/>
            </a:p>
          </p:txBody>
        </p:sp>
        <p:sp>
          <p:nvSpPr>
            <p:cNvPr id="11" name="TextBox 11"/>
            <p:cNvSpPr txBox="1"/>
            <p:nvPr/>
          </p:nvSpPr>
          <p:spPr>
            <a:xfrm>
              <a:off x="101600" y="-38100"/>
              <a:ext cx="7246408" cy="647700"/>
            </a:xfrm>
            <a:prstGeom prst="rect">
              <a:avLst/>
            </a:prstGeom>
          </p:spPr>
          <p:txBody>
            <a:bodyPr lIns="50800" tIns="50800" rIns="50800" bIns="50800" rtlCol="0" anchor="ctr"/>
            <a:lstStyle/>
            <a:p>
              <a:pPr algn="ctr">
                <a:lnSpc>
                  <a:spcPts val="2659"/>
                </a:lnSpc>
                <a:spcBef>
                  <a:spcPct val="0"/>
                </a:spcBef>
              </a:pPr>
              <a:endParaRPr/>
            </a:p>
          </p:txBody>
        </p:sp>
      </p:grpSp>
      <p:sp>
        <p:nvSpPr>
          <p:cNvPr id="12" name="TextBox 12"/>
          <p:cNvSpPr txBox="1"/>
          <p:nvPr/>
        </p:nvSpPr>
        <p:spPr>
          <a:xfrm>
            <a:off x="4475733" y="3678942"/>
            <a:ext cx="9336533" cy="1311539"/>
          </a:xfrm>
          <a:prstGeom prst="rect">
            <a:avLst/>
          </a:prstGeom>
        </p:spPr>
        <p:txBody>
          <a:bodyPr lIns="0" tIns="0" rIns="0" bIns="0" rtlCol="0" anchor="t">
            <a:spAutoFit/>
          </a:bodyPr>
          <a:lstStyle/>
          <a:p>
            <a:pPr algn="ctr">
              <a:lnSpc>
                <a:spcPts val="9610"/>
              </a:lnSpc>
            </a:pPr>
            <a:r>
              <a:rPr lang="en-US" sz="6864">
                <a:solidFill>
                  <a:srgbClr val="E9E1DB"/>
                </a:solidFill>
                <a:latin typeface="Times New Roman"/>
                <a:ea typeface="Times New Roman"/>
                <a:cs typeface="Times New Roman"/>
                <a:sym typeface="Times New Roman"/>
              </a:rPr>
              <a:t>INTRODUCTION </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E9E1DB"/>
        </a:solidFill>
        <a:effectLst/>
      </p:bgPr>
    </p:bg>
    <p:spTree>
      <p:nvGrpSpPr>
        <p:cNvPr id="1" name=""/>
        <p:cNvGrpSpPr/>
        <p:nvPr/>
      </p:nvGrpSpPr>
      <p:grpSpPr>
        <a:xfrm>
          <a:off x="0" y="0"/>
          <a:ext cx="0" cy="0"/>
          <a:chOff x="0" y="0"/>
          <a:chExt cx="0" cy="0"/>
        </a:xfrm>
      </p:grpSpPr>
      <p:grpSp>
        <p:nvGrpSpPr>
          <p:cNvPr id="2" name="Group 2"/>
          <p:cNvGrpSpPr/>
          <p:nvPr/>
        </p:nvGrpSpPr>
        <p:grpSpPr>
          <a:xfrm rot="8711618">
            <a:off x="-1290388" y="8283004"/>
            <a:ext cx="6894380" cy="1625941"/>
            <a:chOff x="0" y="0"/>
            <a:chExt cx="3024458" cy="713275"/>
          </a:xfrm>
        </p:grpSpPr>
        <p:sp>
          <p:nvSpPr>
            <p:cNvPr id="3" name="Freeform 3"/>
            <p:cNvSpPr/>
            <p:nvPr/>
          </p:nvSpPr>
          <p:spPr>
            <a:xfrm>
              <a:off x="0" y="0"/>
              <a:ext cx="3024458" cy="713275"/>
            </a:xfrm>
            <a:custGeom>
              <a:avLst/>
              <a:gdLst/>
              <a:ahLst/>
              <a:cxnLst/>
              <a:rect l="l" t="t" r="r" b="b"/>
              <a:pathLst>
                <a:path w="3024458" h="713275">
                  <a:moveTo>
                    <a:pt x="203200" y="0"/>
                  </a:moveTo>
                  <a:lnTo>
                    <a:pt x="3024458" y="0"/>
                  </a:lnTo>
                  <a:lnTo>
                    <a:pt x="2821258" y="713275"/>
                  </a:lnTo>
                  <a:lnTo>
                    <a:pt x="0" y="713275"/>
                  </a:lnTo>
                  <a:lnTo>
                    <a:pt x="203200" y="0"/>
                  </a:lnTo>
                  <a:close/>
                </a:path>
              </a:pathLst>
            </a:custGeom>
            <a:solidFill>
              <a:srgbClr val="3D3735"/>
            </a:solidFill>
          </p:spPr>
          <p:txBody>
            <a:bodyPr/>
            <a:lstStyle/>
            <a:p>
              <a:endParaRPr lang="ar-SA"/>
            </a:p>
          </p:txBody>
        </p:sp>
        <p:sp>
          <p:nvSpPr>
            <p:cNvPr id="4" name="TextBox 4"/>
            <p:cNvSpPr txBox="1"/>
            <p:nvPr/>
          </p:nvSpPr>
          <p:spPr>
            <a:xfrm>
              <a:off x="101600" y="-38100"/>
              <a:ext cx="2821258" cy="751375"/>
            </a:xfrm>
            <a:prstGeom prst="rect">
              <a:avLst/>
            </a:prstGeom>
          </p:spPr>
          <p:txBody>
            <a:bodyPr lIns="50800" tIns="50800" rIns="50800" bIns="50800" rtlCol="0" anchor="ctr"/>
            <a:lstStyle/>
            <a:p>
              <a:pPr algn="ctr">
                <a:lnSpc>
                  <a:spcPts val="2659"/>
                </a:lnSpc>
              </a:pPr>
              <a:endParaRPr/>
            </a:p>
          </p:txBody>
        </p:sp>
      </p:grpSp>
      <p:grpSp>
        <p:nvGrpSpPr>
          <p:cNvPr id="5" name="Group 5"/>
          <p:cNvGrpSpPr/>
          <p:nvPr/>
        </p:nvGrpSpPr>
        <p:grpSpPr>
          <a:xfrm>
            <a:off x="0" y="-242110"/>
            <a:ext cx="4822222" cy="11369911"/>
            <a:chOff x="0" y="0"/>
            <a:chExt cx="560316" cy="1321123"/>
          </a:xfrm>
        </p:grpSpPr>
        <p:sp>
          <p:nvSpPr>
            <p:cNvPr id="6" name="Freeform 6"/>
            <p:cNvSpPr/>
            <p:nvPr/>
          </p:nvSpPr>
          <p:spPr>
            <a:xfrm>
              <a:off x="0" y="0"/>
              <a:ext cx="560316" cy="1321123"/>
            </a:xfrm>
            <a:custGeom>
              <a:avLst/>
              <a:gdLst/>
              <a:ahLst/>
              <a:cxnLst/>
              <a:rect l="l" t="t" r="r" b="b"/>
              <a:pathLst>
                <a:path w="560316" h="1321123">
                  <a:moveTo>
                    <a:pt x="357116" y="0"/>
                  </a:moveTo>
                  <a:lnTo>
                    <a:pt x="0" y="0"/>
                  </a:lnTo>
                  <a:lnTo>
                    <a:pt x="203200" y="1321123"/>
                  </a:lnTo>
                  <a:lnTo>
                    <a:pt x="560316" y="1321123"/>
                  </a:lnTo>
                  <a:lnTo>
                    <a:pt x="357116" y="0"/>
                  </a:lnTo>
                  <a:close/>
                </a:path>
              </a:pathLst>
            </a:custGeom>
            <a:blipFill>
              <a:blip r:embed="rId2"/>
              <a:stretch>
                <a:fillRect l="-214747" t="-30238" r="-260773" b="-7063"/>
              </a:stretch>
            </a:blipFill>
          </p:spPr>
          <p:txBody>
            <a:bodyPr/>
            <a:lstStyle/>
            <a:p>
              <a:endParaRPr lang="ar-SA"/>
            </a:p>
          </p:txBody>
        </p:sp>
      </p:grpSp>
      <p:grpSp>
        <p:nvGrpSpPr>
          <p:cNvPr id="7" name="Group 7"/>
          <p:cNvGrpSpPr/>
          <p:nvPr/>
        </p:nvGrpSpPr>
        <p:grpSpPr>
          <a:xfrm rot="-10800000">
            <a:off x="-8783162" y="6460783"/>
            <a:ext cx="13898056" cy="1578278"/>
            <a:chOff x="0" y="0"/>
            <a:chExt cx="5368038" cy="609600"/>
          </a:xfrm>
        </p:grpSpPr>
        <p:sp>
          <p:nvSpPr>
            <p:cNvPr id="8" name="Freeform 8"/>
            <p:cNvSpPr/>
            <p:nvPr/>
          </p:nvSpPr>
          <p:spPr>
            <a:xfrm>
              <a:off x="0" y="0"/>
              <a:ext cx="5368038" cy="609600"/>
            </a:xfrm>
            <a:custGeom>
              <a:avLst/>
              <a:gdLst/>
              <a:ahLst/>
              <a:cxnLst/>
              <a:rect l="l" t="t" r="r" b="b"/>
              <a:pathLst>
                <a:path w="5368038" h="609600">
                  <a:moveTo>
                    <a:pt x="5164838" y="0"/>
                  </a:moveTo>
                  <a:lnTo>
                    <a:pt x="0" y="0"/>
                  </a:lnTo>
                  <a:lnTo>
                    <a:pt x="203200" y="609600"/>
                  </a:lnTo>
                  <a:lnTo>
                    <a:pt x="5368038" y="609600"/>
                  </a:lnTo>
                  <a:lnTo>
                    <a:pt x="5164838" y="0"/>
                  </a:lnTo>
                  <a:close/>
                </a:path>
              </a:pathLst>
            </a:custGeom>
            <a:solidFill>
              <a:srgbClr val="FFFFFF"/>
            </a:solidFill>
          </p:spPr>
          <p:txBody>
            <a:bodyPr/>
            <a:lstStyle/>
            <a:p>
              <a:endParaRPr lang="ar-SA"/>
            </a:p>
          </p:txBody>
        </p:sp>
        <p:sp>
          <p:nvSpPr>
            <p:cNvPr id="9" name="TextBox 9"/>
            <p:cNvSpPr txBox="1"/>
            <p:nvPr/>
          </p:nvSpPr>
          <p:spPr>
            <a:xfrm>
              <a:off x="101600" y="-38100"/>
              <a:ext cx="5164838" cy="647700"/>
            </a:xfrm>
            <a:prstGeom prst="rect">
              <a:avLst/>
            </a:prstGeom>
          </p:spPr>
          <p:txBody>
            <a:bodyPr lIns="50800" tIns="50800" rIns="50800" bIns="50800" rtlCol="0" anchor="ctr"/>
            <a:lstStyle/>
            <a:p>
              <a:pPr algn="ctr">
                <a:lnSpc>
                  <a:spcPts val="2659"/>
                </a:lnSpc>
                <a:spcBef>
                  <a:spcPct val="0"/>
                </a:spcBef>
              </a:pPr>
              <a:endParaRPr/>
            </a:p>
          </p:txBody>
        </p:sp>
      </p:grpSp>
      <p:grpSp>
        <p:nvGrpSpPr>
          <p:cNvPr id="10" name="Group 10"/>
          <p:cNvGrpSpPr/>
          <p:nvPr/>
        </p:nvGrpSpPr>
        <p:grpSpPr>
          <a:xfrm rot="-2088381">
            <a:off x="14899827" y="2823637"/>
            <a:ext cx="6791151" cy="1601596"/>
            <a:chOff x="0" y="0"/>
            <a:chExt cx="3024458" cy="713275"/>
          </a:xfrm>
        </p:grpSpPr>
        <p:sp>
          <p:nvSpPr>
            <p:cNvPr id="11" name="Freeform 11"/>
            <p:cNvSpPr/>
            <p:nvPr/>
          </p:nvSpPr>
          <p:spPr>
            <a:xfrm>
              <a:off x="0" y="0"/>
              <a:ext cx="3024458" cy="713275"/>
            </a:xfrm>
            <a:custGeom>
              <a:avLst/>
              <a:gdLst/>
              <a:ahLst/>
              <a:cxnLst/>
              <a:rect l="l" t="t" r="r" b="b"/>
              <a:pathLst>
                <a:path w="3024458" h="713275">
                  <a:moveTo>
                    <a:pt x="203200" y="0"/>
                  </a:moveTo>
                  <a:lnTo>
                    <a:pt x="3024458" y="0"/>
                  </a:lnTo>
                  <a:lnTo>
                    <a:pt x="2821258" y="713275"/>
                  </a:lnTo>
                  <a:lnTo>
                    <a:pt x="0" y="713275"/>
                  </a:lnTo>
                  <a:lnTo>
                    <a:pt x="203200" y="0"/>
                  </a:lnTo>
                  <a:close/>
                </a:path>
              </a:pathLst>
            </a:custGeom>
            <a:solidFill>
              <a:srgbClr val="66574D"/>
            </a:solidFill>
          </p:spPr>
          <p:txBody>
            <a:bodyPr/>
            <a:lstStyle/>
            <a:p>
              <a:endParaRPr lang="ar-SA"/>
            </a:p>
          </p:txBody>
        </p:sp>
        <p:sp>
          <p:nvSpPr>
            <p:cNvPr id="12" name="TextBox 12"/>
            <p:cNvSpPr txBox="1"/>
            <p:nvPr/>
          </p:nvSpPr>
          <p:spPr>
            <a:xfrm>
              <a:off x="101600" y="-38100"/>
              <a:ext cx="2821258" cy="751375"/>
            </a:xfrm>
            <a:prstGeom prst="rect">
              <a:avLst/>
            </a:prstGeom>
          </p:spPr>
          <p:txBody>
            <a:bodyPr lIns="50800" tIns="50800" rIns="50800" bIns="50800" rtlCol="0" anchor="ctr"/>
            <a:lstStyle/>
            <a:p>
              <a:pPr algn="ctr">
                <a:lnSpc>
                  <a:spcPts val="2659"/>
                </a:lnSpc>
              </a:pPr>
              <a:endParaRPr/>
            </a:p>
          </p:txBody>
        </p:sp>
      </p:grpSp>
      <p:grpSp>
        <p:nvGrpSpPr>
          <p:cNvPr id="13" name="Group 13"/>
          <p:cNvGrpSpPr/>
          <p:nvPr/>
        </p:nvGrpSpPr>
        <p:grpSpPr>
          <a:xfrm>
            <a:off x="16278249" y="-1199744"/>
            <a:ext cx="4822222" cy="11369911"/>
            <a:chOff x="0" y="0"/>
            <a:chExt cx="560316" cy="1321123"/>
          </a:xfrm>
        </p:grpSpPr>
        <p:sp>
          <p:nvSpPr>
            <p:cNvPr id="14" name="Freeform 14"/>
            <p:cNvSpPr/>
            <p:nvPr/>
          </p:nvSpPr>
          <p:spPr>
            <a:xfrm>
              <a:off x="0" y="0"/>
              <a:ext cx="560316" cy="1321123"/>
            </a:xfrm>
            <a:custGeom>
              <a:avLst/>
              <a:gdLst/>
              <a:ahLst/>
              <a:cxnLst/>
              <a:rect l="l" t="t" r="r" b="b"/>
              <a:pathLst>
                <a:path w="560316" h="1321123">
                  <a:moveTo>
                    <a:pt x="357116" y="0"/>
                  </a:moveTo>
                  <a:lnTo>
                    <a:pt x="0" y="0"/>
                  </a:lnTo>
                  <a:lnTo>
                    <a:pt x="203200" y="1321123"/>
                  </a:lnTo>
                  <a:lnTo>
                    <a:pt x="560316" y="1321123"/>
                  </a:lnTo>
                  <a:lnTo>
                    <a:pt x="357116" y="0"/>
                  </a:lnTo>
                  <a:close/>
                </a:path>
              </a:pathLst>
            </a:custGeom>
            <a:blipFill>
              <a:blip r:embed="rId2"/>
              <a:stretch>
                <a:fillRect l="-424522" t="-107108" r="-407252" b="-15183"/>
              </a:stretch>
            </a:blipFill>
          </p:spPr>
          <p:txBody>
            <a:bodyPr/>
            <a:lstStyle/>
            <a:p>
              <a:endParaRPr lang="ar-SA"/>
            </a:p>
          </p:txBody>
        </p:sp>
      </p:grpSp>
      <p:grpSp>
        <p:nvGrpSpPr>
          <p:cNvPr id="15" name="Group 15"/>
          <p:cNvGrpSpPr/>
          <p:nvPr/>
        </p:nvGrpSpPr>
        <p:grpSpPr>
          <a:xfrm>
            <a:off x="15431629" y="4665523"/>
            <a:ext cx="13689960" cy="1554646"/>
            <a:chOff x="0" y="0"/>
            <a:chExt cx="5368038" cy="609600"/>
          </a:xfrm>
        </p:grpSpPr>
        <p:sp>
          <p:nvSpPr>
            <p:cNvPr id="16" name="Freeform 16"/>
            <p:cNvSpPr/>
            <p:nvPr/>
          </p:nvSpPr>
          <p:spPr>
            <a:xfrm>
              <a:off x="0" y="0"/>
              <a:ext cx="5368038" cy="609600"/>
            </a:xfrm>
            <a:custGeom>
              <a:avLst/>
              <a:gdLst/>
              <a:ahLst/>
              <a:cxnLst/>
              <a:rect l="l" t="t" r="r" b="b"/>
              <a:pathLst>
                <a:path w="5368038" h="609600">
                  <a:moveTo>
                    <a:pt x="5164838" y="0"/>
                  </a:moveTo>
                  <a:lnTo>
                    <a:pt x="0" y="0"/>
                  </a:lnTo>
                  <a:lnTo>
                    <a:pt x="203200" y="609600"/>
                  </a:lnTo>
                  <a:lnTo>
                    <a:pt x="5368038" y="609600"/>
                  </a:lnTo>
                  <a:lnTo>
                    <a:pt x="5164838" y="0"/>
                  </a:lnTo>
                  <a:close/>
                </a:path>
              </a:pathLst>
            </a:custGeom>
            <a:solidFill>
              <a:srgbClr val="FFFFFF"/>
            </a:solidFill>
          </p:spPr>
          <p:txBody>
            <a:bodyPr/>
            <a:lstStyle/>
            <a:p>
              <a:endParaRPr lang="ar-SA"/>
            </a:p>
          </p:txBody>
        </p:sp>
        <p:sp>
          <p:nvSpPr>
            <p:cNvPr id="17" name="TextBox 17"/>
            <p:cNvSpPr txBox="1"/>
            <p:nvPr/>
          </p:nvSpPr>
          <p:spPr>
            <a:xfrm>
              <a:off x="101600" y="-38100"/>
              <a:ext cx="5164838" cy="647700"/>
            </a:xfrm>
            <a:prstGeom prst="rect">
              <a:avLst/>
            </a:prstGeom>
          </p:spPr>
          <p:txBody>
            <a:bodyPr lIns="50800" tIns="50800" rIns="50800" bIns="50800" rtlCol="0" anchor="ctr"/>
            <a:lstStyle/>
            <a:p>
              <a:pPr algn="ctr">
                <a:lnSpc>
                  <a:spcPts val="2659"/>
                </a:lnSpc>
                <a:spcBef>
                  <a:spcPct val="0"/>
                </a:spcBef>
              </a:pPr>
              <a:endParaRPr/>
            </a:p>
          </p:txBody>
        </p:sp>
      </p:grpSp>
      <p:sp>
        <p:nvSpPr>
          <p:cNvPr id="18" name="TextBox 18"/>
          <p:cNvSpPr txBox="1"/>
          <p:nvPr/>
        </p:nvSpPr>
        <p:spPr>
          <a:xfrm>
            <a:off x="5451288" y="2280920"/>
            <a:ext cx="10959038" cy="5460597"/>
          </a:xfrm>
          <a:prstGeom prst="rect">
            <a:avLst/>
          </a:prstGeom>
        </p:spPr>
        <p:txBody>
          <a:bodyPr lIns="0" tIns="0" rIns="0" bIns="0" rtlCol="0" anchor="t">
            <a:spAutoFit/>
          </a:bodyPr>
          <a:lstStyle/>
          <a:p>
            <a:pPr marL="604518" lvl="1" indent="-302259" algn="l">
              <a:lnSpc>
                <a:spcPts val="3919"/>
              </a:lnSpc>
              <a:buFont typeface="Arial"/>
              <a:buChar char="•"/>
            </a:pPr>
            <a:r>
              <a:rPr lang="en-US" sz="2799" b="1" dirty="0">
                <a:solidFill>
                  <a:srgbClr val="66574D"/>
                </a:solidFill>
                <a:latin typeface="Times New Roman Bold"/>
                <a:ea typeface="Times New Roman Bold"/>
                <a:cs typeface="Times New Roman Bold"/>
                <a:sym typeface="Times New Roman Bold"/>
              </a:rPr>
              <a:t>ABOUT THE TRAINING FACILITY</a:t>
            </a:r>
          </a:p>
          <a:p>
            <a:pPr algn="l">
              <a:lnSpc>
                <a:spcPts val="3919"/>
              </a:lnSpc>
            </a:pPr>
            <a:endParaRPr lang="en-US" sz="2799" b="1" dirty="0">
              <a:solidFill>
                <a:srgbClr val="66574D"/>
              </a:solidFill>
              <a:latin typeface="Times New Roman Bold"/>
              <a:ea typeface="Times New Roman Bold"/>
              <a:cs typeface="Times New Roman Bold"/>
              <a:sym typeface="Times New Roman Bold"/>
            </a:endParaRPr>
          </a:p>
          <a:p>
            <a:pPr marL="604518" lvl="1" indent="-302259" algn="l">
              <a:lnSpc>
                <a:spcPts val="3919"/>
              </a:lnSpc>
              <a:buFont typeface="Arial"/>
              <a:buChar char="•"/>
            </a:pPr>
            <a:r>
              <a:rPr lang="en-US" sz="2799" b="1" dirty="0">
                <a:solidFill>
                  <a:srgbClr val="66574D"/>
                </a:solidFill>
                <a:latin typeface="Times New Roman Bold"/>
                <a:ea typeface="Times New Roman Bold"/>
                <a:cs typeface="Times New Roman Bold"/>
                <a:sym typeface="Times New Roman Bold"/>
              </a:rPr>
              <a:t>TRAINING PLAN &amp; TASKS ASSIGNED DURING THE TRAINING PERIOD.</a:t>
            </a:r>
          </a:p>
          <a:p>
            <a:pPr algn="l">
              <a:lnSpc>
                <a:spcPts val="3919"/>
              </a:lnSpc>
            </a:pPr>
            <a:endParaRPr lang="en-US" sz="2799" b="1" dirty="0">
              <a:solidFill>
                <a:srgbClr val="66574D"/>
              </a:solidFill>
              <a:latin typeface="Times New Roman Bold"/>
              <a:ea typeface="Times New Roman Bold"/>
              <a:cs typeface="Times New Roman Bold"/>
              <a:sym typeface="Times New Roman Bold"/>
            </a:endParaRPr>
          </a:p>
          <a:p>
            <a:pPr marL="604518" lvl="1" indent="-302259" algn="l">
              <a:lnSpc>
                <a:spcPts val="3919"/>
              </a:lnSpc>
              <a:buFont typeface="Arial"/>
              <a:buChar char="•"/>
            </a:pPr>
            <a:r>
              <a:rPr lang="en-US" sz="2799" b="1" dirty="0">
                <a:solidFill>
                  <a:srgbClr val="66574D"/>
                </a:solidFill>
                <a:latin typeface="Times New Roman Bold"/>
                <a:ea typeface="Times New Roman Bold"/>
                <a:cs typeface="Times New Roman Bold"/>
                <a:sym typeface="Times New Roman Bold"/>
              </a:rPr>
              <a:t>ACHIEVEMENTS AND RESULTS ACHIEVED</a:t>
            </a:r>
          </a:p>
          <a:p>
            <a:pPr algn="l">
              <a:lnSpc>
                <a:spcPts val="3919"/>
              </a:lnSpc>
            </a:pPr>
            <a:endParaRPr lang="en-US" sz="2799" b="1" dirty="0">
              <a:solidFill>
                <a:srgbClr val="66574D"/>
              </a:solidFill>
              <a:latin typeface="Times New Roman Bold"/>
              <a:ea typeface="Times New Roman Bold"/>
              <a:cs typeface="Times New Roman Bold"/>
              <a:sym typeface="Times New Roman Bold"/>
            </a:endParaRPr>
          </a:p>
          <a:p>
            <a:pPr marL="604518" lvl="1" indent="-302259" algn="l">
              <a:lnSpc>
                <a:spcPts val="3919"/>
              </a:lnSpc>
              <a:buFont typeface="Arial"/>
              <a:buChar char="•"/>
            </a:pPr>
            <a:r>
              <a:rPr lang="en-US" sz="2799" b="1" dirty="0">
                <a:solidFill>
                  <a:srgbClr val="66574D"/>
                </a:solidFill>
                <a:latin typeface="Times New Roman Bold"/>
                <a:ea typeface="Times New Roman Bold"/>
                <a:cs typeface="Times New Roman Bold"/>
                <a:sym typeface="Times New Roman Bold"/>
              </a:rPr>
              <a:t>GAINED SKILLS AND PRACTICAL EXPERIENCE</a:t>
            </a:r>
          </a:p>
          <a:p>
            <a:pPr algn="l">
              <a:lnSpc>
                <a:spcPts val="3919"/>
              </a:lnSpc>
            </a:pPr>
            <a:endParaRPr lang="en-US" sz="2799" b="1" dirty="0">
              <a:solidFill>
                <a:srgbClr val="66574D"/>
              </a:solidFill>
              <a:latin typeface="Times New Roman Bold"/>
              <a:ea typeface="Times New Roman Bold"/>
              <a:cs typeface="Times New Roman Bold"/>
              <a:sym typeface="Times New Roman Bold"/>
            </a:endParaRPr>
          </a:p>
          <a:p>
            <a:pPr marL="604518" lvl="1" indent="-302259" algn="l">
              <a:lnSpc>
                <a:spcPts val="3919"/>
              </a:lnSpc>
              <a:buFont typeface="Arial"/>
              <a:buChar char="•"/>
            </a:pPr>
            <a:r>
              <a:rPr lang="en-US" sz="2799" b="1" dirty="0">
                <a:solidFill>
                  <a:srgbClr val="66574D"/>
                </a:solidFill>
                <a:latin typeface="Times New Roman Bold"/>
                <a:ea typeface="Times New Roman Bold"/>
                <a:cs typeface="Times New Roman Bold"/>
                <a:sym typeface="Times New Roman Bold"/>
              </a:rPr>
              <a:t>CONCLUSION  </a:t>
            </a:r>
          </a:p>
          <a:p>
            <a:pPr algn="l">
              <a:lnSpc>
                <a:spcPts val="3919"/>
              </a:lnSpc>
            </a:pPr>
            <a:endParaRPr lang="en-US" sz="2799" b="1" dirty="0">
              <a:solidFill>
                <a:srgbClr val="66574D"/>
              </a:solidFill>
              <a:latin typeface="Times New Roman Bold"/>
              <a:ea typeface="Times New Roman Bold"/>
              <a:cs typeface="Times New Roman Bold"/>
              <a:sym typeface="Times New Roman Bold"/>
            </a:endParaRPr>
          </a:p>
        </p:txBody>
      </p:sp>
      <p:sp>
        <p:nvSpPr>
          <p:cNvPr id="19" name="TextBox 19"/>
          <p:cNvSpPr txBox="1"/>
          <p:nvPr/>
        </p:nvSpPr>
        <p:spPr>
          <a:xfrm>
            <a:off x="5791857" y="239581"/>
            <a:ext cx="8566378" cy="1311539"/>
          </a:xfrm>
          <a:prstGeom prst="rect">
            <a:avLst/>
          </a:prstGeom>
        </p:spPr>
        <p:txBody>
          <a:bodyPr lIns="0" tIns="0" rIns="0" bIns="0" rtlCol="0" anchor="t">
            <a:spAutoFit/>
          </a:bodyPr>
          <a:lstStyle/>
          <a:p>
            <a:pPr algn="ctr">
              <a:lnSpc>
                <a:spcPts val="9610"/>
              </a:lnSpc>
            </a:pPr>
            <a:r>
              <a:rPr lang="en-US" sz="6864">
                <a:solidFill>
                  <a:srgbClr val="66574D"/>
                </a:solidFill>
                <a:latin typeface="Times New Roman"/>
                <a:ea typeface="Times New Roman"/>
                <a:cs typeface="Times New Roman"/>
                <a:sym typeface="Times New Roman"/>
              </a:rPr>
              <a:t>MAIN POINTS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400235" y="-2280012"/>
            <a:ext cx="21938561" cy="13496146"/>
          </a:xfrm>
          <a:custGeom>
            <a:avLst/>
            <a:gdLst/>
            <a:ahLst/>
            <a:cxnLst/>
            <a:rect l="l" t="t" r="r" b="b"/>
            <a:pathLst>
              <a:path w="21938561" h="13496146">
                <a:moveTo>
                  <a:pt x="0" y="0"/>
                </a:moveTo>
                <a:lnTo>
                  <a:pt x="21938560" y="0"/>
                </a:lnTo>
                <a:lnTo>
                  <a:pt x="21938560" y="13496146"/>
                </a:lnTo>
                <a:lnTo>
                  <a:pt x="0" y="13496146"/>
                </a:lnTo>
                <a:lnTo>
                  <a:pt x="0" y="0"/>
                </a:lnTo>
                <a:close/>
              </a:path>
            </a:pathLst>
          </a:custGeom>
          <a:blipFill>
            <a:blip r:embed="rId2"/>
            <a:stretch>
              <a:fillRect l="-32641" t="-36451" r="-34370" b="-16258"/>
            </a:stretch>
          </a:blipFill>
        </p:spPr>
        <p:txBody>
          <a:bodyPr/>
          <a:lstStyle/>
          <a:p>
            <a:endParaRPr lang="ar-SA"/>
          </a:p>
        </p:txBody>
      </p:sp>
      <p:grpSp>
        <p:nvGrpSpPr>
          <p:cNvPr id="3" name="Group 3"/>
          <p:cNvGrpSpPr/>
          <p:nvPr/>
        </p:nvGrpSpPr>
        <p:grpSpPr>
          <a:xfrm rot="-2088381">
            <a:off x="-654014" y="5935649"/>
            <a:ext cx="7946576" cy="1601596"/>
            <a:chOff x="0" y="0"/>
            <a:chExt cx="3539030" cy="713275"/>
          </a:xfrm>
        </p:grpSpPr>
        <p:sp>
          <p:nvSpPr>
            <p:cNvPr id="4" name="Freeform 4"/>
            <p:cNvSpPr/>
            <p:nvPr/>
          </p:nvSpPr>
          <p:spPr>
            <a:xfrm>
              <a:off x="0" y="0"/>
              <a:ext cx="3539030" cy="713275"/>
            </a:xfrm>
            <a:custGeom>
              <a:avLst/>
              <a:gdLst/>
              <a:ahLst/>
              <a:cxnLst/>
              <a:rect l="l" t="t" r="r" b="b"/>
              <a:pathLst>
                <a:path w="3539030" h="713275">
                  <a:moveTo>
                    <a:pt x="203200" y="0"/>
                  </a:moveTo>
                  <a:lnTo>
                    <a:pt x="3539030" y="0"/>
                  </a:lnTo>
                  <a:lnTo>
                    <a:pt x="3335830" y="713275"/>
                  </a:lnTo>
                  <a:lnTo>
                    <a:pt x="0" y="713275"/>
                  </a:lnTo>
                  <a:lnTo>
                    <a:pt x="203200" y="0"/>
                  </a:lnTo>
                  <a:close/>
                </a:path>
              </a:pathLst>
            </a:custGeom>
            <a:solidFill>
              <a:srgbClr val="66574D"/>
            </a:solidFill>
          </p:spPr>
          <p:txBody>
            <a:bodyPr/>
            <a:lstStyle/>
            <a:p>
              <a:endParaRPr lang="ar-SA"/>
            </a:p>
          </p:txBody>
        </p:sp>
        <p:sp>
          <p:nvSpPr>
            <p:cNvPr id="5" name="TextBox 5"/>
            <p:cNvSpPr txBox="1"/>
            <p:nvPr/>
          </p:nvSpPr>
          <p:spPr>
            <a:xfrm>
              <a:off x="101600" y="-38100"/>
              <a:ext cx="3335830" cy="751375"/>
            </a:xfrm>
            <a:prstGeom prst="rect">
              <a:avLst/>
            </a:prstGeom>
          </p:spPr>
          <p:txBody>
            <a:bodyPr lIns="50800" tIns="50800" rIns="50800" bIns="50800" rtlCol="0" anchor="ctr"/>
            <a:lstStyle/>
            <a:p>
              <a:pPr algn="ctr">
                <a:lnSpc>
                  <a:spcPts val="2659"/>
                </a:lnSpc>
              </a:pPr>
              <a:endParaRPr/>
            </a:p>
          </p:txBody>
        </p:sp>
      </p:grpSp>
      <p:grpSp>
        <p:nvGrpSpPr>
          <p:cNvPr id="6" name="Group 6"/>
          <p:cNvGrpSpPr/>
          <p:nvPr/>
        </p:nvGrpSpPr>
        <p:grpSpPr>
          <a:xfrm>
            <a:off x="-1226391" y="419167"/>
            <a:ext cx="21419231" cy="9086516"/>
            <a:chOff x="0" y="0"/>
            <a:chExt cx="1540308" cy="653433"/>
          </a:xfrm>
        </p:grpSpPr>
        <p:sp>
          <p:nvSpPr>
            <p:cNvPr id="7" name="Freeform 7"/>
            <p:cNvSpPr/>
            <p:nvPr/>
          </p:nvSpPr>
          <p:spPr>
            <a:xfrm>
              <a:off x="0" y="0"/>
              <a:ext cx="1540308" cy="653433"/>
            </a:xfrm>
            <a:custGeom>
              <a:avLst/>
              <a:gdLst/>
              <a:ahLst/>
              <a:cxnLst/>
              <a:rect l="l" t="t" r="r" b="b"/>
              <a:pathLst>
                <a:path w="1540308" h="653433">
                  <a:moveTo>
                    <a:pt x="1337108" y="0"/>
                  </a:moveTo>
                  <a:lnTo>
                    <a:pt x="0" y="0"/>
                  </a:lnTo>
                  <a:lnTo>
                    <a:pt x="203200" y="653433"/>
                  </a:lnTo>
                  <a:lnTo>
                    <a:pt x="1540308" y="653433"/>
                  </a:lnTo>
                  <a:lnTo>
                    <a:pt x="1337108" y="0"/>
                  </a:lnTo>
                  <a:close/>
                </a:path>
              </a:pathLst>
            </a:custGeom>
            <a:solidFill>
              <a:srgbClr val="3D3735"/>
            </a:solidFill>
          </p:spPr>
          <p:txBody>
            <a:bodyPr/>
            <a:lstStyle/>
            <a:p>
              <a:endParaRPr lang="ar-SA"/>
            </a:p>
          </p:txBody>
        </p:sp>
        <p:sp>
          <p:nvSpPr>
            <p:cNvPr id="8" name="TextBox 8"/>
            <p:cNvSpPr txBox="1"/>
            <p:nvPr/>
          </p:nvSpPr>
          <p:spPr>
            <a:xfrm>
              <a:off x="101600" y="-38100"/>
              <a:ext cx="1337108" cy="691533"/>
            </a:xfrm>
            <a:prstGeom prst="rect">
              <a:avLst/>
            </a:prstGeom>
          </p:spPr>
          <p:txBody>
            <a:bodyPr lIns="50800" tIns="50800" rIns="50800" bIns="50800" rtlCol="0" anchor="ctr"/>
            <a:lstStyle/>
            <a:p>
              <a:pPr algn="ctr">
                <a:lnSpc>
                  <a:spcPts val="2659"/>
                </a:lnSpc>
                <a:spcBef>
                  <a:spcPct val="0"/>
                </a:spcBef>
              </a:pPr>
              <a:endParaRPr/>
            </a:p>
          </p:txBody>
        </p:sp>
      </p:grpSp>
      <p:grpSp>
        <p:nvGrpSpPr>
          <p:cNvPr id="9" name="Group 9"/>
          <p:cNvGrpSpPr/>
          <p:nvPr/>
        </p:nvGrpSpPr>
        <p:grpSpPr>
          <a:xfrm>
            <a:off x="0" y="8107296"/>
            <a:ext cx="18998529" cy="1554646"/>
            <a:chOff x="0" y="0"/>
            <a:chExt cx="7449608" cy="609600"/>
          </a:xfrm>
        </p:grpSpPr>
        <p:sp>
          <p:nvSpPr>
            <p:cNvPr id="10" name="Freeform 10"/>
            <p:cNvSpPr/>
            <p:nvPr/>
          </p:nvSpPr>
          <p:spPr>
            <a:xfrm>
              <a:off x="0" y="0"/>
              <a:ext cx="7449608" cy="609600"/>
            </a:xfrm>
            <a:custGeom>
              <a:avLst/>
              <a:gdLst/>
              <a:ahLst/>
              <a:cxnLst/>
              <a:rect l="l" t="t" r="r" b="b"/>
              <a:pathLst>
                <a:path w="7449608" h="609600">
                  <a:moveTo>
                    <a:pt x="7246408" y="0"/>
                  </a:moveTo>
                  <a:lnTo>
                    <a:pt x="0" y="0"/>
                  </a:lnTo>
                  <a:lnTo>
                    <a:pt x="203200" y="609600"/>
                  </a:lnTo>
                  <a:lnTo>
                    <a:pt x="7449608" y="609600"/>
                  </a:lnTo>
                  <a:lnTo>
                    <a:pt x="7246408" y="0"/>
                  </a:lnTo>
                  <a:close/>
                </a:path>
              </a:pathLst>
            </a:custGeom>
            <a:solidFill>
              <a:srgbClr val="E9E1DB"/>
            </a:solidFill>
          </p:spPr>
          <p:txBody>
            <a:bodyPr/>
            <a:lstStyle/>
            <a:p>
              <a:endParaRPr lang="ar-SA"/>
            </a:p>
          </p:txBody>
        </p:sp>
        <p:sp>
          <p:nvSpPr>
            <p:cNvPr id="11" name="TextBox 11"/>
            <p:cNvSpPr txBox="1"/>
            <p:nvPr/>
          </p:nvSpPr>
          <p:spPr>
            <a:xfrm>
              <a:off x="101600" y="-38100"/>
              <a:ext cx="7246408" cy="647700"/>
            </a:xfrm>
            <a:prstGeom prst="rect">
              <a:avLst/>
            </a:prstGeom>
          </p:spPr>
          <p:txBody>
            <a:bodyPr lIns="50800" tIns="50800" rIns="50800" bIns="50800" rtlCol="0" anchor="ctr"/>
            <a:lstStyle/>
            <a:p>
              <a:pPr algn="ctr">
                <a:lnSpc>
                  <a:spcPts val="2659"/>
                </a:lnSpc>
                <a:spcBef>
                  <a:spcPct val="0"/>
                </a:spcBef>
              </a:pPr>
              <a:endParaRPr/>
            </a:p>
          </p:txBody>
        </p:sp>
      </p:grpSp>
      <p:sp>
        <p:nvSpPr>
          <p:cNvPr id="12" name="TextBox 12"/>
          <p:cNvSpPr txBox="1"/>
          <p:nvPr/>
        </p:nvSpPr>
        <p:spPr>
          <a:xfrm>
            <a:off x="2357523" y="857250"/>
            <a:ext cx="13572955" cy="840741"/>
          </a:xfrm>
          <a:prstGeom prst="rect">
            <a:avLst/>
          </a:prstGeom>
        </p:spPr>
        <p:txBody>
          <a:bodyPr lIns="0" tIns="0" rIns="0" bIns="0" rtlCol="0" anchor="t">
            <a:spAutoFit/>
          </a:bodyPr>
          <a:lstStyle/>
          <a:p>
            <a:pPr algn="ctr">
              <a:lnSpc>
                <a:spcPts val="6159"/>
              </a:lnSpc>
            </a:pPr>
            <a:r>
              <a:rPr lang="en-US" sz="4399">
                <a:solidFill>
                  <a:srgbClr val="E9E1DB"/>
                </a:solidFill>
                <a:latin typeface="Times New Roman"/>
                <a:ea typeface="Times New Roman"/>
                <a:cs typeface="Times New Roman"/>
                <a:sym typeface="Times New Roman"/>
              </a:rPr>
              <a:t>ABOUT THE TRAINING FACILITY</a:t>
            </a:r>
          </a:p>
        </p:txBody>
      </p:sp>
      <p:sp>
        <p:nvSpPr>
          <p:cNvPr id="13" name="TextBox 13"/>
          <p:cNvSpPr txBox="1"/>
          <p:nvPr/>
        </p:nvSpPr>
        <p:spPr>
          <a:xfrm>
            <a:off x="1383965" y="1972118"/>
            <a:ext cx="16230600" cy="5476241"/>
          </a:xfrm>
          <a:prstGeom prst="rect">
            <a:avLst/>
          </a:prstGeom>
        </p:spPr>
        <p:txBody>
          <a:bodyPr lIns="0" tIns="0" rIns="0" bIns="0" rtlCol="0" anchor="t">
            <a:spAutoFit/>
          </a:bodyPr>
          <a:lstStyle/>
          <a:p>
            <a:pPr marL="604515" lvl="1" indent="-302257" algn="l">
              <a:lnSpc>
                <a:spcPts val="3919"/>
              </a:lnSpc>
              <a:buFont typeface="Arial"/>
              <a:buChar char="•"/>
            </a:pPr>
            <a:r>
              <a:rPr lang="en-US" sz="2799">
                <a:solidFill>
                  <a:srgbClr val="E9E1DB"/>
                </a:solidFill>
                <a:latin typeface="Times New Roman"/>
                <a:ea typeface="Times New Roman"/>
                <a:cs typeface="Times New Roman"/>
                <a:sym typeface="Times New Roman"/>
              </a:rPr>
              <a:t>About UQU-Deanship of Information Technology and E-Learning</a:t>
            </a:r>
          </a:p>
          <a:p>
            <a:pPr algn="l">
              <a:lnSpc>
                <a:spcPts val="3499"/>
              </a:lnSpc>
              <a:spcBef>
                <a:spcPct val="0"/>
              </a:spcBef>
            </a:pPr>
            <a:r>
              <a:rPr lang="en-US" sz="2499">
                <a:solidFill>
                  <a:srgbClr val="E9E1DB"/>
                </a:solidFill>
                <a:latin typeface="Times New Roman"/>
                <a:ea typeface="Times New Roman"/>
                <a:cs typeface="Times New Roman"/>
                <a:sym typeface="Times New Roman"/>
              </a:rPr>
              <a:t>The Deanship is responsible for advancing UQU’s digital transformation agenda in alignment with Saudi Vision 2030. It plays a central role in integrating technology into teaching, learning, and administrative processes across campuses via modern infrastructure, efficient systems, and secure networks.</a:t>
            </a:r>
          </a:p>
          <a:p>
            <a:pPr algn="l">
              <a:lnSpc>
                <a:spcPts val="3499"/>
              </a:lnSpc>
              <a:spcBef>
                <a:spcPct val="0"/>
              </a:spcBef>
            </a:pPr>
            <a:endParaRPr lang="en-US" sz="2499">
              <a:solidFill>
                <a:srgbClr val="E9E1DB"/>
              </a:solidFill>
              <a:latin typeface="Times New Roman"/>
              <a:ea typeface="Times New Roman"/>
              <a:cs typeface="Times New Roman"/>
              <a:sym typeface="Times New Roman"/>
            </a:endParaRPr>
          </a:p>
          <a:p>
            <a:pPr marL="604515" lvl="1" indent="-302257" algn="l">
              <a:lnSpc>
                <a:spcPts val="3919"/>
              </a:lnSpc>
              <a:buFont typeface="Arial"/>
              <a:buChar char="•"/>
            </a:pPr>
            <a:r>
              <a:rPr lang="en-US" sz="2799">
                <a:solidFill>
                  <a:srgbClr val="E9E1DB"/>
                </a:solidFill>
                <a:latin typeface="Times New Roman"/>
                <a:ea typeface="Times New Roman"/>
                <a:cs typeface="Times New Roman"/>
                <a:sym typeface="Times New Roman"/>
              </a:rPr>
              <a:t> Vision</a:t>
            </a:r>
          </a:p>
          <a:p>
            <a:pPr algn="l">
              <a:lnSpc>
                <a:spcPts val="3499"/>
              </a:lnSpc>
              <a:spcBef>
                <a:spcPct val="0"/>
              </a:spcBef>
            </a:pPr>
            <a:r>
              <a:rPr lang="en-US" sz="2499">
                <a:solidFill>
                  <a:srgbClr val="E9E1DB"/>
                </a:solidFill>
                <a:latin typeface="Times New Roman"/>
                <a:ea typeface="Times New Roman"/>
                <a:cs typeface="Times New Roman"/>
                <a:sym typeface="Times New Roman"/>
              </a:rPr>
              <a:t>To provide smart, comprehensive, interactive, and integrated electronic services that are in line with international specifications and standards.</a:t>
            </a:r>
          </a:p>
          <a:p>
            <a:pPr algn="l">
              <a:lnSpc>
                <a:spcPts val="3499"/>
              </a:lnSpc>
              <a:spcBef>
                <a:spcPct val="0"/>
              </a:spcBef>
            </a:pPr>
            <a:endParaRPr lang="en-US" sz="2499">
              <a:solidFill>
                <a:srgbClr val="E9E1DB"/>
              </a:solidFill>
              <a:latin typeface="Times New Roman"/>
              <a:ea typeface="Times New Roman"/>
              <a:cs typeface="Times New Roman"/>
              <a:sym typeface="Times New Roman"/>
            </a:endParaRPr>
          </a:p>
          <a:p>
            <a:pPr marL="604515" lvl="1" indent="-302257" algn="l">
              <a:lnSpc>
                <a:spcPts val="3919"/>
              </a:lnSpc>
              <a:buFont typeface="Arial"/>
              <a:buChar char="•"/>
            </a:pPr>
            <a:r>
              <a:rPr lang="en-US" sz="2799">
                <a:solidFill>
                  <a:srgbClr val="E9E1DB"/>
                </a:solidFill>
                <a:latin typeface="Times New Roman"/>
                <a:ea typeface="Times New Roman"/>
                <a:cs typeface="Times New Roman"/>
                <a:sym typeface="Times New Roman"/>
              </a:rPr>
              <a:t> Mission</a:t>
            </a:r>
          </a:p>
          <a:p>
            <a:pPr algn="l">
              <a:lnSpc>
                <a:spcPts val="3499"/>
              </a:lnSpc>
              <a:spcBef>
                <a:spcPct val="0"/>
              </a:spcBef>
            </a:pPr>
            <a:r>
              <a:rPr lang="en-US" sz="2499">
                <a:solidFill>
                  <a:srgbClr val="E9E1DB"/>
                </a:solidFill>
                <a:latin typeface="Times New Roman"/>
                <a:ea typeface="Times New Roman"/>
                <a:cs typeface="Times New Roman"/>
                <a:sym typeface="Times New Roman"/>
              </a:rPr>
              <a:t>To be one of the top three Saudi universities that provide optimum services in the field of information technology with superior quality, comprehensively and safely.</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400235" y="-2280012"/>
            <a:ext cx="21938561" cy="13496146"/>
          </a:xfrm>
          <a:custGeom>
            <a:avLst/>
            <a:gdLst/>
            <a:ahLst/>
            <a:cxnLst/>
            <a:rect l="l" t="t" r="r" b="b"/>
            <a:pathLst>
              <a:path w="21938561" h="13496146">
                <a:moveTo>
                  <a:pt x="0" y="0"/>
                </a:moveTo>
                <a:lnTo>
                  <a:pt x="21938560" y="0"/>
                </a:lnTo>
                <a:lnTo>
                  <a:pt x="21938560" y="13496146"/>
                </a:lnTo>
                <a:lnTo>
                  <a:pt x="0" y="13496146"/>
                </a:lnTo>
                <a:lnTo>
                  <a:pt x="0" y="0"/>
                </a:lnTo>
                <a:close/>
              </a:path>
            </a:pathLst>
          </a:custGeom>
          <a:blipFill>
            <a:blip r:embed="rId2"/>
            <a:stretch>
              <a:fillRect l="-32641" t="-36451" r="-34370" b="-16258"/>
            </a:stretch>
          </a:blipFill>
        </p:spPr>
        <p:txBody>
          <a:bodyPr/>
          <a:lstStyle/>
          <a:p>
            <a:endParaRPr lang="ar-SA"/>
          </a:p>
        </p:txBody>
      </p:sp>
      <p:grpSp>
        <p:nvGrpSpPr>
          <p:cNvPr id="3" name="Group 3"/>
          <p:cNvGrpSpPr/>
          <p:nvPr/>
        </p:nvGrpSpPr>
        <p:grpSpPr>
          <a:xfrm rot="-2088381">
            <a:off x="-654014" y="5935649"/>
            <a:ext cx="7946576" cy="1601596"/>
            <a:chOff x="0" y="0"/>
            <a:chExt cx="3539030" cy="713275"/>
          </a:xfrm>
        </p:grpSpPr>
        <p:sp>
          <p:nvSpPr>
            <p:cNvPr id="4" name="Freeform 4"/>
            <p:cNvSpPr/>
            <p:nvPr/>
          </p:nvSpPr>
          <p:spPr>
            <a:xfrm>
              <a:off x="0" y="0"/>
              <a:ext cx="3539030" cy="713275"/>
            </a:xfrm>
            <a:custGeom>
              <a:avLst/>
              <a:gdLst/>
              <a:ahLst/>
              <a:cxnLst/>
              <a:rect l="l" t="t" r="r" b="b"/>
              <a:pathLst>
                <a:path w="3539030" h="713275">
                  <a:moveTo>
                    <a:pt x="203200" y="0"/>
                  </a:moveTo>
                  <a:lnTo>
                    <a:pt x="3539030" y="0"/>
                  </a:lnTo>
                  <a:lnTo>
                    <a:pt x="3335830" y="713275"/>
                  </a:lnTo>
                  <a:lnTo>
                    <a:pt x="0" y="713275"/>
                  </a:lnTo>
                  <a:lnTo>
                    <a:pt x="203200" y="0"/>
                  </a:lnTo>
                  <a:close/>
                </a:path>
              </a:pathLst>
            </a:custGeom>
            <a:solidFill>
              <a:srgbClr val="66574D"/>
            </a:solidFill>
          </p:spPr>
          <p:txBody>
            <a:bodyPr/>
            <a:lstStyle/>
            <a:p>
              <a:endParaRPr lang="ar-SA"/>
            </a:p>
          </p:txBody>
        </p:sp>
        <p:sp>
          <p:nvSpPr>
            <p:cNvPr id="5" name="TextBox 5"/>
            <p:cNvSpPr txBox="1"/>
            <p:nvPr/>
          </p:nvSpPr>
          <p:spPr>
            <a:xfrm>
              <a:off x="101600" y="-38100"/>
              <a:ext cx="3335830" cy="751375"/>
            </a:xfrm>
            <a:prstGeom prst="rect">
              <a:avLst/>
            </a:prstGeom>
          </p:spPr>
          <p:txBody>
            <a:bodyPr lIns="50800" tIns="50800" rIns="50800" bIns="50800" rtlCol="0" anchor="ctr"/>
            <a:lstStyle/>
            <a:p>
              <a:pPr algn="ctr">
                <a:lnSpc>
                  <a:spcPts val="2659"/>
                </a:lnSpc>
              </a:pPr>
              <a:endParaRPr/>
            </a:p>
          </p:txBody>
        </p:sp>
      </p:grpSp>
      <p:grpSp>
        <p:nvGrpSpPr>
          <p:cNvPr id="6" name="Group 6"/>
          <p:cNvGrpSpPr/>
          <p:nvPr/>
        </p:nvGrpSpPr>
        <p:grpSpPr>
          <a:xfrm>
            <a:off x="-1226391" y="419167"/>
            <a:ext cx="21419231" cy="9086516"/>
            <a:chOff x="0" y="0"/>
            <a:chExt cx="1540308" cy="653433"/>
          </a:xfrm>
        </p:grpSpPr>
        <p:sp>
          <p:nvSpPr>
            <p:cNvPr id="7" name="Freeform 7"/>
            <p:cNvSpPr/>
            <p:nvPr/>
          </p:nvSpPr>
          <p:spPr>
            <a:xfrm>
              <a:off x="0" y="0"/>
              <a:ext cx="1540308" cy="653433"/>
            </a:xfrm>
            <a:custGeom>
              <a:avLst/>
              <a:gdLst/>
              <a:ahLst/>
              <a:cxnLst/>
              <a:rect l="l" t="t" r="r" b="b"/>
              <a:pathLst>
                <a:path w="1540308" h="653433">
                  <a:moveTo>
                    <a:pt x="1337108" y="0"/>
                  </a:moveTo>
                  <a:lnTo>
                    <a:pt x="0" y="0"/>
                  </a:lnTo>
                  <a:lnTo>
                    <a:pt x="203200" y="653433"/>
                  </a:lnTo>
                  <a:lnTo>
                    <a:pt x="1540308" y="653433"/>
                  </a:lnTo>
                  <a:lnTo>
                    <a:pt x="1337108" y="0"/>
                  </a:lnTo>
                  <a:close/>
                </a:path>
              </a:pathLst>
            </a:custGeom>
            <a:solidFill>
              <a:srgbClr val="3D3735"/>
            </a:solidFill>
          </p:spPr>
          <p:txBody>
            <a:bodyPr/>
            <a:lstStyle/>
            <a:p>
              <a:endParaRPr lang="ar-SA"/>
            </a:p>
          </p:txBody>
        </p:sp>
        <p:sp>
          <p:nvSpPr>
            <p:cNvPr id="8" name="TextBox 8"/>
            <p:cNvSpPr txBox="1"/>
            <p:nvPr/>
          </p:nvSpPr>
          <p:spPr>
            <a:xfrm>
              <a:off x="101600" y="-38100"/>
              <a:ext cx="1337108" cy="691533"/>
            </a:xfrm>
            <a:prstGeom prst="rect">
              <a:avLst/>
            </a:prstGeom>
          </p:spPr>
          <p:txBody>
            <a:bodyPr lIns="50800" tIns="50800" rIns="50800" bIns="50800" rtlCol="0" anchor="ctr"/>
            <a:lstStyle/>
            <a:p>
              <a:pPr algn="ctr">
                <a:lnSpc>
                  <a:spcPts val="2659"/>
                </a:lnSpc>
                <a:spcBef>
                  <a:spcPct val="0"/>
                </a:spcBef>
              </a:pPr>
              <a:endParaRPr/>
            </a:p>
          </p:txBody>
        </p:sp>
      </p:grpSp>
      <p:grpSp>
        <p:nvGrpSpPr>
          <p:cNvPr id="9" name="Group 9"/>
          <p:cNvGrpSpPr/>
          <p:nvPr/>
        </p:nvGrpSpPr>
        <p:grpSpPr>
          <a:xfrm>
            <a:off x="0" y="8107296"/>
            <a:ext cx="18998529" cy="1554646"/>
            <a:chOff x="0" y="0"/>
            <a:chExt cx="7449608" cy="609600"/>
          </a:xfrm>
        </p:grpSpPr>
        <p:sp>
          <p:nvSpPr>
            <p:cNvPr id="10" name="Freeform 10"/>
            <p:cNvSpPr/>
            <p:nvPr/>
          </p:nvSpPr>
          <p:spPr>
            <a:xfrm>
              <a:off x="0" y="0"/>
              <a:ext cx="7449608" cy="609600"/>
            </a:xfrm>
            <a:custGeom>
              <a:avLst/>
              <a:gdLst/>
              <a:ahLst/>
              <a:cxnLst/>
              <a:rect l="l" t="t" r="r" b="b"/>
              <a:pathLst>
                <a:path w="7449608" h="609600">
                  <a:moveTo>
                    <a:pt x="7246408" y="0"/>
                  </a:moveTo>
                  <a:lnTo>
                    <a:pt x="0" y="0"/>
                  </a:lnTo>
                  <a:lnTo>
                    <a:pt x="203200" y="609600"/>
                  </a:lnTo>
                  <a:lnTo>
                    <a:pt x="7449608" y="609600"/>
                  </a:lnTo>
                  <a:lnTo>
                    <a:pt x="7246408" y="0"/>
                  </a:lnTo>
                  <a:close/>
                </a:path>
              </a:pathLst>
            </a:custGeom>
            <a:solidFill>
              <a:srgbClr val="E9E1DB"/>
            </a:solidFill>
          </p:spPr>
          <p:txBody>
            <a:bodyPr/>
            <a:lstStyle/>
            <a:p>
              <a:endParaRPr lang="ar-SA"/>
            </a:p>
          </p:txBody>
        </p:sp>
        <p:sp>
          <p:nvSpPr>
            <p:cNvPr id="11" name="TextBox 11"/>
            <p:cNvSpPr txBox="1"/>
            <p:nvPr/>
          </p:nvSpPr>
          <p:spPr>
            <a:xfrm>
              <a:off x="101600" y="-38100"/>
              <a:ext cx="7246408" cy="647700"/>
            </a:xfrm>
            <a:prstGeom prst="rect">
              <a:avLst/>
            </a:prstGeom>
          </p:spPr>
          <p:txBody>
            <a:bodyPr lIns="50800" tIns="50800" rIns="50800" bIns="50800" rtlCol="0" anchor="ctr"/>
            <a:lstStyle/>
            <a:p>
              <a:pPr algn="ctr">
                <a:lnSpc>
                  <a:spcPts val="2659"/>
                </a:lnSpc>
                <a:spcBef>
                  <a:spcPct val="0"/>
                </a:spcBef>
              </a:pPr>
              <a:endParaRPr/>
            </a:p>
          </p:txBody>
        </p:sp>
      </p:grpSp>
      <p:sp>
        <p:nvSpPr>
          <p:cNvPr id="12" name="TextBox 12"/>
          <p:cNvSpPr txBox="1"/>
          <p:nvPr/>
        </p:nvSpPr>
        <p:spPr>
          <a:xfrm>
            <a:off x="753488" y="904875"/>
            <a:ext cx="13572955" cy="1166495"/>
          </a:xfrm>
          <a:prstGeom prst="rect">
            <a:avLst/>
          </a:prstGeom>
        </p:spPr>
        <p:txBody>
          <a:bodyPr lIns="0" tIns="0" rIns="0" bIns="0" rtlCol="0" anchor="t">
            <a:spAutoFit/>
          </a:bodyPr>
          <a:lstStyle/>
          <a:p>
            <a:pPr algn="just">
              <a:lnSpc>
                <a:spcPts val="4480"/>
              </a:lnSpc>
            </a:pPr>
            <a:r>
              <a:rPr lang="en-US" sz="3200">
                <a:solidFill>
                  <a:srgbClr val="E9E1DB"/>
                </a:solidFill>
                <a:latin typeface="Times New Roman"/>
                <a:ea typeface="Times New Roman"/>
                <a:cs typeface="Times New Roman"/>
                <a:sym typeface="Times New Roman"/>
              </a:rPr>
              <a:t>TRAINING PLAN &amp; TASKS ASSIGNED dURING THE TRAINING PERIOD.</a:t>
            </a:r>
          </a:p>
        </p:txBody>
      </p:sp>
      <p:sp>
        <p:nvSpPr>
          <p:cNvPr id="13" name="TextBox 13"/>
          <p:cNvSpPr txBox="1"/>
          <p:nvPr/>
        </p:nvSpPr>
        <p:spPr>
          <a:xfrm>
            <a:off x="2836418" y="2417344"/>
            <a:ext cx="12615164" cy="2745688"/>
          </a:xfrm>
          <a:prstGeom prst="rect">
            <a:avLst/>
          </a:prstGeom>
        </p:spPr>
        <p:txBody>
          <a:bodyPr lIns="0" tIns="0" rIns="0" bIns="0" rtlCol="0" anchor="t">
            <a:spAutoFit/>
          </a:bodyPr>
          <a:lstStyle/>
          <a:p>
            <a:pPr algn="l">
              <a:lnSpc>
                <a:spcPts val="4199"/>
              </a:lnSpc>
            </a:pPr>
            <a:endParaRPr dirty="0"/>
          </a:p>
          <a:p>
            <a:pPr algn="l">
              <a:lnSpc>
                <a:spcPts val="3499"/>
              </a:lnSpc>
            </a:pPr>
            <a:endParaRPr dirty="0"/>
          </a:p>
          <a:p>
            <a:pPr algn="l">
              <a:lnSpc>
                <a:spcPts val="3499"/>
              </a:lnSpc>
              <a:spcBef>
                <a:spcPct val="0"/>
              </a:spcBef>
            </a:pPr>
            <a:r>
              <a:rPr lang="en-US" sz="2499" dirty="0">
                <a:solidFill>
                  <a:srgbClr val="E9E1DB"/>
                </a:solidFill>
                <a:latin typeface="Times New Roman"/>
                <a:ea typeface="Times New Roman"/>
                <a:cs typeface="Times New Roman"/>
                <a:sym typeface="Times New Roman"/>
              </a:rPr>
              <a:t>During my training period, I completed approximately 720 hours, spanning over four months, with a focus on key AI concepts. Each module was structured into a theoretical and a practical part. The training plan was structured into modules, each targeting a specific area. The plan concluded with a project. This final stage brought together all the concepts and skills gained during the program. </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400235" y="-2280012"/>
            <a:ext cx="21938561" cy="13496146"/>
          </a:xfrm>
          <a:custGeom>
            <a:avLst/>
            <a:gdLst/>
            <a:ahLst/>
            <a:cxnLst/>
            <a:rect l="l" t="t" r="r" b="b"/>
            <a:pathLst>
              <a:path w="21938561" h="13496146">
                <a:moveTo>
                  <a:pt x="0" y="0"/>
                </a:moveTo>
                <a:lnTo>
                  <a:pt x="21938560" y="0"/>
                </a:lnTo>
                <a:lnTo>
                  <a:pt x="21938560" y="13496146"/>
                </a:lnTo>
                <a:lnTo>
                  <a:pt x="0" y="13496146"/>
                </a:lnTo>
                <a:lnTo>
                  <a:pt x="0" y="0"/>
                </a:lnTo>
                <a:close/>
              </a:path>
            </a:pathLst>
          </a:custGeom>
          <a:blipFill>
            <a:blip r:embed="rId2"/>
            <a:stretch>
              <a:fillRect l="-32641" t="-36451" r="-34370" b="-16258"/>
            </a:stretch>
          </a:blipFill>
        </p:spPr>
        <p:txBody>
          <a:bodyPr/>
          <a:lstStyle/>
          <a:p>
            <a:endParaRPr lang="ar-SA"/>
          </a:p>
        </p:txBody>
      </p:sp>
      <p:grpSp>
        <p:nvGrpSpPr>
          <p:cNvPr id="3" name="Group 3"/>
          <p:cNvGrpSpPr/>
          <p:nvPr/>
        </p:nvGrpSpPr>
        <p:grpSpPr>
          <a:xfrm rot="-2088381">
            <a:off x="-654014" y="5935649"/>
            <a:ext cx="7946576" cy="1601596"/>
            <a:chOff x="0" y="0"/>
            <a:chExt cx="3539030" cy="713275"/>
          </a:xfrm>
        </p:grpSpPr>
        <p:sp>
          <p:nvSpPr>
            <p:cNvPr id="4" name="Freeform 4"/>
            <p:cNvSpPr/>
            <p:nvPr/>
          </p:nvSpPr>
          <p:spPr>
            <a:xfrm>
              <a:off x="0" y="0"/>
              <a:ext cx="3539030" cy="713275"/>
            </a:xfrm>
            <a:custGeom>
              <a:avLst/>
              <a:gdLst/>
              <a:ahLst/>
              <a:cxnLst/>
              <a:rect l="l" t="t" r="r" b="b"/>
              <a:pathLst>
                <a:path w="3539030" h="713275">
                  <a:moveTo>
                    <a:pt x="203200" y="0"/>
                  </a:moveTo>
                  <a:lnTo>
                    <a:pt x="3539030" y="0"/>
                  </a:lnTo>
                  <a:lnTo>
                    <a:pt x="3335830" y="713275"/>
                  </a:lnTo>
                  <a:lnTo>
                    <a:pt x="0" y="713275"/>
                  </a:lnTo>
                  <a:lnTo>
                    <a:pt x="203200" y="0"/>
                  </a:lnTo>
                  <a:close/>
                </a:path>
              </a:pathLst>
            </a:custGeom>
            <a:solidFill>
              <a:srgbClr val="66574D"/>
            </a:solidFill>
          </p:spPr>
          <p:txBody>
            <a:bodyPr/>
            <a:lstStyle/>
            <a:p>
              <a:endParaRPr lang="ar-SA"/>
            </a:p>
          </p:txBody>
        </p:sp>
        <p:sp>
          <p:nvSpPr>
            <p:cNvPr id="5" name="TextBox 5"/>
            <p:cNvSpPr txBox="1"/>
            <p:nvPr/>
          </p:nvSpPr>
          <p:spPr>
            <a:xfrm>
              <a:off x="101600" y="-38100"/>
              <a:ext cx="3335830" cy="751375"/>
            </a:xfrm>
            <a:prstGeom prst="rect">
              <a:avLst/>
            </a:prstGeom>
          </p:spPr>
          <p:txBody>
            <a:bodyPr lIns="50800" tIns="50800" rIns="50800" bIns="50800" rtlCol="0" anchor="ctr"/>
            <a:lstStyle/>
            <a:p>
              <a:pPr algn="ctr">
                <a:lnSpc>
                  <a:spcPts val="2659"/>
                </a:lnSpc>
              </a:pPr>
              <a:endParaRPr/>
            </a:p>
          </p:txBody>
        </p:sp>
      </p:grpSp>
      <p:grpSp>
        <p:nvGrpSpPr>
          <p:cNvPr id="6" name="Group 6"/>
          <p:cNvGrpSpPr/>
          <p:nvPr/>
        </p:nvGrpSpPr>
        <p:grpSpPr>
          <a:xfrm>
            <a:off x="-1226391" y="-276474"/>
            <a:ext cx="21419231" cy="9782157"/>
            <a:chOff x="0" y="0"/>
            <a:chExt cx="1540308" cy="703458"/>
          </a:xfrm>
        </p:grpSpPr>
        <p:sp>
          <p:nvSpPr>
            <p:cNvPr id="7" name="Freeform 7"/>
            <p:cNvSpPr/>
            <p:nvPr/>
          </p:nvSpPr>
          <p:spPr>
            <a:xfrm>
              <a:off x="0" y="0"/>
              <a:ext cx="1540308" cy="703458"/>
            </a:xfrm>
            <a:custGeom>
              <a:avLst/>
              <a:gdLst/>
              <a:ahLst/>
              <a:cxnLst/>
              <a:rect l="l" t="t" r="r" b="b"/>
              <a:pathLst>
                <a:path w="1540308" h="703458">
                  <a:moveTo>
                    <a:pt x="1337108" y="0"/>
                  </a:moveTo>
                  <a:lnTo>
                    <a:pt x="0" y="0"/>
                  </a:lnTo>
                  <a:lnTo>
                    <a:pt x="203200" y="703458"/>
                  </a:lnTo>
                  <a:lnTo>
                    <a:pt x="1540308" y="703458"/>
                  </a:lnTo>
                  <a:lnTo>
                    <a:pt x="1337108" y="0"/>
                  </a:lnTo>
                  <a:close/>
                </a:path>
              </a:pathLst>
            </a:custGeom>
            <a:solidFill>
              <a:srgbClr val="3D3735"/>
            </a:solidFill>
          </p:spPr>
          <p:txBody>
            <a:bodyPr/>
            <a:lstStyle/>
            <a:p>
              <a:endParaRPr lang="ar-SA"/>
            </a:p>
          </p:txBody>
        </p:sp>
        <p:sp>
          <p:nvSpPr>
            <p:cNvPr id="8" name="TextBox 8"/>
            <p:cNvSpPr txBox="1"/>
            <p:nvPr/>
          </p:nvSpPr>
          <p:spPr>
            <a:xfrm>
              <a:off x="101600" y="-38100"/>
              <a:ext cx="1337108" cy="741558"/>
            </a:xfrm>
            <a:prstGeom prst="rect">
              <a:avLst/>
            </a:prstGeom>
          </p:spPr>
          <p:txBody>
            <a:bodyPr lIns="50800" tIns="50800" rIns="50800" bIns="50800" rtlCol="0" anchor="ctr"/>
            <a:lstStyle/>
            <a:p>
              <a:pPr algn="ctr">
                <a:lnSpc>
                  <a:spcPts val="2659"/>
                </a:lnSpc>
                <a:spcBef>
                  <a:spcPct val="0"/>
                </a:spcBef>
              </a:pPr>
              <a:endParaRPr/>
            </a:p>
          </p:txBody>
        </p:sp>
      </p:grpSp>
      <p:grpSp>
        <p:nvGrpSpPr>
          <p:cNvPr id="9" name="Group 9"/>
          <p:cNvGrpSpPr/>
          <p:nvPr/>
        </p:nvGrpSpPr>
        <p:grpSpPr>
          <a:xfrm>
            <a:off x="0" y="8107296"/>
            <a:ext cx="18998529" cy="1554646"/>
            <a:chOff x="0" y="0"/>
            <a:chExt cx="7449608" cy="609600"/>
          </a:xfrm>
        </p:grpSpPr>
        <p:sp>
          <p:nvSpPr>
            <p:cNvPr id="10" name="Freeform 10"/>
            <p:cNvSpPr/>
            <p:nvPr/>
          </p:nvSpPr>
          <p:spPr>
            <a:xfrm>
              <a:off x="0" y="0"/>
              <a:ext cx="7449608" cy="609600"/>
            </a:xfrm>
            <a:custGeom>
              <a:avLst/>
              <a:gdLst/>
              <a:ahLst/>
              <a:cxnLst/>
              <a:rect l="l" t="t" r="r" b="b"/>
              <a:pathLst>
                <a:path w="7449608" h="609600">
                  <a:moveTo>
                    <a:pt x="7246408" y="0"/>
                  </a:moveTo>
                  <a:lnTo>
                    <a:pt x="0" y="0"/>
                  </a:lnTo>
                  <a:lnTo>
                    <a:pt x="203200" y="609600"/>
                  </a:lnTo>
                  <a:lnTo>
                    <a:pt x="7449608" y="609600"/>
                  </a:lnTo>
                  <a:lnTo>
                    <a:pt x="7246408" y="0"/>
                  </a:lnTo>
                  <a:close/>
                </a:path>
              </a:pathLst>
            </a:custGeom>
            <a:solidFill>
              <a:srgbClr val="E9E1DB"/>
            </a:solidFill>
          </p:spPr>
          <p:txBody>
            <a:bodyPr/>
            <a:lstStyle/>
            <a:p>
              <a:endParaRPr lang="ar-SA"/>
            </a:p>
          </p:txBody>
        </p:sp>
        <p:sp>
          <p:nvSpPr>
            <p:cNvPr id="11" name="TextBox 11"/>
            <p:cNvSpPr txBox="1"/>
            <p:nvPr/>
          </p:nvSpPr>
          <p:spPr>
            <a:xfrm>
              <a:off x="101600" y="-38100"/>
              <a:ext cx="7246408" cy="647700"/>
            </a:xfrm>
            <a:prstGeom prst="rect">
              <a:avLst/>
            </a:prstGeom>
          </p:spPr>
          <p:txBody>
            <a:bodyPr lIns="50800" tIns="50800" rIns="50800" bIns="50800" rtlCol="0" anchor="ctr"/>
            <a:lstStyle/>
            <a:p>
              <a:pPr algn="ctr">
                <a:lnSpc>
                  <a:spcPts val="2659"/>
                </a:lnSpc>
                <a:spcBef>
                  <a:spcPct val="0"/>
                </a:spcBef>
              </a:pPr>
              <a:endParaRPr/>
            </a:p>
          </p:txBody>
        </p:sp>
      </p:grpSp>
      <p:sp>
        <p:nvSpPr>
          <p:cNvPr id="12" name="TextBox 12"/>
          <p:cNvSpPr txBox="1"/>
          <p:nvPr/>
        </p:nvSpPr>
        <p:spPr>
          <a:xfrm>
            <a:off x="778332" y="383540"/>
            <a:ext cx="13572955" cy="528991"/>
          </a:xfrm>
          <a:prstGeom prst="rect">
            <a:avLst/>
          </a:prstGeom>
        </p:spPr>
        <p:txBody>
          <a:bodyPr lIns="0" tIns="0" rIns="0" bIns="0" rtlCol="0" anchor="t">
            <a:spAutoFit/>
          </a:bodyPr>
          <a:lstStyle/>
          <a:p>
            <a:pPr algn="just">
              <a:lnSpc>
                <a:spcPts val="4480"/>
              </a:lnSpc>
            </a:pPr>
            <a:r>
              <a:rPr lang="en-US" sz="3200" dirty="0">
                <a:solidFill>
                  <a:srgbClr val="E9E1DB"/>
                </a:solidFill>
                <a:latin typeface="Times New Roman"/>
                <a:ea typeface="Times New Roman"/>
                <a:cs typeface="Times New Roman"/>
                <a:sym typeface="Times New Roman"/>
              </a:rPr>
              <a:t>TRAINING PLAN &amp; TASKS ASSIGNED DURING THE TRAINING PERIOD.</a:t>
            </a:r>
          </a:p>
        </p:txBody>
      </p:sp>
      <p:sp>
        <p:nvSpPr>
          <p:cNvPr id="13" name="TextBox 13"/>
          <p:cNvSpPr txBox="1"/>
          <p:nvPr/>
        </p:nvSpPr>
        <p:spPr>
          <a:xfrm>
            <a:off x="1028700" y="1793048"/>
            <a:ext cx="7148297" cy="6014085"/>
          </a:xfrm>
          <a:prstGeom prst="rect">
            <a:avLst/>
          </a:prstGeom>
        </p:spPr>
        <p:txBody>
          <a:bodyPr lIns="0" tIns="0" rIns="0" bIns="0" rtlCol="0" anchor="t">
            <a:spAutoFit/>
          </a:bodyPr>
          <a:lstStyle/>
          <a:p>
            <a:pPr marL="431799" lvl="1" indent="-215899" algn="l">
              <a:lnSpc>
                <a:spcPts val="2519"/>
              </a:lnSpc>
              <a:buFont typeface="Arial"/>
              <a:buChar char="•"/>
            </a:pPr>
            <a:r>
              <a:rPr lang="en-US" sz="1999">
                <a:solidFill>
                  <a:srgbClr val="E9E1DB"/>
                </a:solidFill>
                <a:latin typeface="Times New Roman"/>
                <a:ea typeface="Times New Roman"/>
                <a:cs typeface="Times New Roman"/>
                <a:sym typeface="Times New Roman"/>
              </a:rPr>
              <a:t>Read the first chapter of Sebastian Raschka's book</a:t>
            </a:r>
          </a:p>
          <a:p>
            <a:pPr algn="l">
              <a:lnSpc>
                <a:spcPts val="2519"/>
              </a:lnSpc>
            </a:pPr>
            <a:endParaRPr lang="en-US" sz="1999">
              <a:solidFill>
                <a:srgbClr val="E9E1DB"/>
              </a:solidFill>
              <a:latin typeface="Times New Roman"/>
              <a:ea typeface="Times New Roman"/>
              <a:cs typeface="Times New Roman"/>
              <a:sym typeface="Times New Roman"/>
            </a:endParaRPr>
          </a:p>
          <a:p>
            <a:pPr marL="431799" lvl="1" indent="-215899" algn="l">
              <a:lnSpc>
                <a:spcPts val="2519"/>
              </a:lnSpc>
              <a:buFont typeface="Arial"/>
              <a:buChar char="•"/>
            </a:pPr>
            <a:r>
              <a:rPr lang="en-US" sz="1999">
                <a:solidFill>
                  <a:srgbClr val="E9E1DB"/>
                </a:solidFill>
                <a:latin typeface="Times New Roman"/>
                <a:ea typeface="Times New Roman"/>
                <a:cs typeface="Times New Roman"/>
                <a:sym typeface="Times New Roman"/>
              </a:rPr>
              <a:t>Watch demos of the OpenAI API and ChatGPT</a:t>
            </a:r>
          </a:p>
          <a:p>
            <a:pPr algn="l">
              <a:lnSpc>
                <a:spcPts val="2519"/>
              </a:lnSpc>
            </a:pPr>
            <a:endParaRPr lang="en-US" sz="1999">
              <a:solidFill>
                <a:srgbClr val="E9E1DB"/>
              </a:solidFill>
              <a:latin typeface="Times New Roman"/>
              <a:ea typeface="Times New Roman"/>
              <a:cs typeface="Times New Roman"/>
              <a:sym typeface="Times New Roman"/>
            </a:endParaRPr>
          </a:p>
          <a:p>
            <a:pPr marL="431799" lvl="1" indent="-215899" algn="l">
              <a:lnSpc>
                <a:spcPts val="2519"/>
              </a:lnSpc>
              <a:buFont typeface="Arial"/>
              <a:buChar char="•"/>
            </a:pPr>
            <a:r>
              <a:rPr lang="en-US" sz="1999">
                <a:solidFill>
                  <a:srgbClr val="E9E1DB"/>
                </a:solidFill>
                <a:latin typeface="Times New Roman"/>
                <a:ea typeface="Times New Roman"/>
                <a:cs typeface="Times New Roman"/>
                <a:sym typeface="Times New Roman"/>
              </a:rPr>
              <a:t>Implement a simple Attention model and explain the difference between the Decoder and the Encoder. Use GitHub to test actual code.</a:t>
            </a:r>
          </a:p>
          <a:p>
            <a:pPr algn="l">
              <a:lnSpc>
                <a:spcPts val="2519"/>
              </a:lnSpc>
            </a:pPr>
            <a:endParaRPr lang="en-US" sz="1999">
              <a:solidFill>
                <a:srgbClr val="E9E1DB"/>
              </a:solidFill>
              <a:latin typeface="Times New Roman"/>
              <a:ea typeface="Times New Roman"/>
              <a:cs typeface="Times New Roman"/>
              <a:sym typeface="Times New Roman"/>
            </a:endParaRPr>
          </a:p>
          <a:p>
            <a:pPr marL="431799" lvl="1" indent="-215899" algn="l">
              <a:lnSpc>
                <a:spcPts val="2519"/>
              </a:lnSpc>
              <a:buFont typeface="Arial"/>
              <a:buChar char="•"/>
            </a:pPr>
            <a:r>
              <a:rPr lang="en-US" sz="1999">
                <a:solidFill>
                  <a:srgbClr val="E9E1DB"/>
                </a:solidFill>
                <a:latin typeface="Times New Roman"/>
                <a:ea typeface="Times New Roman"/>
                <a:cs typeface="Times New Roman"/>
                <a:sym typeface="Times New Roman"/>
              </a:rPr>
              <a:t>Analyze the difference between: Pretraining vs. Instruction Tuning </a:t>
            </a:r>
          </a:p>
          <a:p>
            <a:pPr algn="l">
              <a:lnSpc>
                <a:spcPts val="2519"/>
              </a:lnSpc>
            </a:pPr>
            <a:endParaRPr lang="en-US" sz="1999">
              <a:solidFill>
                <a:srgbClr val="E9E1DB"/>
              </a:solidFill>
              <a:latin typeface="Times New Roman"/>
              <a:ea typeface="Times New Roman"/>
              <a:cs typeface="Times New Roman"/>
              <a:sym typeface="Times New Roman"/>
            </a:endParaRPr>
          </a:p>
          <a:p>
            <a:pPr marL="431799" lvl="1" indent="-215899" algn="l">
              <a:lnSpc>
                <a:spcPts val="2519"/>
              </a:lnSpc>
              <a:buFont typeface="Arial"/>
              <a:buChar char="•"/>
            </a:pPr>
            <a:r>
              <a:rPr lang="en-US" sz="1999">
                <a:solidFill>
                  <a:srgbClr val="E9E1DB"/>
                </a:solidFill>
                <a:latin typeface="Times New Roman"/>
                <a:ea typeface="Times New Roman"/>
                <a:cs typeface="Times New Roman"/>
                <a:sym typeface="Times New Roman"/>
              </a:rPr>
              <a:t>Download an open model and test it.</a:t>
            </a:r>
          </a:p>
          <a:p>
            <a:pPr algn="l">
              <a:lnSpc>
                <a:spcPts val="2519"/>
              </a:lnSpc>
            </a:pPr>
            <a:endParaRPr lang="en-US" sz="1999">
              <a:solidFill>
                <a:srgbClr val="E9E1DB"/>
              </a:solidFill>
              <a:latin typeface="Times New Roman"/>
              <a:ea typeface="Times New Roman"/>
              <a:cs typeface="Times New Roman"/>
              <a:sym typeface="Times New Roman"/>
            </a:endParaRPr>
          </a:p>
          <a:p>
            <a:pPr marL="431799" lvl="1" indent="-215899" algn="l">
              <a:lnSpc>
                <a:spcPts val="2519"/>
              </a:lnSpc>
              <a:buFont typeface="Arial"/>
              <a:buChar char="•"/>
            </a:pPr>
            <a:r>
              <a:rPr lang="en-US" sz="1999">
                <a:solidFill>
                  <a:srgbClr val="E9E1DB"/>
                </a:solidFill>
                <a:latin typeface="Times New Roman"/>
                <a:ea typeface="Times New Roman"/>
                <a:cs typeface="Times New Roman"/>
                <a:sym typeface="Times New Roman"/>
              </a:rPr>
              <a:t> Use the OpenAI API to create a simple application and test content recall in two languages.</a:t>
            </a:r>
          </a:p>
          <a:p>
            <a:pPr algn="l">
              <a:lnSpc>
                <a:spcPts val="2519"/>
              </a:lnSpc>
            </a:pPr>
            <a:endParaRPr lang="en-US" sz="1999">
              <a:solidFill>
                <a:srgbClr val="E9E1DB"/>
              </a:solidFill>
              <a:latin typeface="Times New Roman"/>
              <a:ea typeface="Times New Roman"/>
              <a:cs typeface="Times New Roman"/>
              <a:sym typeface="Times New Roman"/>
            </a:endParaRPr>
          </a:p>
          <a:p>
            <a:pPr marL="431799" lvl="1" indent="-215899" algn="l">
              <a:lnSpc>
                <a:spcPts val="2519"/>
              </a:lnSpc>
              <a:buFont typeface="Arial"/>
              <a:buChar char="•"/>
            </a:pPr>
            <a:r>
              <a:rPr lang="en-US" sz="1999">
                <a:solidFill>
                  <a:srgbClr val="E9E1DB"/>
                </a:solidFill>
                <a:latin typeface="Times New Roman"/>
                <a:ea typeface="Times New Roman"/>
                <a:cs typeface="Times New Roman"/>
                <a:sym typeface="Times New Roman"/>
              </a:rPr>
              <a:t>Compare zero-shot vs. few-shot vs. chain-of-thought prompting.</a:t>
            </a:r>
          </a:p>
          <a:p>
            <a:pPr algn="l">
              <a:lnSpc>
                <a:spcPts val="2519"/>
              </a:lnSpc>
            </a:pPr>
            <a:endParaRPr lang="en-US" sz="1999">
              <a:solidFill>
                <a:srgbClr val="E9E1DB"/>
              </a:solidFill>
              <a:latin typeface="Times New Roman"/>
              <a:ea typeface="Times New Roman"/>
              <a:cs typeface="Times New Roman"/>
              <a:sym typeface="Times New Roman"/>
            </a:endParaRPr>
          </a:p>
        </p:txBody>
      </p:sp>
      <p:sp>
        <p:nvSpPr>
          <p:cNvPr id="14" name="TextBox 14"/>
          <p:cNvSpPr txBox="1"/>
          <p:nvPr/>
        </p:nvSpPr>
        <p:spPr>
          <a:xfrm>
            <a:off x="8994934" y="1606040"/>
            <a:ext cx="8544690" cy="6369050"/>
          </a:xfrm>
          <a:prstGeom prst="rect">
            <a:avLst/>
          </a:prstGeom>
        </p:spPr>
        <p:txBody>
          <a:bodyPr lIns="0" tIns="0" rIns="0" bIns="0" rtlCol="0" anchor="t">
            <a:spAutoFit/>
          </a:bodyPr>
          <a:lstStyle/>
          <a:p>
            <a:pPr marL="431799" lvl="1" indent="-215899" algn="l">
              <a:lnSpc>
                <a:spcPts val="2799"/>
              </a:lnSpc>
              <a:buFont typeface="Arial"/>
              <a:buChar char="•"/>
            </a:pPr>
            <a:r>
              <a:rPr lang="en-US" sz="1999">
                <a:solidFill>
                  <a:srgbClr val="E9E1DB"/>
                </a:solidFill>
                <a:latin typeface="Times New Roman"/>
                <a:ea typeface="Times New Roman"/>
                <a:cs typeface="Times New Roman"/>
                <a:sym typeface="Times New Roman"/>
              </a:rPr>
              <a:t>Generate and analyze multiple outputs and modify commands based on the outputs.</a:t>
            </a:r>
          </a:p>
          <a:p>
            <a:pPr algn="l">
              <a:lnSpc>
                <a:spcPts val="2799"/>
              </a:lnSpc>
            </a:pPr>
            <a:endParaRPr lang="en-US" sz="1999">
              <a:solidFill>
                <a:srgbClr val="E9E1DB"/>
              </a:solidFill>
              <a:latin typeface="Times New Roman"/>
              <a:ea typeface="Times New Roman"/>
              <a:cs typeface="Times New Roman"/>
              <a:sym typeface="Times New Roman"/>
            </a:endParaRPr>
          </a:p>
          <a:p>
            <a:pPr marL="431799" lvl="1" indent="-215899" algn="l">
              <a:lnSpc>
                <a:spcPts val="2799"/>
              </a:lnSpc>
              <a:buFont typeface="Arial"/>
              <a:buChar char="•"/>
            </a:pPr>
            <a:r>
              <a:rPr lang="en-US" sz="1999">
                <a:solidFill>
                  <a:srgbClr val="E9E1DB"/>
                </a:solidFill>
                <a:latin typeface="Times New Roman"/>
                <a:ea typeface="Times New Roman"/>
                <a:cs typeface="Times New Roman"/>
                <a:sym typeface="Times New Roman"/>
              </a:rPr>
              <a:t>Compile and test 10 commands for different tasks (course description, objectives, presentation, question, etc.)</a:t>
            </a:r>
          </a:p>
          <a:p>
            <a:pPr algn="l">
              <a:lnSpc>
                <a:spcPts val="2799"/>
              </a:lnSpc>
            </a:pPr>
            <a:endParaRPr lang="en-US" sz="1999">
              <a:solidFill>
                <a:srgbClr val="E9E1DB"/>
              </a:solidFill>
              <a:latin typeface="Times New Roman"/>
              <a:ea typeface="Times New Roman"/>
              <a:cs typeface="Times New Roman"/>
              <a:sym typeface="Times New Roman"/>
            </a:endParaRPr>
          </a:p>
          <a:p>
            <a:pPr marL="431799" lvl="1" indent="-215899" algn="l">
              <a:lnSpc>
                <a:spcPts val="2799"/>
              </a:lnSpc>
              <a:buFont typeface="Arial"/>
              <a:buChar char="•"/>
            </a:pPr>
            <a:r>
              <a:rPr lang="en-US" sz="1999">
                <a:solidFill>
                  <a:srgbClr val="E9E1DB"/>
                </a:solidFill>
                <a:latin typeface="Times New Roman"/>
                <a:ea typeface="Times New Roman"/>
                <a:cs typeface="Times New Roman"/>
                <a:sym typeface="Times New Roman"/>
              </a:rPr>
              <a:t>Apply Bloom’s taxonomy to analyze vocabulary sequences.</a:t>
            </a:r>
          </a:p>
          <a:p>
            <a:pPr algn="l">
              <a:lnSpc>
                <a:spcPts val="2799"/>
              </a:lnSpc>
            </a:pPr>
            <a:endParaRPr lang="en-US" sz="1999">
              <a:solidFill>
                <a:srgbClr val="E9E1DB"/>
              </a:solidFill>
              <a:latin typeface="Times New Roman"/>
              <a:ea typeface="Times New Roman"/>
              <a:cs typeface="Times New Roman"/>
              <a:sym typeface="Times New Roman"/>
            </a:endParaRPr>
          </a:p>
          <a:p>
            <a:pPr marL="431799" lvl="1" indent="-215899" algn="l">
              <a:lnSpc>
                <a:spcPts val="2799"/>
              </a:lnSpc>
              <a:buFont typeface="Arial"/>
              <a:buChar char="•"/>
            </a:pPr>
            <a:r>
              <a:rPr lang="en-US" sz="1999">
                <a:solidFill>
                  <a:srgbClr val="E9E1DB"/>
                </a:solidFill>
                <a:latin typeface="Times New Roman"/>
                <a:ea typeface="Times New Roman"/>
                <a:cs typeface="Times New Roman"/>
                <a:sym typeface="Times New Roman"/>
              </a:rPr>
              <a:t>Analyze unsuccessful outputs and document the resulting commands.</a:t>
            </a:r>
          </a:p>
          <a:p>
            <a:pPr algn="l">
              <a:lnSpc>
                <a:spcPts val="2799"/>
              </a:lnSpc>
            </a:pPr>
            <a:endParaRPr lang="en-US" sz="1999">
              <a:solidFill>
                <a:srgbClr val="E9E1DB"/>
              </a:solidFill>
              <a:latin typeface="Times New Roman"/>
              <a:ea typeface="Times New Roman"/>
              <a:cs typeface="Times New Roman"/>
              <a:sym typeface="Times New Roman"/>
            </a:endParaRPr>
          </a:p>
          <a:p>
            <a:pPr marL="431799" lvl="1" indent="-215899" algn="l">
              <a:lnSpc>
                <a:spcPts val="2799"/>
              </a:lnSpc>
              <a:buFont typeface="Arial"/>
              <a:buChar char="•"/>
            </a:pPr>
            <a:r>
              <a:rPr lang="en-US" sz="1999">
                <a:solidFill>
                  <a:srgbClr val="E9E1DB"/>
                </a:solidFill>
                <a:latin typeface="Times New Roman"/>
                <a:ea typeface="Times New Roman"/>
                <a:cs typeface="Times New Roman"/>
                <a:sym typeface="Times New Roman"/>
              </a:rPr>
              <a:t>Set up a project using Flask.</a:t>
            </a:r>
          </a:p>
          <a:p>
            <a:pPr algn="l">
              <a:lnSpc>
                <a:spcPts val="2799"/>
              </a:lnSpc>
            </a:pPr>
            <a:endParaRPr lang="en-US" sz="1999">
              <a:solidFill>
                <a:srgbClr val="E9E1DB"/>
              </a:solidFill>
              <a:latin typeface="Times New Roman"/>
              <a:ea typeface="Times New Roman"/>
              <a:cs typeface="Times New Roman"/>
              <a:sym typeface="Times New Roman"/>
            </a:endParaRPr>
          </a:p>
          <a:p>
            <a:pPr marL="431799" lvl="1" indent="-215899" algn="l">
              <a:lnSpc>
                <a:spcPts val="2799"/>
              </a:lnSpc>
              <a:buFont typeface="Arial"/>
              <a:buChar char="•"/>
            </a:pPr>
            <a:r>
              <a:rPr lang="en-US" sz="1999">
                <a:solidFill>
                  <a:srgbClr val="E9E1DB"/>
                </a:solidFill>
                <a:latin typeface="Times New Roman"/>
                <a:ea typeface="Times New Roman"/>
                <a:cs typeface="Times New Roman"/>
                <a:sym typeface="Times New Roman"/>
              </a:rPr>
              <a:t>Adjust temperature, length, and models used.</a:t>
            </a:r>
          </a:p>
          <a:p>
            <a:pPr algn="l">
              <a:lnSpc>
                <a:spcPts val="2799"/>
              </a:lnSpc>
            </a:pPr>
            <a:endParaRPr lang="en-US" sz="1999">
              <a:solidFill>
                <a:srgbClr val="E9E1DB"/>
              </a:solidFill>
              <a:latin typeface="Times New Roman"/>
              <a:ea typeface="Times New Roman"/>
              <a:cs typeface="Times New Roman"/>
              <a:sym typeface="Times New Roman"/>
            </a:endParaRPr>
          </a:p>
          <a:p>
            <a:pPr marL="431799" lvl="1" indent="-215899" algn="l">
              <a:lnSpc>
                <a:spcPts val="2799"/>
              </a:lnSpc>
              <a:buFont typeface="Arial"/>
              <a:buChar char="•"/>
            </a:pPr>
            <a:r>
              <a:rPr lang="en-US" sz="1999">
                <a:solidFill>
                  <a:srgbClr val="E9E1DB"/>
                </a:solidFill>
                <a:latin typeface="Times New Roman"/>
                <a:ea typeface="Times New Roman"/>
                <a:cs typeface="Times New Roman"/>
                <a:sym typeface="Times New Roman"/>
              </a:rPr>
              <a:t>Use python-pptx to export courses.</a:t>
            </a:r>
          </a:p>
          <a:p>
            <a:pPr algn="l">
              <a:lnSpc>
                <a:spcPts val="2799"/>
              </a:lnSpc>
            </a:pPr>
            <a:endParaRPr lang="en-US" sz="1999">
              <a:solidFill>
                <a:srgbClr val="E9E1DB"/>
              </a:solidFill>
              <a:latin typeface="Times New Roman"/>
              <a:ea typeface="Times New Roman"/>
              <a:cs typeface="Times New Roman"/>
              <a:sym typeface="Times New Roman"/>
            </a:endParaRPr>
          </a:p>
          <a:p>
            <a:pPr marL="431799" lvl="1" indent="-215899" algn="l">
              <a:lnSpc>
                <a:spcPts val="2799"/>
              </a:lnSpc>
              <a:buFont typeface="Arial"/>
              <a:buChar char="•"/>
            </a:pPr>
            <a:r>
              <a:rPr lang="en-US" sz="1999">
                <a:solidFill>
                  <a:srgbClr val="E9E1DB"/>
                </a:solidFill>
                <a:latin typeface="Times New Roman"/>
                <a:ea typeface="Times New Roman"/>
                <a:cs typeface="Times New Roman"/>
                <a:sym typeface="Times New Roman"/>
              </a:rPr>
              <a:t>Develop an actual course using all the acquired skills.</a:t>
            </a:r>
          </a:p>
          <a:p>
            <a:pPr algn="l">
              <a:lnSpc>
                <a:spcPts val="2799"/>
              </a:lnSpc>
            </a:pPr>
            <a:endParaRPr lang="en-US" sz="1999">
              <a:solidFill>
                <a:srgbClr val="E9E1DB"/>
              </a:solidFill>
              <a:latin typeface="Times New Roman"/>
              <a:ea typeface="Times New Roman"/>
              <a:cs typeface="Times New Roman"/>
              <a:sym typeface="Times New Roman"/>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400235" y="-2280012"/>
            <a:ext cx="21938561" cy="13496146"/>
          </a:xfrm>
          <a:custGeom>
            <a:avLst/>
            <a:gdLst/>
            <a:ahLst/>
            <a:cxnLst/>
            <a:rect l="l" t="t" r="r" b="b"/>
            <a:pathLst>
              <a:path w="21938561" h="13496146">
                <a:moveTo>
                  <a:pt x="0" y="0"/>
                </a:moveTo>
                <a:lnTo>
                  <a:pt x="21938560" y="0"/>
                </a:lnTo>
                <a:lnTo>
                  <a:pt x="21938560" y="13496146"/>
                </a:lnTo>
                <a:lnTo>
                  <a:pt x="0" y="13496146"/>
                </a:lnTo>
                <a:lnTo>
                  <a:pt x="0" y="0"/>
                </a:lnTo>
                <a:close/>
              </a:path>
            </a:pathLst>
          </a:custGeom>
          <a:blipFill>
            <a:blip r:embed="rId2"/>
            <a:stretch>
              <a:fillRect l="-32641" t="-36451" r="-34370" b="-16258"/>
            </a:stretch>
          </a:blipFill>
        </p:spPr>
        <p:txBody>
          <a:bodyPr/>
          <a:lstStyle/>
          <a:p>
            <a:endParaRPr lang="ar-SA"/>
          </a:p>
        </p:txBody>
      </p:sp>
      <p:grpSp>
        <p:nvGrpSpPr>
          <p:cNvPr id="3" name="Group 3"/>
          <p:cNvGrpSpPr/>
          <p:nvPr/>
        </p:nvGrpSpPr>
        <p:grpSpPr>
          <a:xfrm rot="-2088381">
            <a:off x="-654014" y="5935649"/>
            <a:ext cx="7946576" cy="1601596"/>
            <a:chOff x="0" y="0"/>
            <a:chExt cx="3539030" cy="713275"/>
          </a:xfrm>
        </p:grpSpPr>
        <p:sp>
          <p:nvSpPr>
            <p:cNvPr id="4" name="Freeform 4"/>
            <p:cNvSpPr/>
            <p:nvPr/>
          </p:nvSpPr>
          <p:spPr>
            <a:xfrm>
              <a:off x="0" y="0"/>
              <a:ext cx="3539030" cy="713275"/>
            </a:xfrm>
            <a:custGeom>
              <a:avLst/>
              <a:gdLst/>
              <a:ahLst/>
              <a:cxnLst/>
              <a:rect l="l" t="t" r="r" b="b"/>
              <a:pathLst>
                <a:path w="3539030" h="713275">
                  <a:moveTo>
                    <a:pt x="203200" y="0"/>
                  </a:moveTo>
                  <a:lnTo>
                    <a:pt x="3539030" y="0"/>
                  </a:lnTo>
                  <a:lnTo>
                    <a:pt x="3335830" y="713275"/>
                  </a:lnTo>
                  <a:lnTo>
                    <a:pt x="0" y="713275"/>
                  </a:lnTo>
                  <a:lnTo>
                    <a:pt x="203200" y="0"/>
                  </a:lnTo>
                  <a:close/>
                </a:path>
              </a:pathLst>
            </a:custGeom>
            <a:solidFill>
              <a:srgbClr val="66574D"/>
            </a:solidFill>
          </p:spPr>
          <p:txBody>
            <a:bodyPr/>
            <a:lstStyle/>
            <a:p>
              <a:endParaRPr lang="ar-SA"/>
            </a:p>
          </p:txBody>
        </p:sp>
        <p:sp>
          <p:nvSpPr>
            <p:cNvPr id="5" name="TextBox 5"/>
            <p:cNvSpPr txBox="1"/>
            <p:nvPr/>
          </p:nvSpPr>
          <p:spPr>
            <a:xfrm>
              <a:off x="101600" y="-38100"/>
              <a:ext cx="3335830" cy="751375"/>
            </a:xfrm>
            <a:prstGeom prst="rect">
              <a:avLst/>
            </a:prstGeom>
          </p:spPr>
          <p:txBody>
            <a:bodyPr lIns="50800" tIns="50800" rIns="50800" bIns="50800" rtlCol="0" anchor="ctr"/>
            <a:lstStyle/>
            <a:p>
              <a:pPr algn="ctr">
                <a:lnSpc>
                  <a:spcPts val="2659"/>
                </a:lnSpc>
              </a:pPr>
              <a:endParaRPr/>
            </a:p>
          </p:txBody>
        </p:sp>
      </p:grpSp>
      <p:grpSp>
        <p:nvGrpSpPr>
          <p:cNvPr id="6" name="Group 6"/>
          <p:cNvGrpSpPr/>
          <p:nvPr/>
        </p:nvGrpSpPr>
        <p:grpSpPr>
          <a:xfrm>
            <a:off x="-1226391" y="419167"/>
            <a:ext cx="21419231" cy="9086516"/>
            <a:chOff x="0" y="0"/>
            <a:chExt cx="1540308" cy="653433"/>
          </a:xfrm>
        </p:grpSpPr>
        <p:sp>
          <p:nvSpPr>
            <p:cNvPr id="7" name="Freeform 7"/>
            <p:cNvSpPr/>
            <p:nvPr/>
          </p:nvSpPr>
          <p:spPr>
            <a:xfrm>
              <a:off x="0" y="0"/>
              <a:ext cx="1540308" cy="653433"/>
            </a:xfrm>
            <a:custGeom>
              <a:avLst/>
              <a:gdLst/>
              <a:ahLst/>
              <a:cxnLst/>
              <a:rect l="l" t="t" r="r" b="b"/>
              <a:pathLst>
                <a:path w="1540308" h="653433">
                  <a:moveTo>
                    <a:pt x="1337108" y="0"/>
                  </a:moveTo>
                  <a:lnTo>
                    <a:pt x="0" y="0"/>
                  </a:lnTo>
                  <a:lnTo>
                    <a:pt x="203200" y="653433"/>
                  </a:lnTo>
                  <a:lnTo>
                    <a:pt x="1540308" y="653433"/>
                  </a:lnTo>
                  <a:lnTo>
                    <a:pt x="1337108" y="0"/>
                  </a:lnTo>
                  <a:close/>
                </a:path>
              </a:pathLst>
            </a:custGeom>
            <a:solidFill>
              <a:srgbClr val="3D3735"/>
            </a:solidFill>
          </p:spPr>
          <p:txBody>
            <a:bodyPr/>
            <a:lstStyle/>
            <a:p>
              <a:endParaRPr lang="ar-SA"/>
            </a:p>
          </p:txBody>
        </p:sp>
        <p:sp>
          <p:nvSpPr>
            <p:cNvPr id="8" name="TextBox 8"/>
            <p:cNvSpPr txBox="1"/>
            <p:nvPr/>
          </p:nvSpPr>
          <p:spPr>
            <a:xfrm>
              <a:off x="101600" y="-38100"/>
              <a:ext cx="1337108" cy="691533"/>
            </a:xfrm>
            <a:prstGeom prst="rect">
              <a:avLst/>
            </a:prstGeom>
          </p:spPr>
          <p:txBody>
            <a:bodyPr lIns="50800" tIns="50800" rIns="50800" bIns="50800" rtlCol="0" anchor="ctr"/>
            <a:lstStyle/>
            <a:p>
              <a:pPr algn="ctr">
                <a:lnSpc>
                  <a:spcPts val="2659"/>
                </a:lnSpc>
                <a:spcBef>
                  <a:spcPct val="0"/>
                </a:spcBef>
              </a:pPr>
              <a:endParaRPr/>
            </a:p>
          </p:txBody>
        </p:sp>
      </p:grpSp>
      <p:grpSp>
        <p:nvGrpSpPr>
          <p:cNvPr id="9" name="Group 9"/>
          <p:cNvGrpSpPr/>
          <p:nvPr/>
        </p:nvGrpSpPr>
        <p:grpSpPr>
          <a:xfrm>
            <a:off x="0" y="8107296"/>
            <a:ext cx="18998529" cy="1554646"/>
            <a:chOff x="0" y="0"/>
            <a:chExt cx="7449608" cy="609600"/>
          </a:xfrm>
        </p:grpSpPr>
        <p:sp>
          <p:nvSpPr>
            <p:cNvPr id="10" name="Freeform 10"/>
            <p:cNvSpPr/>
            <p:nvPr/>
          </p:nvSpPr>
          <p:spPr>
            <a:xfrm>
              <a:off x="0" y="0"/>
              <a:ext cx="7449608" cy="609600"/>
            </a:xfrm>
            <a:custGeom>
              <a:avLst/>
              <a:gdLst/>
              <a:ahLst/>
              <a:cxnLst/>
              <a:rect l="l" t="t" r="r" b="b"/>
              <a:pathLst>
                <a:path w="7449608" h="609600">
                  <a:moveTo>
                    <a:pt x="7246408" y="0"/>
                  </a:moveTo>
                  <a:lnTo>
                    <a:pt x="0" y="0"/>
                  </a:lnTo>
                  <a:lnTo>
                    <a:pt x="203200" y="609600"/>
                  </a:lnTo>
                  <a:lnTo>
                    <a:pt x="7449608" y="609600"/>
                  </a:lnTo>
                  <a:lnTo>
                    <a:pt x="7246408" y="0"/>
                  </a:lnTo>
                  <a:close/>
                </a:path>
              </a:pathLst>
            </a:custGeom>
            <a:solidFill>
              <a:srgbClr val="E9E1DB"/>
            </a:solidFill>
          </p:spPr>
          <p:txBody>
            <a:bodyPr/>
            <a:lstStyle/>
            <a:p>
              <a:endParaRPr lang="ar-SA"/>
            </a:p>
          </p:txBody>
        </p:sp>
        <p:sp>
          <p:nvSpPr>
            <p:cNvPr id="11" name="TextBox 11"/>
            <p:cNvSpPr txBox="1"/>
            <p:nvPr/>
          </p:nvSpPr>
          <p:spPr>
            <a:xfrm>
              <a:off x="101600" y="-38100"/>
              <a:ext cx="7246408" cy="647700"/>
            </a:xfrm>
            <a:prstGeom prst="rect">
              <a:avLst/>
            </a:prstGeom>
          </p:spPr>
          <p:txBody>
            <a:bodyPr lIns="50800" tIns="50800" rIns="50800" bIns="50800" rtlCol="0" anchor="ctr"/>
            <a:lstStyle/>
            <a:p>
              <a:pPr algn="ctr">
                <a:lnSpc>
                  <a:spcPts val="2659"/>
                </a:lnSpc>
                <a:spcBef>
                  <a:spcPct val="0"/>
                </a:spcBef>
              </a:pPr>
              <a:endParaRPr/>
            </a:p>
          </p:txBody>
        </p:sp>
      </p:grpSp>
      <p:sp>
        <p:nvSpPr>
          <p:cNvPr id="12" name="TextBox 12"/>
          <p:cNvSpPr txBox="1"/>
          <p:nvPr/>
        </p:nvSpPr>
        <p:spPr>
          <a:xfrm>
            <a:off x="4187405" y="3386453"/>
            <a:ext cx="10591638" cy="706120"/>
          </a:xfrm>
          <a:prstGeom prst="rect">
            <a:avLst/>
          </a:prstGeom>
        </p:spPr>
        <p:txBody>
          <a:bodyPr lIns="0" tIns="0" rIns="0" bIns="0" rtlCol="0" anchor="t">
            <a:spAutoFit/>
          </a:bodyPr>
          <a:lstStyle/>
          <a:p>
            <a:pPr algn="just">
              <a:lnSpc>
                <a:spcPts val="5179"/>
              </a:lnSpc>
            </a:pPr>
            <a:r>
              <a:rPr lang="en-US" sz="3699">
                <a:solidFill>
                  <a:srgbClr val="E9E1DB"/>
                </a:solidFill>
                <a:latin typeface="Times New Roman"/>
                <a:ea typeface="Times New Roman"/>
                <a:cs typeface="Times New Roman"/>
                <a:sym typeface="Times New Roman"/>
              </a:rPr>
              <a:t>ACHIEVEMENTS AND RESULTS ACHIEVED</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400235" y="-2280012"/>
            <a:ext cx="21938561" cy="13496146"/>
          </a:xfrm>
          <a:custGeom>
            <a:avLst/>
            <a:gdLst/>
            <a:ahLst/>
            <a:cxnLst/>
            <a:rect l="l" t="t" r="r" b="b"/>
            <a:pathLst>
              <a:path w="21938561" h="13496146">
                <a:moveTo>
                  <a:pt x="0" y="0"/>
                </a:moveTo>
                <a:lnTo>
                  <a:pt x="21938560" y="0"/>
                </a:lnTo>
                <a:lnTo>
                  <a:pt x="21938560" y="13496146"/>
                </a:lnTo>
                <a:lnTo>
                  <a:pt x="0" y="13496146"/>
                </a:lnTo>
                <a:lnTo>
                  <a:pt x="0" y="0"/>
                </a:lnTo>
                <a:close/>
              </a:path>
            </a:pathLst>
          </a:custGeom>
          <a:blipFill>
            <a:blip r:embed="rId2"/>
            <a:stretch>
              <a:fillRect l="-32641" t="-36451" r="-34370" b="-16258"/>
            </a:stretch>
          </a:blipFill>
        </p:spPr>
        <p:txBody>
          <a:bodyPr/>
          <a:lstStyle/>
          <a:p>
            <a:endParaRPr lang="ar-SA"/>
          </a:p>
        </p:txBody>
      </p:sp>
      <p:grpSp>
        <p:nvGrpSpPr>
          <p:cNvPr id="3" name="Group 3"/>
          <p:cNvGrpSpPr/>
          <p:nvPr/>
        </p:nvGrpSpPr>
        <p:grpSpPr>
          <a:xfrm rot="-2088381">
            <a:off x="-654014" y="5935649"/>
            <a:ext cx="7946576" cy="1601596"/>
            <a:chOff x="0" y="0"/>
            <a:chExt cx="3539030" cy="713275"/>
          </a:xfrm>
        </p:grpSpPr>
        <p:sp>
          <p:nvSpPr>
            <p:cNvPr id="4" name="Freeform 4"/>
            <p:cNvSpPr/>
            <p:nvPr/>
          </p:nvSpPr>
          <p:spPr>
            <a:xfrm>
              <a:off x="0" y="0"/>
              <a:ext cx="3539030" cy="713275"/>
            </a:xfrm>
            <a:custGeom>
              <a:avLst/>
              <a:gdLst/>
              <a:ahLst/>
              <a:cxnLst/>
              <a:rect l="l" t="t" r="r" b="b"/>
              <a:pathLst>
                <a:path w="3539030" h="713275">
                  <a:moveTo>
                    <a:pt x="203200" y="0"/>
                  </a:moveTo>
                  <a:lnTo>
                    <a:pt x="3539030" y="0"/>
                  </a:lnTo>
                  <a:lnTo>
                    <a:pt x="3335830" y="713275"/>
                  </a:lnTo>
                  <a:lnTo>
                    <a:pt x="0" y="713275"/>
                  </a:lnTo>
                  <a:lnTo>
                    <a:pt x="203200" y="0"/>
                  </a:lnTo>
                  <a:close/>
                </a:path>
              </a:pathLst>
            </a:custGeom>
            <a:solidFill>
              <a:srgbClr val="66574D"/>
            </a:solidFill>
          </p:spPr>
          <p:txBody>
            <a:bodyPr/>
            <a:lstStyle/>
            <a:p>
              <a:endParaRPr lang="ar-SA"/>
            </a:p>
          </p:txBody>
        </p:sp>
        <p:sp>
          <p:nvSpPr>
            <p:cNvPr id="5" name="TextBox 5"/>
            <p:cNvSpPr txBox="1"/>
            <p:nvPr/>
          </p:nvSpPr>
          <p:spPr>
            <a:xfrm>
              <a:off x="101600" y="-38100"/>
              <a:ext cx="3335830" cy="751375"/>
            </a:xfrm>
            <a:prstGeom prst="rect">
              <a:avLst/>
            </a:prstGeom>
          </p:spPr>
          <p:txBody>
            <a:bodyPr lIns="50800" tIns="50800" rIns="50800" bIns="50800" rtlCol="0" anchor="ctr"/>
            <a:lstStyle/>
            <a:p>
              <a:pPr algn="ctr">
                <a:lnSpc>
                  <a:spcPts val="2659"/>
                </a:lnSpc>
              </a:pPr>
              <a:endParaRPr/>
            </a:p>
          </p:txBody>
        </p:sp>
      </p:grpSp>
      <p:grpSp>
        <p:nvGrpSpPr>
          <p:cNvPr id="6" name="Group 6"/>
          <p:cNvGrpSpPr/>
          <p:nvPr/>
        </p:nvGrpSpPr>
        <p:grpSpPr>
          <a:xfrm>
            <a:off x="-1226391" y="419167"/>
            <a:ext cx="21419231" cy="9086516"/>
            <a:chOff x="0" y="0"/>
            <a:chExt cx="1540308" cy="653433"/>
          </a:xfrm>
        </p:grpSpPr>
        <p:sp>
          <p:nvSpPr>
            <p:cNvPr id="7" name="Freeform 7"/>
            <p:cNvSpPr/>
            <p:nvPr/>
          </p:nvSpPr>
          <p:spPr>
            <a:xfrm>
              <a:off x="0" y="0"/>
              <a:ext cx="1540308" cy="653433"/>
            </a:xfrm>
            <a:custGeom>
              <a:avLst/>
              <a:gdLst/>
              <a:ahLst/>
              <a:cxnLst/>
              <a:rect l="l" t="t" r="r" b="b"/>
              <a:pathLst>
                <a:path w="1540308" h="653433">
                  <a:moveTo>
                    <a:pt x="1337108" y="0"/>
                  </a:moveTo>
                  <a:lnTo>
                    <a:pt x="0" y="0"/>
                  </a:lnTo>
                  <a:lnTo>
                    <a:pt x="203200" y="653433"/>
                  </a:lnTo>
                  <a:lnTo>
                    <a:pt x="1540308" y="653433"/>
                  </a:lnTo>
                  <a:lnTo>
                    <a:pt x="1337108" y="0"/>
                  </a:lnTo>
                  <a:close/>
                </a:path>
              </a:pathLst>
            </a:custGeom>
            <a:solidFill>
              <a:srgbClr val="3D3735"/>
            </a:solidFill>
          </p:spPr>
          <p:txBody>
            <a:bodyPr/>
            <a:lstStyle/>
            <a:p>
              <a:endParaRPr lang="ar-SA"/>
            </a:p>
          </p:txBody>
        </p:sp>
        <p:sp>
          <p:nvSpPr>
            <p:cNvPr id="8" name="TextBox 8"/>
            <p:cNvSpPr txBox="1"/>
            <p:nvPr/>
          </p:nvSpPr>
          <p:spPr>
            <a:xfrm>
              <a:off x="101600" y="-38100"/>
              <a:ext cx="1337108" cy="691533"/>
            </a:xfrm>
            <a:prstGeom prst="rect">
              <a:avLst/>
            </a:prstGeom>
          </p:spPr>
          <p:txBody>
            <a:bodyPr lIns="50800" tIns="50800" rIns="50800" bIns="50800" rtlCol="0" anchor="ctr"/>
            <a:lstStyle/>
            <a:p>
              <a:pPr algn="ctr">
                <a:lnSpc>
                  <a:spcPts val="2659"/>
                </a:lnSpc>
                <a:spcBef>
                  <a:spcPct val="0"/>
                </a:spcBef>
              </a:pPr>
              <a:endParaRPr/>
            </a:p>
          </p:txBody>
        </p:sp>
      </p:grpSp>
      <p:grpSp>
        <p:nvGrpSpPr>
          <p:cNvPr id="9" name="Group 9"/>
          <p:cNvGrpSpPr/>
          <p:nvPr/>
        </p:nvGrpSpPr>
        <p:grpSpPr>
          <a:xfrm>
            <a:off x="0" y="8107296"/>
            <a:ext cx="18998529" cy="1554646"/>
            <a:chOff x="0" y="0"/>
            <a:chExt cx="7449608" cy="609600"/>
          </a:xfrm>
        </p:grpSpPr>
        <p:sp>
          <p:nvSpPr>
            <p:cNvPr id="10" name="Freeform 10"/>
            <p:cNvSpPr/>
            <p:nvPr/>
          </p:nvSpPr>
          <p:spPr>
            <a:xfrm>
              <a:off x="0" y="0"/>
              <a:ext cx="7449608" cy="609600"/>
            </a:xfrm>
            <a:custGeom>
              <a:avLst/>
              <a:gdLst/>
              <a:ahLst/>
              <a:cxnLst/>
              <a:rect l="l" t="t" r="r" b="b"/>
              <a:pathLst>
                <a:path w="7449608" h="609600">
                  <a:moveTo>
                    <a:pt x="7246408" y="0"/>
                  </a:moveTo>
                  <a:lnTo>
                    <a:pt x="0" y="0"/>
                  </a:lnTo>
                  <a:lnTo>
                    <a:pt x="203200" y="609600"/>
                  </a:lnTo>
                  <a:lnTo>
                    <a:pt x="7449608" y="609600"/>
                  </a:lnTo>
                  <a:lnTo>
                    <a:pt x="7246408" y="0"/>
                  </a:lnTo>
                  <a:close/>
                </a:path>
              </a:pathLst>
            </a:custGeom>
            <a:solidFill>
              <a:srgbClr val="E9E1DB"/>
            </a:solidFill>
          </p:spPr>
          <p:txBody>
            <a:bodyPr/>
            <a:lstStyle/>
            <a:p>
              <a:endParaRPr lang="ar-SA"/>
            </a:p>
          </p:txBody>
        </p:sp>
        <p:sp>
          <p:nvSpPr>
            <p:cNvPr id="11" name="TextBox 11"/>
            <p:cNvSpPr txBox="1"/>
            <p:nvPr/>
          </p:nvSpPr>
          <p:spPr>
            <a:xfrm>
              <a:off x="101600" y="-38100"/>
              <a:ext cx="7246408" cy="647700"/>
            </a:xfrm>
            <a:prstGeom prst="rect">
              <a:avLst/>
            </a:prstGeom>
          </p:spPr>
          <p:txBody>
            <a:bodyPr lIns="50800" tIns="50800" rIns="50800" bIns="50800" rtlCol="0" anchor="ctr"/>
            <a:lstStyle/>
            <a:p>
              <a:pPr algn="ctr">
                <a:lnSpc>
                  <a:spcPts val="2659"/>
                </a:lnSpc>
                <a:spcBef>
                  <a:spcPct val="0"/>
                </a:spcBef>
              </a:pPr>
              <a:endParaRPr/>
            </a:p>
          </p:txBody>
        </p:sp>
      </p:grpSp>
      <p:sp>
        <p:nvSpPr>
          <p:cNvPr id="12" name="Freeform 12"/>
          <p:cNvSpPr/>
          <p:nvPr/>
        </p:nvSpPr>
        <p:spPr>
          <a:xfrm>
            <a:off x="12343589" y="3432391"/>
            <a:ext cx="3618561" cy="4233365"/>
          </a:xfrm>
          <a:custGeom>
            <a:avLst/>
            <a:gdLst/>
            <a:ahLst/>
            <a:cxnLst/>
            <a:rect l="l" t="t" r="r" b="b"/>
            <a:pathLst>
              <a:path w="3618561" h="4233365">
                <a:moveTo>
                  <a:pt x="0" y="0"/>
                </a:moveTo>
                <a:lnTo>
                  <a:pt x="3618561" y="0"/>
                </a:lnTo>
                <a:lnTo>
                  <a:pt x="3618561" y="4233365"/>
                </a:lnTo>
                <a:lnTo>
                  <a:pt x="0" y="4233365"/>
                </a:lnTo>
                <a:lnTo>
                  <a:pt x="0" y="0"/>
                </a:lnTo>
                <a:close/>
              </a:path>
            </a:pathLst>
          </a:custGeom>
          <a:blipFill>
            <a:blip r:embed="rId3"/>
            <a:stretch>
              <a:fillRect/>
            </a:stretch>
          </a:blipFill>
        </p:spPr>
        <p:txBody>
          <a:bodyPr/>
          <a:lstStyle/>
          <a:p>
            <a:endParaRPr lang="ar-SA"/>
          </a:p>
        </p:txBody>
      </p:sp>
      <p:sp>
        <p:nvSpPr>
          <p:cNvPr id="13" name="TextBox 13"/>
          <p:cNvSpPr txBox="1"/>
          <p:nvPr/>
        </p:nvSpPr>
        <p:spPr>
          <a:xfrm>
            <a:off x="753488" y="904875"/>
            <a:ext cx="13572955" cy="1166495"/>
          </a:xfrm>
          <a:prstGeom prst="rect">
            <a:avLst/>
          </a:prstGeom>
        </p:spPr>
        <p:txBody>
          <a:bodyPr lIns="0" tIns="0" rIns="0" bIns="0" rtlCol="0" anchor="t">
            <a:spAutoFit/>
          </a:bodyPr>
          <a:lstStyle/>
          <a:p>
            <a:pPr algn="r">
              <a:lnSpc>
                <a:spcPts val="4480"/>
              </a:lnSpc>
            </a:pPr>
            <a:r>
              <a:rPr lang="en-US" sz="3200">
                <a:solidFill>
                  <a:srgbClr val="E9E1DB"/>
                </a:solidFill>
                <a:latin typeface="Times New Roman"/>
                <a:ea typeface="Times New Roman"/>
                <a:cs typeface="Times New Roman"/>
                <a:sym typeface="Times New Roman"/>
              </a:rPr>
              <a:t>GENERATIVE AI AND LARGE LANGUAGE MODELS (LLMS)</a:t>
            </a:r>
          </a:p>
          <a:p>
            <a:pPr algn="r">
              <a:lnSpc>
                <a:spcPts val="4480"/>
              </a:lnSpc>
            </a:pPr>
            <a:endParaRPr lang="en-US" sz="3200">
              <a:solidFill>
                <a:srgbClr val="E9E1DB"/>
              </a:solidFill>
              <a:latin typeface="Times New Roman"/>
              <a:ea typeface="Times New Roman"/>
              <a:cs typeface="Times New Roman"/>
              <a:sym typeface="Times New Roman"/>
            </a:endParaRPr>
          </a:p>
        </p:txBody>
      </p:sp>
      <p:sp>
        <p:nvSpPr>
          <p:cNvPr id="14" name="TextBox 14"/>
          <p:cNvSpPr txBox="1"/>
          <p:nvPr/>
        </p:nvSpPr>
        <p:spPr>
          <a:xfrm>
            <a:off x="2325850" y="1957070"/>
            <a:ext cx="13636300" cy="1033781"/>
          </a:xfrm>
          <a:prstGeom prst="rect">
            <a:avLst/>
          </a:prstGeom>
        </p:spPr>
        <p:txBody>
          <a:bodyPr lIns="0" tIns="0" rIns="0" bIns="0" rtlCol="0" anchor="t">
            <a:spAutoFit/>
          </a:bodyPr>
          <a:lstStyle/>
          <a:p>
            <a:pPr algn="ctr" rtl="1">
              <a:lnSpc>
                <a:spcPts val="3919"/>
              </a:lnSpc>
              <a:spcBef>
                <a:spcPct val="0"/>
              </a:spcBef>
            </a:pPr>
            <a:r>
              <a:rPr lang="en-US" sz="2799">
                <a:solidFill>
                  <a:srgbClr val="E9E1DB"/>
                </a:solidFill>
                <a:latin typeface="Times New Roman"/>
                <a:ea typeface="Times New Roman"/>
                <a:cs typeface="Times New Roman"/>
                <a:sym typeface="Times New Roman"/>
              </a:rPr>
              <a:t>Introduction to LLMs and GPT: Reading and understanding the first chapter of the book Sebastian Raschka “Building a large language model</a:t>
            </a:r>
            <a:r>
              <a:rPr lang="ar-EG" sz="2799">
                <a:solidFill>
                  <a:srgbClr val="E9E1DB"/>
                </a:solidFill>
                <a:latin typeface="Times New Roman"/>
                <a:ea typeface="Times New Roman"/>
                <a:cs typeface="Times New Roman"/>
                <a:sym typeface="Times New Roman"/>
                <a:rtl/>
              </a:rPr>
              <a:t>”</a:t>
            </a:r>
          </a:p>
        </p:txBody>
      </p:sp>
      <p:sp>
        <p:nvSpPr>
          <p:cNvPr id="15" name="TextBox 15"/>
          <p:cNvSpPr txBox="1"/>
          <p:nvPr/>
        </p:nvSpPr>
        <p:spPr>
          <a:xfrm>
            <a:off x="2325850" y="3363451"/>
            <a:ext cx="8780664" cy="3372995"/>
          </a:xfrm>
          <a:prstGeom prst="rect">
            <a:avLst/>
          </a:prstGeom>
        </p:spPr>
        <p:txBody>
          <a:bodyPr lIns="0" tIns="0" rIns="0" bIns="0" rtlCol="0" anchor="t">
            <a:spAutoFit/>
          </a:bodyPr>
          <a:lstStyle/>
          <a:p>
            <a:pPr marL="604515" lvl="1" indent="-302257" algn="l">
              <a:lnSpc>
                <a:spcPts val="5375"/>
              </a:lnSpc>
              <a:buFont typeface="Arial"/>
              <a:buChar char="•"/>
            </a:pPr>
            <a:r>
              <a:rPr lang="en-US" sz="2799">
                <a:solidFill>
                  <a:srgbClr val="E9E1DB"/>
                </a:solidFill>
                <a:latin typeface="Times New Roman"/>
                <a:ea typeface="Times New Roman"/>
                <a:cs typeface="Times New Roman"/>
                <a:sym typeface="Times New Roman"/>
              </a:rPr>
              <a:t>What is a large language model (LLM)?</a:t>
            </a:r>
          </a:p>
          <a:p>
            <a:pPr marL="604515" lvl="1" indent="-302257" algn="l">
              <a:lnSpc>
                <a:spcPts val="5375"/>
              </a:lnSpc>
              <a:buFont typeface="Arial"/>
              <a:buChar char="•"/>
            </a:pPr>
            <a:r>
              <a:rPr lang="en-US" sz="2799">
                <a:solidFill>
                  <a:srgbClr val="E9E1DB"/>
                </a:solidFill>
                <a:latin typeface="Times New Roman"/>
                <a:ea typeface="Times New Roman"/>
                <a:cs typeface="Times New Roman"/>
                <a:sym typeface="Times New Roman"/>
              </a:rPr>
              <a:t>LLMs applications</a:t>
            </a:r>
          </a:p>
          <a:p>
            <a:pPr marL="604515" lvl="1" indent="-302257" algn="l">
              <a:lnSpc>
                <a:spcPts val="5375"/>
              </a:lnSpc>
              <a:buFont typeface="Arial"/>
              <a:buChar char="•"/>
            </a:pPr>
            <a:r>
              <a:rPr lang="en-US" sz="2799">
                <a:solidFill>
                  <a:srgbClr val="E9E1DB"/>
                </a:solidFill>
                <a:latin typeface="Times New Roman"/>
                <a:ea typeface="Times New Roman"/>
                <a:cs typeface="Times New Roman"/>
                <a:sym typeface="Times New Roman"/>
              </a:rPr>
              <a:t>Stages of Building the LLMs</a:t>
            </a:r>
          </a:p>
          <a:p>
            <a:pPr marL="604515" lvl="1" indent="-302257" algn="l">
              <a:lnSpc>
                <a:spcPts val="5375"/>
              </a:lnSpc>
              <a:buFont typeface="Arial"/>
              <a:buChar char="•"/>
            </a:pPr>
            <a:r>
              <a:rPr lang="en-US" sz="2799">
                <a:solidFill>
                  <a:srgbClr val="E9E1DB"/>
                </a:solidFill>
                <a:latin typeface="Times New Roman"/>
                <a:ea typeface="Times New Roman"/>
                <a:cs typeface="Times New Roman"/>
                <a:sym typeface="Times New Roman"/>
              </a:rPr>
              <a:t>introduction to transformers &amp; what is GPT?</a:t>
            </a:r>
          </a:p>
          <a:p>
            <a:pPr marL="604515" lvl="1" indent="-302257" algn="l">
              <a:lnSpc>
                <a:spcPts val="5375"/>
              </a:lnSpc>
              <a:buFont typeface="Arial"/>
              <a:buChar char="•"/>
            </a:pPr>
            <a:r>
              <a:rPr lang="en-US" sz="2799">
                <a:solidFill>
                  <a:srgbClr val="E9E1DB"/>
                </a:solidFill>
                <a:latin typeface="Times New Roman"/>
                <a:ea typeface="Times New Roman"/>
                <a:cs typeface="Times New Roman"/>
                <a:sym typeface="Times New Roman"/>
              </a:rPr>
              <a:t>Why we build a model from scratch ?</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400235" y="-2280012"/>
            <a:ext cx="21938561" cy="13496146"/>
          </a:xfrm>
          <a:custGeom>
            <a:avLst/>
            <a:gdLst/>
            <a:ahLst/>
            <a:cxnLst/>
            <a:rect l="l" t="t" r="r" b="b"/>
            <a:pathLst>
              <a:path w="21938561" h="13496146">
                <a:moveTo>
                  <a:pt x="0" y="0"/>
                </a:moveTo>
                <a:lnTo>
                  <a:pt x="21938560" y="0"/>
                </a:lnTo>
                <a:lnTo>
                  <a:pt x="21938560" y="13496146"/>
                </a:lnTo>
                <a:lnTo>
                  <a:pt x="0" y="13496146"/>
                </a:lnTo>
                <a:lnTo>
                  <a:pt x="0" y="0"/>
                </a:lnTo>
                <a:close/>
              </a:path>
            </a:pathLst>
          </a:custGeom>
          <a:blipFill>
            <a:blip r:embed="rId2"/>
            <a:stretch>
              <a:fillRect l="-32641" t="-36451" r="-34370" b="-16258"/>
            </a:stretch>
          </a:blipFill>
        </p:spPr>
        <p:txBody>
          <a:bodyPr/>
          <a:lstStyle/>
          <a:p>
            <a:endParaRPr lang="ar-SA"/>
          </a:p>
        </p:txBody>
      </p:sp>
      <p:grpSp>
        <p:nvGrpSpPr>
          <p:cNvPr id="3" name="Group 3"/>
          <p:cNvGrpSpPr/>
          <p:nvPr/>
        </p:nvGrpSpPr>
        <p:grpSpPr>
          <a:xfrm rot="-2088381">
            <a:off x="-654014" y="5935649"/>
            <a:ext cx="7946576" cy="1601596"/>
            <a:chOff x="0" y="0"/>
            <a:chExt cx="3539030" cy="713275"/>
          </a:xfrm>
        </p:grpSpPr>
        <p:sp>
          <p:nvSpPr>
            <p:cNvPr id="4" name="Freeform 4"/>
            <p:cNvSpPr/>
            <p:nvPr/>
          </p:nvSpPr>
          <p:spPr>
            <a:xfrm>
              <a:off x="0" y="0"/>
              <a:ext cx="3539030" cy="713275"/>
            </a:xfrm>
            <a:custGeom>
              <a:avLst/>
              <a:gdLst/>
              <a:ahLst/>
              <a:cxnLst/>
              <a:rect l="l" t="t" r="r" b="b"/>
              <a:pathLst>
                <a:path w="3539030" h="713275">
                  <a:moveTo>
                    <a:pt x="203200" y="0"/>
                  </a:moveTo>
                  <a:lnTo>
                    <a:pt x="3539030" y="0"/>
                  </a:lnTo>
                  <a:lnTo>
                    <a:pt x="3335830" y="713275"/>
                  </a:lnTo>
                  <a:lnTo>
                    <a:pt x="0" y="713275"/>
                  </a:lnTo>
                  <a:lnTo>
                    <a:pt x="203200" y="0"/>
                  </a:lnTo>
                  <a:close/>
                </a:path>
              </a:pathLst>
            </a:custGeom>
            <a:solidFill>
              <a:srgbClr val="66574D"/>
            </a:solidFill>
          </p:spPr>
          <p:txBody>
            <a:bodyPr/>
            <a:lstStyle/>
            <a:p>
              <a:endParaRPr lang="ar-SA"/>
            </a:p>
          </p:txBody>
        </p:sp>
        <p:sp>
          <p:nvSpPr>
            <p:cNvPr id="5" name="TextBox 5"/>
            <p:cNvSpPr txBox="1"/>
            <p:nvPr/>
          </p:nvSpPr>
          <p:spPr>
            <a:xfrm>
              <a:off x="101600" y="-38100"/>
              <a:ext cx="3335830" cy="751375"/>
            </a:xfrm>
            <a:prstGeom prst="rect">
              <a:avLst/>
            </a:prstGeom>
          </p:spPr>
          <p:txBody>
            <a:bodyPr lIns="50800" tIns="50800" rIns="50800" bIns="50800" rtlCol="0" anchor="ctr"/>
            <a:lstStyle/>
            <a:p>
              <a:pPr algn="ctr">
                <a:lnSpc>
                  <a:spcPts val="2659"/>
                </a:lnSpc>
              </a:pPr>
              <a:endParaRPr/>
            </a:p>
          </p:txBody>
        </p:sp>
      </p:grpSp>
      <p:grpSp>
        <p:nvGrpSpPr>
          <p:cNvPr id="6" name="Group 6"/>
          <p:cNvGrpSpPr/>
          <p:nvPr/>
        </p:nvGrpSpPr>
        <p:grpSpPr>
          <a:xfrm>
            <a:off x="-1226391" y="419167"/>
            <a:ext cx="21419231" cy="9086516"/>
            <a:chOff x="0" y="0"/>
            <a:chExt cx="1540308" cy="653433"/>
          </a:xfrm>
        </p:grpSpPr>
        <p:sp>
          <p:nvSpPr>
            <p:cNvPr id="7" name="Freeform 7"/>
            <p:cNvSpPr/>
            <p:nvPr/>
          </p:nvSpPr>
          <p:spPr>
            <a:xfrm>
              <a:off x="0" y="0"/>
              <a:ext cx="1540308" cy="653433"/>
            </a:xfrm>
            <a:custGeom>
              <a:avLst/>
              <a:gdLst/>
              <a:ahLst/>
              <a:cxnLst/>
              <a:rect l="l" t="t" r="r" b="b"/>
              <a:pathLst>
                <a:path w="1540308" h="653433">
                  <a:moveTo>
                    <a:pt x="1337108" y="0"/>
                  </a:moveTo>
                  <a:lnTo>
                    <a:pt x="0" y="0"/>
                  </a:lnTo>
                  <a:lnTo>
                    <a:pt x="203200" y="653433"/>
                  </a:lnTo>
                  <a:lnTo>
                    <a:pt x="1540308" y="653433"/>
                  </a:lnTo>
                  <a:lnTo>
                    <a:pt x="1337108" y="0"/>
                  </a:lnTo>
                  <a:close/>
                </a:path>
              </a:pathLst>
            </a:custGeom>
            <a:solidFill>
              <a:srgbClr val="3D3735"/>
            </a:solidFill>
          </p:spPr>
          <p:txBody>
            <a:bodyPr/>
            <a:lstStyle/>
            <a:p>
              <a:endParaRPr lang="ar-SA"/>
            </a:p>
          </p:txBody>
        </p:sp>
        <p:sp>
          <p:nvSpPr>
            <p:cNvPr id="8" name="TextBox 8"/>
            <p:cNvSpPr txBox="1"/>
            <p:nvPr/>
          </p:nvSpPr>
          <p:spPr>
            <a:xfrm>
              <a:off x="101600" y="-38100"/>
              <a:ext cx="1337108" cy="691533"/>
            </a:xfrm>
            <a:prstGeom prst="rect">
              <a:avLst/>
            </a:prstGeom>
          </p:spPr>
          <p:txBody>
            <a:bodyPr lIns="50800" tIns="50800" rIns="50800" bIns="50800" rtlCol="0" anchor="ctr"/>
            <a:lstStyle/>
            <a:p>
              <a:pPr algn="ctr">
                <a:lnSpc>
                  <a:spcPts val="2659"/>
                </a:lnSpc>
                <a:spcBef>
                  <a:spcPct val="0"/>
                </a:spcBef>
              </a:pPr>
              <a:endParaRPr/>
            </a:p>
          </p:txBody>
        </p:sp>
      </p:grpSp>
      <p:grpSp>
        <p:nvGrpSpPr>
          <p:cNvPr id="9" name="Group 9"/>
          <p:cNvGrpSpPr/>
          <p:nvPr/>
        </p:nvGrpSpPr>
        <p:grpSpPr>
          <a:xfrm>
            <a:off x="0" y="8107296"/>
            <a:ext cx="18998529" cy="1554646"/>
            <a:chOff x="0" y="0"/>
            <a:chExt cx="7449608" cy="609600"/>
          </a:xfrm>
        </p:grpSpPr>
        <p:sp>
          <p:nvSpPr>
            <p:cNvPr id="10" name="Freeform 10"/>
            <p:cNvSpPr/>
            <p:nvPr/>
          </p:nvSpPr>
          <p:spPr>
            <a:xfrm>
              <a:off x="0" y="0"/>
              <a:ext cx="7449608" cy="609600"/>
            </a:xfrm>
            <a:custGeom>
              <a:avLst/>
              <a:gdLst/>
              <a:ahLst/>
              <a:cxnLst/>
              <a:rect l="l" t="t" r="r" b="b"/>
              <a:pathLst>
                <a:path w="7449608" h="609600">
                  <a:moveTo>
                    <a:pt x="7246408" y="0"/>
                  </a:moveTo>
                  <a:lnTo>
                    <a:pt x="0" y="0"/>
                  </a:lnTo>
                  <a:lnTo>
                    <a:pt x="203200" y="609600"/>
                  </a:lnTo>
                  <a:lnTo>
                    <a:pt x="7449608" y="609600"/>
                  </a:lnTo>
                  <a:lnTo>
                    <a:pt x="7246408" y="0"/>
                  </a:lnTo>
                  <a:close/>
                </a:path>
              </a:pathLst>
            </a:custGeom>
            <a:solidFill>
              <a:srgbClr val="E9E1DB"/>
            </a:solidFill>
          </p:spPr>
          <p:txBody>
            <a:bodyPr/>
            <a:lstStyle/>
            <a:p>
              <a:endParaRPr lang="ar-SA"/>
            </a:p>
          </p:txBody>
        </p:sp>
        <p:sp>
          <p:nvSpPr>
            <p:cNvPr id="11" name="TextBox 11"/>
            <p:cNvSpPr txBox="1"/>
            <p:nvPr/>
          </p:nvSpPr>
          <p:spPr>
            <a:xfrm>
              <a:off x="101600" y="-38100"/>
              <a:ext cx="7246408" cy="647700"/>
            </a:xfrm>
            <a:prstGeom prst="rect">
              <a:avLst/>
            </a:prstGeom>
          </p:spPr>
          <p:txBody>
            <a:bodyPr lIns="50800" tIns="50800" rIns="50800" bIns="50800" rtlCol="0" anchor="ctr"/>
            <a:lstStyle/>
            <a:p>
              <a:pPr algn="ctr">
                <a:lnSpc>
                  <a:spcPts val="2659"/>
                </a:lnSpc>
                <a:spcBef>
                  <a:spcPct val="0"/>
                </a:spcBef>
              </a:pPr>
              <a:endParaRPr/>
            </a:p>
          </p:txBody>
        </p:sp>
      </p:grpSp>
      <p:sp>
        <p:nvSpPr>
          <p:cNvPr id="12" name="Freeform 12"/>
          <p:cNvSpPr/>
          <p:nvPr/>
        </p:nvSpPr>
        <p:spPr>
          <a:xfrm>
            <a:off x="8056442" y="4359211"/>
            <a:ext cx="7564706" cy="2723294"/>
          </a:xfrm>
          <a:custGeom>
            <a:avLst/>
            <a:gdLst/>
            <a:ahLst/>
            <a:cxnLst/>
            <a:rect l="l" t="t" r="r" b="b"/>
            <a:pathLst>
              <a:path w="7564706" h="2723294">
                <a:moveTo>
                  <a:pt x="0" y="0"/>
                </a:moveTo>
                <a:lnTo>
                  <a:pt x="7564706" y="0"/>
                </a:lnTo>
                <a:lnTo>
                  <a:pt x="7564706" y="2723294"/>
                </a:lnTo>
                <a:lnTo>
                  <a:pt x="0" y="2723294"/>
                </a:lnTo>
                <a:lnTo>
                  <a:pt x="0" y="0"/>
                </a:lnTo>
                <a:close/>
              </a:path>
            </a:pathLst>
          </a:custGeom>
          <a:blipFill>
            <a:blip r:embed="rId3"/>
            <a:stretch>
              <a:fillRect/>
            </a:stretch>
          </a:blipFill>
        </p:spPr>
        <p:txBody>
          <a:bodyPr/>
          <a:lstStyle/>
          <a:p>
            <a:endParaRPr lang="ar-SA"/>
          </a:p>
        </p:txBody>
      </p:sp>
      <p:sp>
        <p:nvSpPr>
          <p:cNvPr id="13" name="TextBox 13"/>
          <p:cNvSpPr txBox="1"/>
          <p:nvPr/>
        </p:nvSpPr>
        <p:spPr>
          <a:xfrm>
            <a:off x="753488" y="904875"/>
            <a:ext cx="13572955" cy="1166495"/>
          </a:xfrm>
          <a:prstGeom prst="rect">
            <a:avLst/>
          </a:prstGeom>
        </p:spPr>
        <p:txBody>
          <a:bodyPr lIns="0" tIns="0" rIns="0" bIns="0" rtlCol="0" anchor="t">
            <a:spAutoFit/>
          </a:bodyPr>
          <a:lstStyle/>
          <a:p>
            <a:pPr algn="r">
              <a:lnSpc>
                <a:spcPts val="4480"/>
              </a:lnSpc>
            </a:pPr>
            <a:r>
              <a:rPr lang="en-US" sz="3200">
                <a:solidFill>
                  <a:srgbClr val="E9E1DB"/>
                </a:solidFill>
                <a:latin typeface="Times New Roman"/>
                <a:ea typeface="Times New Roman"/>
                <a:cs typeface="Times New Roman"/>
                <a:sym typeface="Times New Roman"/>
              </a:rPr>
              <a:t>GENERATIVE AI AND LARGE LANGUAGE MODELS (LLMS)</a:t>
            </a:r>
          </a:p>
          <a:p>
            <a:pPr algn="r">
              <a:lnSpc>
                <a:spcPts val="4480"/>
              </a:lnSpc>
            </a:pPr>
            <a:endParaRPr lang="en-US" sz="3200">
              <a:solidFill>
                <a:srgbClr val="E9E1DB"/>
              </a:solidFill>
              <a:latin typeface="Times New Roman"/>
              <a:ea typeface="Times New Roman"/>
              <a:cs typeface="Times New Roman"/>
              <a:sym typeface="Times New Roman"/>
            </a:endParaRPr>
          </a:p>
        </p:txBody>
      </p:sp>
      <p:sp>
        <p:nvSpPr>
          <p:cNvPr id="14" name="TextBox 14"/>
          <p:cNvSpPr txBox="1"/>
          <p:nvPr/>
        </p:nvSpPr>
        <p:spPr>
          <a:xfrm>
            <a:off x="2325850" y="1957070"/>
            <a:ext cx="13636300" cy="1033781"/>
          </a:xfrm>
          <a:prstGeom prst="rect">
            <a:avLst/>
          </a:prstGeom>
        </p:spPr>
        <p:txBody>
          <a:bodyPr lIns="0" tIns="0" rIns="0" bIns="0" rtlCol="0" anchor="t">
            <a:spAutoFit/>
          </a:bodyPr>
          <a:lstStyle/>
          <a:p>
            <a:pPr algn="ctr" rtl="1">
              <a:lnSpc>
                <a:spcPts val="3919"/>
              </a:lnSpc>
              <a:spcBef>
                <a:spcPct val="0"/>
              </a:spcBef>
            </a:pPr>
            <a:r>
              <a:rPr lang="en-US" sz="2799">
                <a:solidFill>
                  <a:srgbClr val="E9E1DB"/>
                </a:solidFill>
                <a:latin typeface="Times New Roman"/>
                <a:ea typeface="Times New Roman"/>
                <a:cs typeface="Times New Roman"/>
                <a:sym typeface="Times New Roman"/>
              </a:rPr>
              <a:t>Introduction to LLMs and GPT: Reading and understanding the first chapter of the book Sebastian Raschka “Building a large language model</a:t>
            </a:r>
            <a:r>
              <a:rPr lang="ar-EG" sz="2799">
                <a:solidFill>
                  <a:srgbClr val="E9E1DB"/>
                </a:solidFill>
                <a:latin typeface="Times New Roman"/>
                <a:ea typeface="Times New Roman"/>
                <a:cs typeface="Times New Roman"/>
                <a:sym typeface="Times New Roman"/>
                <a:rtl/>
              </a:rPr>
              <a:t>”</a:t>
            </a:r>
          </a:p>
        </p:txBody>
      </p:sp>
      <p:sp>
        <p:nvSpPr>
          <p:cNvPr id="15" name="TextBox 15"/>
          <p:cNvSpPr txBox="1"/>
          <p:nvPr/>
        </p:nvSpPr>
        <p:spPr>
          <a:xfrm>
            <a:off x="2996647" y="3015041"/>
            <a:ext cx="8780664" cy="1344170"/>
          </a:xfrm>
          <a:prstGeom prst="rect">
            <a:avLst/>
          </a:prstGeom>
        </p:spPr>
        <p:txBody>
          <a:bodyPr lIns="0" tIns="0" rIns="0" bIns="0" rtlCol="0" anchor="t">
            <a:spAutoFit/>
          </a:bodyPr>
          <a:lstStyle/>
          <a:p>
            <a:pPr algn="l">
              <a:lnSpc>
                <a:spcPts val="5375"/>
              </a:lnSpc>
            </a:pPr>
            <a:endParaRPr/>
          </a:p>
          <a:p>
            <a:pPr algn="l">
              <a:lnSpc>
                <a:spcPts val="5375"/>
              </a:lnSpc>
            </a:pPr>
            <a:r>
              <a:rPr lang="en-US" sz="2799">
                <a:solidFill>
                  <a:srgbClr val="E9E1DB"/>
                </a:solidFill>
                <a:latin typeface="Times New Roman"/>
                <a:ea typeface="Times New Roman"/>
                <a:cs typeface="Times New Roman"/>
                <a:sym typeface="Times New Roman"/>
              </a:rPr>
              <a:t>Stages of Building the LLMs: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400235" y="-2280012"/>
            <a:ext cx="21938561" cy="13496146"/>
          </a:xfrm>
          <a:custGeom>
            <a:avLst/>
            <a:gdLst/>
            <a:ahLst/>
            <a:cxnLst/>
            <a:rect l="l" t="t" r="r" b="b"/>
            <a:pathLst>
              <a:path w="21938561" h="13496146">
                <a:moveTo>
                  <a:pt x="0" y="0"/>
                </a:moveTo>
                <a:lnTo>
                  <a:pt x="21938560" y="0"/>
                </a:lnTo>
                <a:lnTo>
                  <a:pt x="21938560" y="13496146"/>
                </a:lnTo>
                <a:lnTo>
                  <a:pt x="0" y="13496146"/>
                </a:lnTo>
                <a:lnTo>
                  <a:pt x="0" y="0"/>
                </a:lnTo>
                <a:close/>
              </a:path>
            </a:pathLst>
          </a:custGeom>
          <a:blipFill>
            <a:blip r:embed="rId2"/>
            <a:stretch>
              <a:fillRect l="-32641" t="-36451" r="-34370" b="-16258"/>
            </a:stretch>
          </a:blipFill>
        </p:spPr>
        <p:txBody>
          <a:bodyPr/>
          <a:lstStyle/>
          <a:p>
            <a:endParaRPr lang="ar-SA"/>
          </a:p>
        </p:txBody>
      </p:sp>
      <p:grpSp>
        <p:nvGrpSpPr>
          <p:cNvPr id="3" name="Group 3"/>
          <p:cNvGrpSpPr/>
          <p:nvPr/>
        </p:nvGrpSpPr>
        <p:grpSpPr>
          <a:xfrm rot="-2088381">
            <a:off x="-654014" y="5935649"/>
            <a:ext cx="7946576" cy="1601596"/>
            <a:chOff x="0" y="0"/>
            <a:chExt cx="3539030" cy="713275"/>
          </a:xfrm>
        </p:grpSpPr>
        <p:sp>
          <p:nvSpPr>
            <p:cNvPr id="4" name="Freeform 4"/>
            <p:cNvSpPr/>
            <p:nvPr/>
          </p:nvSpPr>
          <p:spPr>
            <a:xfrm>
              <a:off x="0" y="0"/>
              <a:ext cx="3539030" cy="713275"/>
            </a:xfrm>
            <a:custGeom>
              <a:avLst/>
              <a:gdLst/>
              <a:ahLst/>
              <a:cxnLst/>
              <a:rect l="l" t="t" r="r" b="b"/>
              <a:pathLst>
                <a:path w="3539030" h="713275">
                  <a:moveTo>
                    <a:pt x="203200" y="0"/>
                  </a:moveTo>
                  <a:lnTo>
                    <a:pt x="3539030" y="0"/>
                  </a:lnTo>
                  <a:lnTo>
                    <a:pt x="3335830" y="713275"/>
                  </a:lnTo>
                  <a:lnTo>
                    <a:pt x="0" y="713275"/>
                  </a:lnTo>
                  <a:lnTo>
                    <a:pt x="203200" y="0"/>
                  </a:lnTo>
                  <a:close/>
                </a:path>
              </a:pathLst>
            </a:custGeom>
            <a:solidFill>
              <a:srgbClr val="66574D"/>
            </a:solidFill>
          </p:spPr>
          <p:txBody>
            <a:bodyPr/>
            <a:lstStyle/>
            <a:p>
              <a:endParaRPr lang="ar-SA"/>
            </a:p>
          </p:txBody>
        </p:sp>
        <p:sp>
          <p:nvSpPr>
            <p:cNvPr id="5" name="TextBox 5"/>
            <p:cNvSpPr txBox="1"/>
            <p:nvPr/>
          </p:nvSpPr>
          <p:spPr>
            <a:xfrm>
              <a:off x="101600" y="-38100"/>
              <a:ext cx="3335830" cy="751375"/>
            </a:xfrm>
            <a:prstGeom prst="rect">
              <a:avLst/>
            </a:prstGeom>
          </p:spPr>
          <p:txBody>
            <a:bodyPr lIns="50800" tIns="50800" rIns="50800" bIns="50800" rtlCol="0" anchor="ctr"/>
            <a:lstStyle/>
            <a:p>
              <a:pPr algn="ctr">
                <a:lnSpc>
                  <a:spcPts val="2659"/>
                </a:lnSpc>
              </a:pPr>
              <a:endParaRPr/>
            </a:p>
          </p:txBody>
        </p:sp>
      </p:grpSp>
      <p:grpSp>
        <p:nvGrpSpPr>
          <p:cNvPr id="6" name="Group 6"/>
          <p:cNvGrpSpPr/>
          <p:nvPr/>
        </p:nvGrpSpPr>
        <p:grpSpPr>
          <a:xfrm>
            <a:off x="-1226391" y="419167"/>
            <a:ext cx="21419231" cy="9086516"/>
            <a:chOff x="0" y="0"/>
            <a:chExt cx="1540308" cy="653433"/>
          </a:xfrm>
        </p:grpSpPr>
        <p:sp>
          <p:nvSpPr>
            <p:cNvPr id="7" name="Freeform 7"/>
            <p:cNvSpPr/>
            <p:nvPr/>
          </p:nvSpPr>
          <p:spPr>
            <a:xfrm>
              <a:off x="0" y="0"/>
              <a:ext cx="1540308" cy="653433"/>
            </a:xfrm>
            <a:custGeom>
              <a:avLst/>
              <a:gdLst/>
              <a:ahLst/>
              <a:cxnLst/>
              <a:rect l="l" t="t" r="r" b="b"/>
              <a:pathLst>
                <a:path w="1540308" h="653433">
                  <a:moveTo>
                    <a:pt x="1337108" y="0"/>
                  </a:moveTo>
                  <a:lnTo>
                    <a:pt x="0" y="0"/>
                  </a:lnTo>
                  <a:lnTo>
                    <a:pt x="203200" y="653433"/>
                  </a:lnTo>
                  <a:lnTo>
                    <a:pt x="1540308" y="653433"/>
                  </a:lnTo>
                  <a:lnTo>
                    <a:pt x="1337108" y="0"/>
                  </a:lnTo>
                  <a:close/>
                </a:path>
              </a:pathLst>
            </a:custGeom>
            <a:solidFill>
              <a:srgbClr val="3D3735"/>
            </a:solidFill>
          </p:spPr>
          <p:txBody>
            <a:bodyPr/>
            <a:lstStyle/>
            <a:p>
              <a:endParaRPr lang="ar-SA"/>
            </a:p>
          </p:txBody>
        </p:sp>
        <p:sp>
          <p:nvSpPr>
            <p:cNvPr id="8" name="TextBox 8"/>
            <p:cNvSpPr txBox="1"/>
            <p:nvPr/>
          </p:nvSpPr>
          <p:spPr>
            <a:xfrm>
              <a:off x="101600" y="-38100"/>
              <a:ext cx="1337108" cy="691533"/>
            </a:xfrm>
            <a:prstGeom prst="rect">
              <a:avLst/>
            </a:prstGeom>
          </p:spPr>
          <p:txBody>
            <a:bodyPr lIns="50800" tIns="50800" rIns="50800" bIns="50800" rtlCol="0" anchor="ctr"/>
            <a:lstStyle/>
            <a:p>
              <a:pPr algn="ctr">
                <a:lnSpc>
                  <a:spcPts val="2659"/>
                </a:lnSpc>
                <a:spcBef>
                  <a:spcPct val="0"/>
                </a:spcBef>
              </a:pPr>
              <a:endParaRPr/>
            </a:p>
          </p:txBody>
        </p:sp>
      </p:grpSp>
      <p:grpSp>
        <p:nvGrpSpPr>
          <p:cNvPr id="9" name="Group 9"/>
          <p:cNvGrpSpPr/>
          <p:nvPr/>
        </p:nvGrpSpPr>
        <p:grpSpPr>
          <a:xfrm>
            <a:off x="0" y="8107296"/>
            <a:ext cx="18998529" cy="1554646"/>
            <a:chOff x="0" y="0"/>
            <a:chExt cx="7449608" cy="609600"/>
          </a:xfrm>
        </p:grpSpPr>
        <p:sp>
          <p:nvSpPr>
            <p:cNvPr id="10" name="Freeform 10"/>
            <p:cNvSpPr/>
            <p:nvPr/>
          </p:nvSpPr>
          <p:spPr>
            <a:xfrm>
              <a:off x="0" y="0"/>
              <a:ext cx="7449608" cy="609600"/>
            </a:xfrm>
            <a:custGeom>
              <a:avLst/>
              <a:gdLst/>
              <a:ahLst/>
              <a:cxnLst/>
              <a:rect l="l" t="t" r="r" b="b"/>
              <a:pathLst>
                <a:path w="7449608" h="609600">
                  <a:moveTo>
                    <a:pt x="7246408" y="0"/>
                  </a:moveTo>
                  <a:lnTo>
                    <a:pt x="0" y="0"/>
                  </a:lnTo>
                  <a:lnTo>
                    <a:pt x="203200" y="609600"/>
                  </a:lnTo>
                  <a:lnTo>
                    <a:pt x="7449608" y="609600"/>
                  </a:lnTo>
                  <a:lnTo>
                    <a:pt x="7246408" y="0"/>
                  </a:lnTo>
                  <a:close/>
                </a:path>
              </a:pathLst>
            </a:custGeom>
            <a:solidFill>
              <a:srgbClr val="E9E1DB"/>
            </a:solidFill>
          </p:spPr>
          <p:txBody>
            <a:bodyPr/>
            <a:lstStyle/>
            <a:p>
              <a:endParaRPr lang="ar-SA"/>
            </a:p>
          </p:txBody>
        </p:sp>
        <p:sp>
          <p:nvSpPr>
            <p:cNvPr id="11" name="TextBox 11"/>
            <p:cNvSpPr txBox="1"/>
            <p:nvPr/>
          </p:nvSpPr>
          <p:spPr>
            <a:xfrm>
              <a:off x="101600" y="-38100"/>
              <a:ext cx="7246408" cy="647700"/>
            </a:xfrm>
            <a:prstGeom prst="rect">
              <a:avLst/>
            </a:prstGeom>
          </p:spPr>
          <p:txBody>
            <a:bodyPr lIns="50800" tIns="50800" rIns="50800" bIns="50800" rtlCol="0" anchor="ctr"/>
            <a:lstStyle/>
            <a:p>
              <a:pPr algn="ctr">
                <a:lnSpc>
                  <a:spcPts val="2659"/>
                </a:lnSpc>
                <a:spcBef>
                  <a:spcPct val="0"/>
                </a:spcBef>
              </a:pPr>
              <a:endParaRPr/>
            </a:p>
          </p:txBody>
        </p:sp>
      </p:grpSp>
      <p:sp>
        <p:nvSpPr>
          <p:cNvPr id="12" name="Freeform 12"/>
          <p:cNvSpPr/>
          <p:nvPr/>
        </p:nvSpPr>
        <p:spPr>
          <a:xfrm>
            <a:off x="14120509" y="2366396"/>
            <a:ext cx="2035851" cy="2101665"/>
          </a:xfrm>
          <a:custGeom>
            <a:avLst/>
            <a:gdLst/>
            <a:ahLst/>
            <a:cxnLst/>
            <a:rect l="l" t="t" r="r" b="b"/>
            <a:pathLst>
              <a:path w="2035851" h="2101665">
                <a:moveTo>
                  <a:pt x="0" y="0"/>
                </a:moveTo>
                <a:lnTo>
                  <a:pt x="2035851" y="0"/>
                </a:lnTo>
                <a:lnTo>
                  <a:pt x="2035851" y="2101665"/>
                </a:lnTo>
                <a:lnTo>
                  <a:pt x="0" y="2101665"/>
                </a:lnTo>
                <a:lnTo>
                  <a:pt x="0" y="0"/>
                </a:lnTo>
                <a:close/>
              </a:path>
            </a:pathLst>
          </a:custGeom>
          <a:blipFill>
            <a:blip r:embed="rId3"/>
            <a:stretch>
              <a:fillRect/>
            </a:stretch>
          </a:blipFill>
        </p:spPr>
        <p:txBody>
          <a:bodyPr/>
          <a:lstStyle/>
          <a:p>
            <a:endParaRPr lang="ar-SA"/>
          </a:p>
        </p:txBody>
      </p:sp>
      <p:sp>
        <p:nvSpPr>
          <p:cNvPr id="13" name="Freeform 13"/>
          <p:cNvSpPr/>
          <p:nvPr/>
        </p:nvSpPr>
        <p:spPr>
          <a:xfrm>
            <a:off x="12587997" y="4962425"/>
            <a:ext cx="3476892" cy="2020792"/>
          </a:xfrm>
          <a:custGeom>
            <a:avLst/>
            <a:gdLst/>
            <a:ahLst/>
            <a:cxnLst/>
            <a:rect l="l" t="t" r="r" b="b"/>
            <a:pathLst>
              <a:path w="3476892" h="2020792">
                <a:moveTo>
                  <a:pt x="0" y="0"/>
                </a:moveTo>
                <a:lnTo>
                  <a:pt x="3476892" y="0"/>
                </a:lnTo>
                <a:lnTo>
                  <a:pt x="3476892" y="2020792"/>
                </a:lnTo>
                <a:lnTo>
                  <a:pt x="0" y="2020792"/>
                </a:lnTo>
                <a:lnTo>
                  <a:pt x="0" y="0"/>
                </a:lnTo>
                <a:close/>
              </a:path>
            </a:pathLst>
          </a:custGeom>
          <a:blipFill>
            <a:blip r:embed="rId4"/>
            <a:stretch>
              <a:fillRect/>
            </a:stretch>
          </a:blipFill>
        </p:spPr>
        <p:txBody>
          <a:bodyPr/>
          <a:lstStyle/>
          <a:p>
            <a:endParaRPr lang="ar-SA"/>
          </a:p>
        </p:txBody>
      </p:sp>
      <p:sp>
        <p:nvSpPr>
          <p:cNvPr id="14" name="TextBox 14"/>
          <p:cNvSpPr txBox="1"/>
          <p:nvPr/>
        </p:nvSpPr>
        <p:spPr>
          <a:xfrm>
            <a:off x="753488" y="904875"/>
            <a:ext cx="13572955" cy="1166495"/>
          </a:xfrm>
          <a:prstGeom prst="rect">
            <a:avLst/>
          </a:prstGeom>
        </p:spPr>
        <p:txBody>
          <a:bodyPr lIns="0" tIns="0" rIns="0" bIns="0" rtlCol="0" anchor="t">
            <a:spAutoFit/>
          </a:bodyPr>
          <a:lstStyle/>
          <a:p>
            <a:pPr algn="r">
              <a:lnSpc>
                <a:spcPts val="4480"/>
              </a:lnSpc>
            </a:pPr>
            <a:r>
              <a:rPr lang="en-US" sz="3200">
                <a:solidFill>
                  <a:srgbClr val="E9E1DB"/>
                </a:solidFill>
                <a:latin typeface="Times New Roman"/>
                <a:ea typeface="Times New Roman"/>
                <a:cs typeface="Times New Roman"/>
                <a:sym typeface="Times New Roman"/>
              </a:rPr>
              <a:t>GENERATIVE AI AND LARGE LANGUAGE MODELS (LLMS)</a:t>
            </a:r>
          </a:p>
          <a:p>
            <a:pPr algn="r">
              <a:lnSpc>
                <a:spcPts val="4480"/>
              </a:lnSpc>
            </a:pPr>
            <a:endParaRPr lang="en-US" sz="3200">
              <a:solidFill>
                <a:srgbClr val="E9E1DB"/>
              </a:solidFill>
              <a:latin typeface="Times New Roman"/>
              <a:ea typeface="Times New Roman"/>
              <a:cs typeface="Times New Roman"/>
              <a:sym typeface="Times New Roman"/>
            </a:endParaRPr>
          </a:p>
        </p:txBody>
      </p:sp>
      <p:sp>
        <p:nvSpPr>
          <p:cNvPr id="15" name="TextBox 15"/>
          <p:cNvSpPr txBox="1"/>
          <p:nvPr/>
        </p:nvSpPr>
        <p:spPr>
          <a:xfrm>
            <a:off x="2325850" y="1957070"/>
            <a:ext cx="13636300" cy="538481"/>
          </a:xfrm>
          <a:prstGeom prst="rect">
            <a:avLst/>
          </a:prstGeom>
        </p:spPr>
        <p:txBody>
          <a:bodyPr lIns="0" tIns="0" rIns="0" bIns="0" rtlCol="0" anchor="t">
            <a:spAutoFit/>
          </a:bodyPr>
          <a:lstStyle/>
          <a:p>
            <a:pPr algn="ctr" rtl="1">
              <a:lnSpc>
                <a:spcPts val="3919"/>
              </a:lnSpc>
              <a:spcBef>
                <a:spcPct val="0"/>
              </a:spcBef>
            </a:pPr>
            <a:r>
              <a:rPr lang="ar-EG" sz="2799">
                <a:solidFill>
                  <a:srgbClr val="E9E1DB"/>
                </a:solidFill>
                <a:latin typeface="Times New Roman"/>
                <a:ea typeface="Times New Roman"/>
                <a:cs typeface="Times New Roman"/>
                <a:sym typeface="Times New Roman"/>
                <a:rtl/>
              </a:rPr>
              <a:t> </a:t>
            </a:r>
            <a:r>
              <a:rPr lang="en-US" sz="2799">
                <a:solidFill>
                  <a:srgbClr val="E9E1DB"/>
                </a:solidFill>
                <a:latin typeface="Times New Roman"/>
                <a:ea typeface="Times New Roman"/>
                <a:cs typeface="Times New Roman"/>
                <a:sym typeface="Times New Roman"/>
              </a:rPr>
              <a:t>Watching Demos about ChatGPT and the OpenAI API</a:t>
            </a:r>
          </a:p>
        </p:txBody>
      </p:sp>
      <p:sp>
        <p:nvSpPr>
          <p:cNvPr id="16" name="TextBox 16"/>
          <p:cNvSpPr txBox="1"/>
          <p:nvPr/>
        </p:nvSpPr>
        <p:spPr>
          <a:xfrm>
            <a:off x="4753668" y="3152102"/>
            <a:ext cx="8780664" cy="1295996"/>
          </a:xfrm>
          <a:prstGeom prst="rect">
            <a:avLst/>
          </a:prstGeom>
        </p:spPr>
        <p:txBody>
          <a:bodyPr lIns="0" tIns="0" rIns="0" bIns="0" rtlCol="0" anchor="t">
            <a:spAutoFit/>
          </a:bodyPr>
          <a:lstStyle/>
          <a:p>
            <a:pPr marL="604515" lvl="1" indent="-302257" algn="l">
              <a:lnSpc>
                <a:spcPts val="5375"/>
              </a:lnSpc>
              <a:buFont typeface="Arial"/>
              <a:buChar char="•"/>
            </a:pPr>
            <a:r>
              <a:rPr lang="en-US" sz="2799" dirty="0">
                <a:solidFill>
                  <a:srgbClr val="E9E1DB"/>
                </a:solidFill>
                <a:latin typeface="Times New Roman"/>
                <a:ea typeface="Times New Roman"/>
                <a:cs typeface="Times New Roman"/>
                <a:sym typeface="Times New Roman"/>
              </a:rPr>
              <a:t>What is the ChatGPT &amp; versions</a:t>
            </a:r>
          </a:p>
          <a:p>
            <a:pPr marL="604515" lvl="1" indent="-302257" algn="l">
              <a:lnSpc>
                <a:spcPts val="5375"/>
              </a:lnSpc>
              <a:buFont typeface="Arial"/>
              <a:buChar char="•"/>
            </a:pPr>
            <a:r>
              <a:rPr lang="en-US" sz="2799" dirty="0">
                <a:solidFill>
                  <a:srgbClr val="E9E1DB"/>
                </a:solidFill>
                <a:latin typeface="Times New Roman"/>
                <a:ea typeface="Times New Roman"/>
                <a:cs typeface="Times New Roman"/>
                <a:sym typeface="Times New Roman"/>
              </a:rPr>
              <a:t>What is the OpenAI API ? </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400235" y="-2280012"/>
            <a:ext cx="21938561" cy="13496146"/>
          </a:xfrm>
          <a:custGeom>
            <a:avLst/>
            <a:gdLst/>
            <a:ahLst/>
            <a:cxnLst/>
            <a:rect l="l" t="t" r="r" b="b"/>
            <a:pathLst>
              <a:path w="21938561" h="13496146">
                <a:moveTo>
                  <a:pt x="0" y="0"/>
                </a:moveTo>
                <a:lnTo>
                  <a:pt x="21938560" y="0"/>
                </a:lnTo>
                <a:lnTo>
                  <a:pt x="21938560" y="13496146"/>
                </a:lnTo>
                <a:lnTo>
                  <a:pt x="0" y="13496146"/>
                </a:lnTo>
                <a:lnTo>
                  <a:pt x="0" y="0"/>
                </a:lnTo>
                <a:close/>
              </a:path>
            </a:pathLst>
          </a:custGeom>
          <a:blipFill>
            <a:blip r:embed="rId2"/>
            <a:stretch>
              <a:fillRect l="-32641" t="-36451" r="-34370" b="-16258"/>
            </a:stretch>
          </a:blipFill>
        </p:spPr>
        <p:txBody>
          <a:bodyPr/>
          <a:lstStyle/>
          <a:p>
            <a:endParaRPr lang="ar-SA"/>
          </a:p>
        </p:txBody>
      </p:sp>
      <p:grpSp>
        <p:nvGrpSpPr>
          <p:cNvPr id="3" name="Group 3"/>
          <p:cNvGrpSpPr/>
          <p:nvPr/>
        </p:nvGrpSpPr>
        <p:grpSpPr>
          <a:xfrm rot="-2088381">
            <a:off x="-654014" y="5935649"/>
            <a:ext cx="7946576" cy="1601596"/>
            <a:chOff x="0" y="0"/>
            <a:chExt cx="3539030" cy="713275"/>
          </a:xfrm>
        </p:grpSpPr>
        <p:sp>
          <p:nvSpPr>
            <p:cNvPr id="4" name="Freeform 4"/>
            <p:cNvSpPr/>
            <p:nvPr/>
          </p:nvSpPr>
          <p:spPr>
            <a:xfrm>
              <a:off x="0" y="0"/>
              <a:ext cx="3539030" cy="713275"/>
            </a:xfrm>
            <a:custGeom>
              <a:avLst/>
              <a:gdLst/>
              <a:ahLst/>
              <a:cxnLst/>
              <a:rect l="l" t="t" r="r" b="b"/>
              <a:pathLst>
                <a:path w="3539030" h="713275">
                  <a:moveTo>
                    <a:pt x="203200" y="0"/>
                  </a:moveTo>
                  <a:lnTo>
                    <a:pt x="3539030" y="0"/>
                  </a:lnTo>
                  <a:lnTo>
                    <a:pt x="3335830" y="713275"/>
                  </a:lnTo>
                  <a:lnTo>
                    <a:pt x="0" y="713275"/>
                  </a:lnTo>
                  <a:lnTo>
                    <a:pt x="203200" y="0"/>
                  </a:lnTo>
                  <a:close/>
                </a:path>
              </a:pathLst>
            </a:custGeom>
            <a:solidFill>
              <a:srgbClr val="66574D"/>
            </a:solidFill>
          </p:spPr>
          <p:txBody>
            <a:bodyPr/>
            <a:lstStyle/>
            <a:p>
              <a:endParaRPr lang="ar-SA"/>
            </a:p>
          </p:txBody>
        </p:sp>
        <p:sp>
          <p:nvSpPr>
            <p:cNvPr id="5" name="TextBox 5"/>
            <p:cNvSpPr txBox="1"/>
            <p:nvPr/>
          </p:nvSpPr>
          <p:spPr>
            <a:xfrm>
              <a:off x="101600" y="-38100"/>
              <a:ext cx="3335830" cy="751375"/>
            </a:xfrm>
            <a:prstGeom prst="rect">
              <a:avLst/>
            </a:prstGeom>
          </p:spPr>
          <p:txBody>
            <a:bodyPr lIns="50800" tIns="50800" rIns="50800" bIns="50800" rtlCol="0" anchor="ctr"/>
            <a:lstStyle/>
            <a:p>
              <a:pPr algn="ctr">
                <a:lnSpc>
                  <a:spcPts val="2659"/>
                </a:lnSpc>
              </a:pPr>
              <a:endParaRPr/>
            </a:p>
          </p:txBody>
        </p:sp>
      </p:grpSp>
      <p:grpSp>
        <p:nvGrpSpPr>
          <p:cNvPr id="6" name="Group 6"/>
          <p:cNvGrpSpPr/>
          <p:nvPr/>
        </p:nvGrpSpPr>
        <p:grpSpPr>
          <a:xfrm>
            <a:off x="-1226391" y="419167"/>
            <a:ext cx="21419231" cy="9086516"/>
            <a:chOff x="0" y="0"/>
            <a:chExt cx="1540308" cy="653433"/>
          </a:xfrm>
        </p:grpSpPr>
        <p:sp>
          <p:nvSpPr>
            <p:cNvPr id="7" name="Freeform 7"/>
            <p:cNvSpPr/>
            <p:nvPr/>
          </p:nvSpPr>
          <p:spPr>
            <a:xfrm>
              <a:off x="0" y="0"/>
              <a:ext cx="1540308" cy="653433"/>
            </a:xfrm>
            <a:custGeom>
              <a:avLst/>
              <a:gdLst/>
              <a:ahLst/>
              <a:cxnLst/>
              <a:rect l="l" t="t" r="r" b="b"/>
              <a:pathLst>
                <a:path w="1540308" h="653433">
                  <a:moveTo>
                    <a:pt x="1337108" y="0"/>
                  </a:moveTo>
                  <a:lnTo>
                    <a:pt x="0" y="0"/>
                  </a:lnTo>
                  <a:lnTo>
                    <a:pt x="203200" y="653433"/>
                  </a:lnTo>
                  <a:lnTo>
                    <a:pt x="1540308" y="653433"/>
                  </a:lnTo>
                  <a:lnTo>
                    <a:pt x="1337108" y="0"/>
                  </a:lnTo>
                  <a:close/>
                </a:path>
              </a:pathLst>
            </a:custGeom>
            <a:solidFill>
              <a:srgbClr val="3D3735"/>
            </a:solidFill>
          </p:spPr>
          <p:txBody>
            <a:bodyPr/>
            <a:lstStyle/>
            <a:p>
              <a:endParaRPr lang="ar-SA"/>
            </a:p>
          </p:txBody>
        </p:sp>
        <p:sp>
          <p:nvSpPr>
            <p:cNvPr id="8" name="TextBox 8"/>
            <p:cNvSpPr txBox="1"/>
            <p:nvPr/>
          </p:nvSpPr>
          <p:spPr>
            <a:xfrm>
              <a:off x="101600" y="-38100"/>
              <a:ext cx="1337108" cy="691533"/>
            </a:xfrm>
            <a:prstGeom prst="rect">
              <a:avLst/>
            </a:prstGeom>
          </p:spPr>
          <p:txBody>
            <a:bodyPr lIns="50800" tIns="50800" rIns="50800" bIns="50800" rtlCol="0" anchor="ctr"/>
            <a:lstStyle/>
            <a:p>
              <a:pPr algn="ctr">
                <a:lnSpc>
                  <a:spcPts val="2659"/>
                </a:lnSpc>
                <a:spcBef>
                  <a:spcPct val="0"/>
                </a:spcBef>
              </a:pPr>
              <a:endParaRPr/>
            </a:p>
          </p:txBody>
        </p:sp>
      </p:grpSp>
      <p:grpSp>
        <p:nvGrpSpPr>
          <p:cNvPr id="9" name="Group 9"/>
          <p:cNvGrpSpPr/>
          <p:nvPr/>
        </p:nvGrpSpPr>
        <p:grpSpPr>
          <a:xfrm>
            <a:off x="0" y="8107296"/>
            <a:ext cx="18998529" cy="1554646"/>
            <a:chOff x="0" y="0"/>
            <a:chExt cx="7449608" cy="609600"/>
          </a:xfrm>
        </p:grpSpPr>
        <p:sp>
          <p:nvSpPr>
            <p:cNvPr id="10" name="Freeform 10"/>
            <p:cNvSpPr/>
            <p:nvPr/>
          </p:nvSpPr>
          <p:spPr>
            <a:xfrm>
              <a:off x="0" y="0"/>
              <a:ext cx="7449608" cy="609600"/>
            </a:xfrm>
            <a:custGeom>
              <a:avLst/>
              <a:gdLst/>
              <a:ahLst/>
              <a:cxnLst/>
              <a:rect l="l" t="t" r="r" b="b"/>
              <a:pathLst>
                <a:path w="7449608" h="609600">
                  <a:moveTo>
                    <a:pt x="7246408" y="0"/>
                  </a:moveTo>
                  <a:lnTo>
                    <a:pt x="0" y="0"/>
                  </a:lnTo>
                  <a:lnTo>
                    <a:pt x="203200" y="609600"/>
                  </a:lnTo>
                  <a:lnTo>
                    <a:pt x="7449608" y="609600"/>
                  </a:lnTo>
                  <a:lnTo>
                    <a:pt x="7246408" y="0"/>
                  </a:lnTo>
                  <a:close/>
                </a:path>
              </a:pathLst>
            </a:custGeom>
            <a:solidFill>
              <a:srgbClr val="E9E1DB"/>
            </a:solidFill>
          </p:spPr>
          <p:txBody>
            <a:bodyPr/>
            <a:lstStyle/>
            <a:p>
              <a:endParaRPr lang="ar-SA"/>
            </a:p>
          </p:txBody>
        </p:sp>
        <p:sp>
          <p:nvSpPr>
            <p:cNvPr id="11" name="TextBox 11"/>
            <p:cNvSpPr txBox="1"/>
            <p:nvPr/>
          </p:nvSpPr>
          <p:spPr>
            <a:xfrm>
              <a:off x="101600" y="-38100"/>
              <a:ext cx="7246408" cy="647700"/>
            </a:xfrm>
            <a:prstGeom prst="rect">
              <a:avLst/>
            </a:prstGeom>
          </p:spPr>
          <p:txBody>
            <a:bodyPr lIns="50800" tIns="50800" rIns="50800" bIns="50800" rtlCol="0" anchor="ctr"/>
            <a:lstStyle/>
            <a:p>
              <a:pPr algn="ctr">
                <a:lnSpc>
                  <a:spcPts val="2659"/>
                </a:lnSpc>
                <a:spcBef>
                  <a:spcPct val="0"/>
                </a:spcBef>
              </a:pPr>
              <a:endParaRPr/>
            </a:p>
          </p:txBody>
        </p:sp>
      </p:grpSp>
      <p:sp>
        <p:nvSpPr>
          <p:cNvPr id="12" name="Freeform 12"/>
          <p:cNvSpPr/>
          <p:nvPr/>
        </p:nvSpPr>
        <p:spPr>
          <a:xfrm>
            <a:off x="4263544" y="3208159"/>
            <a:ext cx="11301259" cy="3870681"/>
          </a:xfrm>
          <a:custGeom>
            <a:avLst/>
            <a:gdLst/>
            <a:ahLst/>
            <a:cxnLst/>
            <a:rect l="l" t="t" r="r" b="b"/>
            <a:pathLst>
              <a:path w="11301259" h="3870681">
                <a:moveTo>
                  <a:pt x="0" y="0"/>
                </a:moveTo>
                <a:lnTo>
                  <a:pt x="11301259" y="0"/>
                </a:lnTo>
                <a:lnTo>
                  <a:pt x="11301259" y="3870682"/>
                </a:lnTo>
                <a:lnTo>
                  <a:pt x="0" y="3870682"/>
                </a:lnTo>
                <a:lnTo>
                  <a:pt x="0" y="0"/>
                </a:lnTo>
                <a:close/>
              </a:path>
            </a:pathLst>
          </a:custGeom>
          <a:blipFill>
            <a:blip r:embed="rId3"/>
            <a:stretch>
              <a:fillRect/>
            </a:stretch>
          </a:blipFill>
        </p:spPr>
        <p:txBody>
          <a:bodyPr/>
          <a:lstStyle/>
          <a:p>
            <a:endParaRPr lang="ar-SA"/>
          </a:p>
        </p:txBody>
      </p:sp>
      <p:sp>
        <p:nvSpPr>
          <p:cNvPr id="13" name="TextBox 13"/>
          <p:cNvSpPr txBox="1"/>
          <p:nvPr/>
        </p:nvSpPr>
        <p:spPr>
          <a:xfrm>
            <a:off x="753488" y="904875"/>
            <a:ext cx="13572955" cy="1166495"/>
          </a:xfrm>
          <a:prstGeom prst="rect">
            <a:avLst/>
          </a:prstGeom>
        </p:spPr>
        <p:txBody>
          <a:bodyPr lIns="0" tIns="0" rIns="0" bIns="0" rtlCol="0" anchor="t">
            <a:spAutoFit/>
          </a:bodyPr>
          <a:lstStyle/>
          <a:p>
            <a:pPr algn="r">
              <a:lnSpc>
                <a:spcPts val="4480"/>
              </a:lnSpc>
            </a:pPr>
            <a:r>
              <a:rPr lang="en-US" sz="3200">
                <a:solidFill>
                  <a:srgbClr val="E9E1DB"/>
                </a:solidFill>
                <a:latin typeface="Times New Roman"/>
                <a:ea typeface="Times New Roman"/>
                <a:cs typeface="Times New Roman"/>
                <a:sym typeface="Times New Roman"/>
              </a:rPr>
              <a:t>GENERATIVE AI AND LARGE LANGUAGE MODELS (LLMS)</a:t>
            </a:r>
          </a:p>
          <a:p>
            <a:pPr algn="r">
              <a:lnSpc>
                <a:spcPts val="4480"/>
              </a:lnSpc>
            </a:pPr>
            <a:endParaRPr lang="en-US" sz="3200">
              <a:solidFill>
                <a:srgbClr val="E9E1DB"/>
              </a:solidFill>
              <a:latin typeface="Times New Roman"/>
              <a:ea typeface="Times New Roman"/>
              <a:cs typeface="Times New Roman"/>
              <a:sym typeface="Times New Roman"/>
            </a:endParaRPr>
          </a:p>
        </p:txBody>
      </p:sp>
      <p:sp>
        <p:nvSpPr>
          <p:cNvPr id="14" name="TextBox 14"/>
          <p:cNvSpPr txBox="1"/>
          <p:nvPr/>
        </p:nvSpPr>
        <p:spPr>
          <a:xfrm>
            <a:off x="-829215" y="2287805"/>
            <a:ext cx="13636300" cy="538481"/>
          </a:xfrm>
          <a:prstGeom prst="rect">
            <a:avLst/>
          </a:prstGeom>
        </p:spPr>
        <p:txBody>
          <a:bodyPr lIns="0" tIns="0" rIns="0" bIns="0" rtlCol="0" anchor="t">
            <a:spAutoFit/>
          </a:bodyPr>
          <a:lstStyle/>
          <a:p>
            <a:pPr algn="ctr">
              <a:lnSpc>
                <a:spcPts val="3919"/>
              </a:lnSpc>
              <a:spcBef>
                <a:spcPct val="0"/>
              </a:spcBef>
            </a:pPr>
            <a:r>
              <a:rPr lang="en-US" sz="2799">
                <a:solidFill>
                  <a:srgbClr val="E9E1DB"/>
                </a:solidFill>
                <a:latin typeface="Times New Roman"/>
                <a:ea typeface="Times New Roman"/>
                <a:cs typeface="Times New Roman"/>
                <a:sym typeface="Times New Roman"/>
              </a:rPr>
              <a:t>API request Example:</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766379" y="0"/>
            <a:ext cx="21938561" cy="13496146"/>
          </a:xfrm>
          <a:custGeom>
            <a:avLst/>
            <a:gdLst/>
            <a:ahLst/>
            <a:cxnLst/>
            <a:rect l="l" t="t" r="r" b="b"/>
            <a:pathLst>
              <a:path w="21938561" h="13496146">
                <a:moveTo>
                  <a:pt x="0" y="0"/>
                </a:moveTo>
                <a:lnTo>
                  <a:pt x="21938561" y="0"/>
                </a:lnTo>
                <a:lnTo>
                  <a:pt x="21938561" y="13496146"/>
                </a:lnTo>
                <a:lnTo>
                  <a:pt x="0" y="13496146"/>
                </a:lnTo>
                <a:lnTo>
                  <a:pt x="0" y="0"/>
                </a:lnTo>
                <a:close/>
              </a:path>
            </a:pathLst>
          </a:custGeom>
          <a:blipFill>
            <a:blip r:embed="rId2"/>
            <a:stretch>
              <a:fillRect l="-32641" t="-36451" r="-34370" b="-16258"/>
            </a:stretch>
          </a:blipFill>
        </p:spPr>
        <p:txBody>
          <a:bodyPr/>
          <a:lstStyle/>
          <a:p>
            <a:endParaRPr lang="ar-SA"/>
          </a:p>
        </p:txBody>
      </p:sp>
      <p:grpSp>
        <p:nvGrpSpPr>
          <p:cNvPr id="3" name="Group 3"/>
          <p:cNvGrpSpPr/>
          <p:nvPr/>
        </p:nvGrpSpPr>
        <p:grpSpPr>
          <a:xfrm rot="-2088381">
            <a:off x="-654014" y="5935649"/>
            <a:ext cx="7946576" cy="1601596"/>
            <a:chOff x="0" y="0"/>
            <a:chExt cx="3539030" cy="713275"/>
          </a:xfrm>
        </p:grpSpPr>
        <p:sp>
          <p:nvSpPr>
            <p:cNvPr id="4" name="Freeform 4"/>
            <p:cNvSpPr/>
            <p:nvPr/>
          </p:nvSpPr>
          <p:spPr>
            <a:xfrm>
              <a:off x="0" y="0"/>
              <a:ext cx="3539030" cy="713275"/>
            </a:xfrm>
            <a:custGeom>
              <a:avLst/>
              <a:gdLst/>
              <a:ahLst/>
              <a:cxnLst/>
              <a:rect l="l" t="t" r="r" b="b"/>
              <a:pathLst>
                <a:path w="3539030" h="713275">
                  <a:moveTo>
                    <a:pt x="203200" y="0"/>
                  </a:moveTo>
                  <a:lnTo>
                    <a:pt x="3539030" y="0"/>
                  </a:lnTo>
                  <a:lnTo>
                    <a:pt x="3335830" y="713275"/>
                  </a:lnTo>
                  <a:lnTo>
                    <a:pt x="0" y="713275"/>
                  </a:lnTo>
                  <a:lnTo>
                    <a:pt x="203200" y="0"/>
                  </a:lnTo>
                  <a:close/>
                </a:path>
              </a:pathLst>
            </a:custGeom>
            <a:solidFill>
              <a:srgbClr val="66574D"/>
            </a:solidFill>
          </p:spPr>
          <p:txBody>
            <a:bodyPr/>
            <a:lstStyle/>
            <a:p>
              <a:endParaRPr lang="ar-SA"/>
            </a:p>
          </p:txBody>
        </p:sp>
        <p:sp>
          <p:nvSpPr>
            <p:cNvPr id="5" name="TextBox 5"/>
            <p:cNvSpPr txBox="1"/>
            <p:nvPr/>
          </p:nvSpPr>
          <p:spPr>
            <a:xfrm>
              <a:off x="101600" y="-38100"/>
              <a:ext cx="3335830" cy="751375"/>
            </a:xfrm>
            <a:prstGeom prst="rect">
              <a:avLst/>
            </a:prstGeom>
          </p:spPr>
          <p:txBody>
            <a:bodyPr lIns="50800" tIns="50800" rIns="50800" bIns="50800" rtlCol="0" anchor="ctr"/>
            <a:lstStyle/>
            <a:p>
              <a:pPr algn="ctr">
                <a:lnSpc>
                  <a:spcPts val="2659"/>
                </a:lnSpc>
              </a:pPr>
              <a:endParaRPr/>
            </a:p>
          </p:txBody>
        </p:sp>
      </p:grpSp>
      <p:grpSp>
        <p:nvGrpSpPr>
          <p:cNvPr id="6" name="Group 6"/>
          <p:cNvGrpSpPr/>
          <p:nvPr/>
        </p:nvGrpSpPr>
        <p:grpSpPr>
          <a:xfrm>
            <a:off x="-1226391" y="419167"/>
            <a:ext cx="21419231" cy="9086516"/>
            <a:chOff x="0" y="0"/>
            <a:chExt cx="1540308" cy="653433"/>
          </a:xfrm>
        </p:grpSpPr>
        <p:sp>
          <p:nvSpPr>
            <p:cNvPr id="7" name="Freeform 7"/>
            <p:cNvSpPr/>
            <p:nvPr/>
          </p:nvSpPr>
          <p:spPr>
            <a:xfrm>
              <a:off x="0" y="0"/>
              <a:ext cx="1540308" cy="653433"/>
            </a:xfrm>
            <a:custGeom>
              <a:avLst/>
              <a:gdLst/>
              <a:ahLst/>
              <a:cxnLst/>
              <a:rect l="l" t="t" r="r" b="b"/>
              <a:pathLst>
                <a:path w="1540308" h="653433">
                  <a:moveTo>
                    <a:pt x="1337108" y="0"/>
                  </a:moveTo>
                  <a:lnTo>
                    <a:pt x="0" y="0"/>
                  </a:lnTo>
                  <a:lnTo>
                    <a:pt x="203200" y="653433"/>
                  </a:lnTo>
                  <a:lnTo>
                    <a:pt x="1540308" y="653433"/>
                  </a:lnTo>
                  <a:lnTo>
                    <a:pt x="1337108" y="0"/>
                  </a:lnTo>
                  <a:close/>
                </a:path>
              </a:pathLst>
            </a:custGeom>
            <a:solidFill>
              <a:srgbClr val="3D3735"/>
            </a:solidFill>
          </p:spPr>
          <p:txBody>
            <a:bodyPr/>
            <a:lstStyle/>
            <a:p>
              <a:endParaRPr lang="ar-SA"/>
            </a:p>
          </p:txBody>
        </p:sp>
        <p:sp>
          <p:nvSpPr>
            <p:cNvPr id="8" name="TextBox 8"/>
            <p:cNvSpPr txBox="1"/>
            <p:nvPr/>
          </p:nvSpPr>
          <p:spPr>
            <a:xfrm>
              <a:off x="101600" y="-38100"/>
              <a:ext cx="1337108" cy="691533"/>
            </a:xfrm>
            <a:prstGeom prst="rect">
              <a:avLst/>
            </a:prstGeom>
          </p:spPr>
          <p:txBody>
            <a:bodyPr lIns="50800" tIns="50800" rIns="50800" bIns="50800" rtlCol="0" anchor="ctr"/>
            <a:lstStyle/>
            <a:p>
              <a:pPr algn="ctr">
                <a:lnSpc>
                  <a:spcPts val="2659"/>
                </a:lnSpc>
                <a:spcBef>
                  <a:spcPct val="0"/>
                </a:spcBef>
              </a:pPr>
              <a:endParaRPr/>
            </a:p>
          </p:txBody>
        </p:sp>
      </p:grpSp>
      <p:grpSp>
        <p:nvGrpSpPr>
          <p:cNvPr id="9" name="Group 9"/>
          <p:cNvGrpSpPr/>
          <p:nvPr/>
        </p:nvGrpSpPr>
        <p:grpSpPr>
          <a:xfrm>
            <a:off x="0" y="8107296"/>
            <a:ext cx="18998529" cy="1554646"/>
            <a:chOff x="0" y="0"/>
            <a:chExt cx="7449608" cy="609600"/>
          </a:xfrm>
        </p:grpSpPr>
        <p:sp>
          <p:nvSpPr>
            <p:cNvPr id="10" name="Freeform 10"/>
            <p:cNvSpPr/>
            <p:nvPr/>
          </p:nvSpPr>
          <p:spPr>
            <a:xfrm>
              <a:off x="0" y="0"/>
              <a:ext cx="7449608" cy="609600"/>
            </a:xfrm>
            <a:custGeom>
              <a:avLst/>
              <a:gdLst/>
              <a:ahLst/>
              <a:cxnLst/>
              <a:rect l="l" t="t" r="r" b="b"/>
              <a:pathLst>
                <a:path w="7449608" h="609600">
                  <a:moveTo>
                    <a:pt x="7246408" y="0"/>
                  </a:moveTo>
                  <a:lnTo>
                    <a:pt x="0" y="0"/>
                  </a:lnTo>
                  <a:lnTo>
                    <a:pt x="203200" y="609600"/>
                  </a:lnTo>
                  <a:lnTo>
                    <a:pt x="7449608" y="609600"/>
                  </a:lnTo>
                  <a:lnTo>
                    <a:pt x="7246408" y="0"/>
                  </a:lnTo>
                  <a:close/>
                </a:path>
              </a:pathLst>
            </a:custGeom>
            <a:solidFill>
              <a:srgbClr val="E9E1DB"/>
            </a:solidFill>
          </p:spPr>
          <p:txBody>
            <a:bodyPr/>
            <a:lstStyle/>
            <a:p>
              <a:endParaRPr lang="ar-SA"/>
            </a:p>
          </p:txBody>
        </p:sp>
        <p:sp>
          <p:nvSpPr>
            <p:cNvPr id="11" name="TextBox 11"/>
            <p:cNvSpPr txBox="1"/>
            <p:nvPr/>
          </p:nvSpPr>
          <p:spPr>
            <a:xfrm>
              <a:off x="101600" y="-38100"/>
              <a:ext cx="7246408" cy="647700"/>
            </a:xfrm>
            <a:prstGeom prst="rect">
              <a:avLst/>
            </a:prstGeom>
          </p:spPr>
          <p:txBody>
            <a:bodyPr lIns="50800" tIns="50800" rIns="50800" bIns="50800" rtlCol="0" anchor="ctr"/>
            <a:lstStyle/>
            <a:p>
              <a:pPr algn="ctr">
                <a:lnSpc>
                  <a:spcPts val="2659"/>
                </a:lnSpc>
                <a:spcBef>
                  <a:spcPct val="0"/>
                </a:spcBef>
              </a:pPr>
              <a:endParaRPr/>
            </a:p>
          </p:txBody>
        </p:sp>
      </p:grpSp>
      <p:sp>
        <p:nvSpPr>
          <p:cNvPr id="12" name="Freeform 12"/>
          <p:cNvSpPr/>
          <p:nvPr/>
        </p:nvSpPr>
        <p:spPr>
          <a:xfrm>
            <a:off x="6536368" y="3140982"/>
            <a:ext cx="5215265" cy="4635791"/>
          </a:xfrm>
          <a:custGeom>
            <a:avLst/>
            <a:gdLst/>
            <a:ahLst/>
            <a:cxnLst/>
            <a:rect l="l" t="t" r="r" b="b"/>
            <a:pathLst>
              <a:path w="5215265" h="4635791">
                <a:moveTo>
                  <a:pt x="0" y="0"/>
                </a:moveTo>
                <a:lnTo>
                  <a:pt x="5215264" y="0"/>
                </a:lnTo>
                <a:lnTo>
                  <a:pt x="5215264" y="4635791"/>
                </a:lnTo>
                <a:lnTo>
                  <a:pt x="0" y="4635791"/>
                </a:lnTo>
                <a:lnTo>
                  <a:pt x="0" y="0"/>
                </a:lnTo>
                <a:close/>
              </a:path>
            </a:pathLst>
          </a:custGeom>
          <a:blipFill>
            <a:blip r:embed="rId3"/>
            <a:stretch>
              <a:fillRect/>
            </a:stretch>
          </a:blipFill>
        </p:spPr>
        <p:txBody>
          <a:bodyPr/>
          <a:lstStyle/>
          <a:p>
            <a:endParaRPr lang="ar-SA"/>
          </a:p>
        </p:txBody>
      </p:sp>
      <p:sp>
        <p:nvSpPr>
          <p:cNvPr id="13" name="TextBox 13"/>
          <p:cNvSpPr txBox="1"/>
          <p:nvPr/>
        </p:nvSpPr>
        <p:spPr>
          <a:xfrm>
            <a:off x="753488" y="904875"/>
            <a:ext cx="13572955" cy="604520"/>
          </a:xfrm>
          <a:prstGeom prst="rect">
            <a:avLst/>
          </a:prstGeom>
        </p:spPr>
        <p:txBody>
          <a:bodyPr lIns="0" tIns="0" rIns="0" bIns="0" rtlCol="0" anchor="t">
            <a:spAutoFit/>
          </a:bodyPr>
          <a:lstStyle/>
          <a:p>
            <a:pPr algn="r">
              <a:lnSpc>
                <a:spcPts val="4480"/>
              </a:lnSpc>
            </a:pPr>
            <a:r>
              <a:rPr lang="en-US" sz="3200">
                <a:solidFill>
                  <a:srgbClr val="E9E1DB"/>
                </a:solidFill>
                <a:latin typeface="Times New Roman"/>
                <a:ea typeface="Times New Roman"/>
                <a:cs typeface="Times New Roman"/>
                <a:sym typeface="Times New Roman"/>
              </a:rPr>
              <a:t>TRANSFORMER ARCHITECTURE UNDERSTANDING:</a:t>
            </a:r>
          </a:p>
        </p:txBody>
      </p:sp>
      <p:sp>
        <p:nvSpPr>
          <p:cNvPr id="14" name="TextBox 14"/>
          <p:cNvSpPr txBox="1"/>
          <p:nvPr/>
        </p:nvSpPr>
        <p:spPr>
          <a:xfrm>
            <a:off x="2325850" y="1796246"/>
            <a:ext cx="13636300" cy="1033781"/>
          </a:xfrm>
          <a:prstGeom prst="rect">
            <a:avLst/>
          </a:prstGeom>
        </p:spPr>
        <p:txBody>
          <a:bodyPr lIns="0" tIns="0" rIns="0" bIns="0" rtlCol="0" anchor="t">
            <a:spAutoFit/>
          </a:bodyPr>
          <a:lstStyle/>
          <a:p>
            <a:pPr algn="ctr" rtl="1">
              <a:lnSpc>
                <a:spcPts val="3919"/>
              </a:lnSpc>
              <a:spcBef>
                <a:spcPct val="0"/>
              </a:spcBef>
            </a:pPr>
            <a:r>
              <a:rPr lang="ar-EG" sz="2799">
                <a:solidFill>
                  <a:srgbClr val="E9E1DB"/>
                </a:solidFill>
                <a:latin typeface="Times New Roman"/>
                <a:ea typeface="Times New Roman"/>
                <a:cs typeface="Times New Roman"/>
                <a:sym typeface="Times New Roman"/>
                <a:rtl/>
              </a:rPr>
              <a:t> </a:t>
            </a:r>
            <a:r>
              <a:rPr lang="en-US" sz="2799">
                <a:solidFill>
                  <a:srgbClr val="E9E1DB"/>
                </a:solidFill>
                <a:latin typeface="Times New Roman"/>
                <a:ea typeface="Times New Roman"/>
                <a:cs typeface="Times New Roman"/>
                <a:sym typeface="Times New Roman"/>
              </a:rPr>
              <a:t>explain the difference between the LLM transformer encoder VS decoder using GitHub to test an actual code</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632116" y="1028700"/>
            <a:ext cx="21938561" cy="13496146"/>
          </a:xfrm>
          <a:custGeom>
            <a:avLst/>
            <a:gdLst/>
            <a:ahLst/>
            <a:cxnLst/>
            <a:rect l="l" t="t" r="r" b="b"/>
            <a:pathLst>
              <a:path w="21938561" h="13496146">
                <a:moveTo>
                  <a:pt x="0" y="0"/>
                </a:moveTo>
                <a:lnTo>
                  <a:pt x="21938560" y="0"/>
                </a:lnTo>
                <a:lnTo>
                  <a:pt x="21938560" y="13496146"/>
                </a:lnTo>
                <a:lnTo>
                  <a:pt x="0" y="13496146"/>
                </a:lnTo>
                <a:lnTo>
                  <a:pt x="0" y="0"/>
                </a:lnTo>
                <a:close/>
              </a:path>
            </a:pathLst>
          </a:custGeom>
          <a:blipFill>
            <a:blip r:embed="rId2"/>
            <a:stretch>
              <a:fillRect l="-32641" t="-36451" r="-34370" b="-16258"/>
            </a:stretch>
          </a:blipFill>
        </p:spPr>
        <p:txBody>
          <a:bodyPr/>
          <a:lstStyle/>
          <a:p>
            <a:endParaRPr lang="ar-SA"/>
          </a:p>
        </p:txBody>
      </p:sp>
      <p:grpSp>
        <p:nvGrpSpPr>
          <p:cNvPr id="3" name="Group 3"/>
          <p:cNvGrpSpPr/>
          <p:nvPr/>
        </p:nvGrpSpPr>
        <p:grpSpPr>
          <a:xfrm rot="-2088381">
            <a:off x="-654014" y="5935649"/>
            <a:ext cx="7946576" cy="1601596"/>
            <a:chOff x="0" y="0"/>
            <a:chExt cx="3539030" cy="713275"/>
          </a:xfrm>
        </p:grpSpPr>
        <p:sp>
          <p:nvSpPr>
            <p:cNvPr id="4" name="Freeform 4"/>
            <p:cNvSpPr/>
            <p:nvPr/>
          </p:nvSpPr>
          <p:spPr>
            <a:xfrm>
              <a:off x="0" y="0"/>
              <a:ext cx="3539030" cy="713275"/>
            </a:xfrm>
            <a:custGeom>
              <a:avLst/>
              <a:gdLst/>
              <a:ahLst/>
              <a:cxnLst/>
              <a:rect l="l" t="t" r="r" b="b"/>
              <a:pathLst>
                <a:path w="3539030" h="713275">
                  <a:moveTo>
                    <a:pt x="203200" y="0"/>
                  </a:moveTo>
                  <a:lnTo>
                    <a:pt x="3539030" y="0"/>
                  </a:lnTo>
                  <a:lnTo>
                    <a:pt x="3335830" y="713275"/>
                  </a:lnTo>
                  <a:lnTo>
                    <a:pt x="0" y="713275"/>
                  </a:lnTo>
                  <a:lnTo>
                    <a:pt x="203200" y="0"/>
                  </a:lnTo>
                  <a:close/>
                </a:path>
              </a:pathLst>
            </a:custGeom>
            <a:solidFill>
              <a:srgbClr val="66574D"/>
            </a:solidFill>
          </p:spPr>
          <p:txBody>
            <a:bodyPr/>
            <a:lstStyle/>
            <a:p>
              <a:endParaRPr lang="ar-SA"/>
            </a:p>
          </p:txBody>
        </p:sp>
        <p:sp>
          <p:nvSpPr>
            <p:cNvPr id="5" name="TextBox 5"/>
            <p:cNvSpPr txBox="1"/>
            <p:nvPr/>
          </p:nvSpPr>
          <p:spPr>
            <a:xfrm>
              <a:off x="101600" y="-38100"/>
              <a:ext cx="3335830" cy="751375"/>
            </a:xfrm>
            <a:prstGeom prst="rect">
              <a:avLst/>
            </a:prstGeom>
          </p:spPr>
          <p:txBody>
            <a:bodyPr lIns="50800" tIns="50800" rIns="50800" bIns="50800" rtlCol="0" anchor="ctr"/>
            <a:lstStyle/>
            <a:p>
              <a:pPr algn="ctr">
                <a:lnSpc>
                  <a:spcPts val="2659"/>
                </a:lnSpc>
              </a:pPr>
              <a:endParaRPr/>
            </a:p>
          </p:txBody>
        </p:sp>
      </p:grpSp>
      <p:grpSp>
        <p:nvGrpSpPr>
          <p:cNvPr id="6" name="Group 6"/>
          <p:cNvGrpSpPr/>
          <p:nvPr/>
        </p:nvGrpSpPr>
        <p:grpSpPr>
          <a:xfrm>
            <a:off x="-1226391" y="419167"/>
            <a:ext cx="21419231" cy="9086516"/>
            <a:chOff x="0" y="0"/>
            <a:chExt cx="1540308" cy="653433"/>
          </a:xfrm>
        </p:grpSpPr>
        <p:sp>
          <p:nvSpPr>
            <p:cNvPr id="7" name="Freeform 7"/>
            <p:cNvSpPr/>
            <p:nvPr/>
          </p:nvSpPr>
          <p:spPr>
            <a:xfrm>
              <a:off x="0" y="0"/>
              <a:ext cx="1540308" cy="653433"/>
            </a:xfrm>
            <a:custGeom>
              <a:avLst/>
              <a:gdLst/>
              <a:ahLst/>
              <a:cxnLst/>
              <a:rect l="l" t="t" r="r" b="b"/>
              <a:pathLst>
                <a:path w="1540308" h="653433">
                  <a:moveTo>
                    <a:pt x="1337108" y="0"/>
                  </a:moveTo>
                  <a:lnTo>
                    <a:pt x="0" y="0"/>
                  </a:lnTo>
                  <a:lnTo>
                    <a:pt x="203200" y="653433"/>
                  </a:lnTo>
                  <a:lnTo>
                    <a:pt x="1540308" y="653433"/>
                  </a:lnTo>
                  <a:lnTo>
                    <a:pt x="1337108" y="0"/>
                  </a:lnTo>
                  <a:close/>
                </a:path>
              </a:pathLst>
            </a:custGeom>
            <a:solidFill>
              <a:srgbClr val="3D3735"/>
            </a:solidFill>
          </p:spPr>
          <p:txBody>
            <a:bodyPr/>
            <a:lstStyle/>
            <a:p>
              <a:endParaRPr lang="ar-SA"/>
            </a:p>
          </p:txBody>
        </p:sp>
        <p:sp>
          <p:nvSpPr>
            <p:cNvPr id="8" name="TextBox 8"/>
            <p:cNvSpPr txBox="1"/>
            <p:nvPr/>
          </p:nvSpPr>
          <p:spPr>
            <a:xfrm>
              <a:off x="101600" y="-38100"/>
              <a:ext cx="1337108" cy="691533"/>
            </a:xfrm>
            <a:prstGeom prst="rect">
              <a:avLst/>
            </a:prstGeom>
          </p:spPr>
          <p:txBody>
            <a:bodyPr lIns="50800" tIns="50800" rIns="50800" bIns="50800" rtlCol="0" anchor="ctr"/>
            <a:lstStyle/>
            <a:p>
              <a:pPr algn="ctr">
                <a:lnSpc>
                  <a:spcPts val="2659"/>
                </a:lnSpc>
                <a:spcBef>
                  <a:spcPct val="0"/>
                </a:spcBef>
              </a:pPr>
              <a:endParaRPr/>
            </a:p>
          </p:txBody>
        </p:sp>
      </p:grpSp>
      <p:grpSp>
        <p:nvGrpSpPr>
          <p:cNvPr id="9" name="Group 9"/>
          <p:cNvGrpSpPr/>
          <p:nvPr/>
        </p:nvGrpSpPr>
        <p:grpSpPr>
          <a:xfrm>
            <a:off x="0" y="8107296"/>
            <a:ext cx="18998529" cy="1554646"/>
            <a:chOff x="0" y="0"/>
            <a:chExt cx="7449608" cy="609600"/>
          </a:xfrm>
        </p:grpSpPr>
        <p:sp>
          <p:nvSpPr>
            <p:cNvPr id="10" name="Freeform 10"/>
            <p:cNvSpPr/>
            <p:nvPr/>
          </p:nvSpPr>
          <p:spPr>
            <a:xfrm>
              <a:off x="0" y="0"/>
              <a:ext cx="7449608" cy="609600"/>
            </a:xfrm>
            <a:custGeom>
              <a:avLst/>
              <a:gdLst/>
              <a:ahLst/>
              <a:cxnLst/>
              <a:rect l="l" t="t" r="r" b="b"/>
              <a:pathLst>
                <a:path w="7449608" h="609600">
                  <a:moveTo>
                    <a:pt x="7246408" y="0"/>
                  </a:moveTo>
                  <a:lnTo>
                    <a:pt x="0" y="0"/>
                  </a:lnTo>
                  <a:lnTo>
                    <a:pt x="203200" y="609600"/>
                  </a:lnTo>
                  <a:lnTo>
                    <a:pt x="7449608" y="609600"/>
                  </a:lnTo>
                  <a:lnTo>
                    <a:pt x="7246408" y="0"/>
                  </a:lnTo>
                  <a:close/>
                </a:path>
              </a:pathLst>
            </a:custGeom>
            <a:solidFill>
              <a:srgbClr val="E9E1DB"/>
            </a:solidFill>
          </p:spPr>
          <p:txBody>
            <a:bodyPr/>
            <a:lstStyle/>
            <a:p>
              <a:endParaRPr lang="ar-SA"/>
            </a:p>
          </p:txBody>
        </p:sp>
        <p:sp>
          <p:nvSpPr>
            <p:cNvPr id="11" name="TextBox 11"/>
            <p:cNvSpPr txBox="1"/>
            <p:nvPr/>
          </p:nvSpPr>
          <p:spPr>
            <a:xfrm>
              <a:off x="101600" y="-38100"/>
              <a:ext cx="7246408" cy="647700"/>
            </a:xfrm>
            <a:prstGeom prst="rect">
              <a:avLst/>
            </a:prstGeom>
          </p:spPr>
          <p:txBody>
            <a:bodyPr lIns="50800" tIns="50800" rIns="50800" bIns="50800" rtlCol="0" anchor="ctr"/>
            <a:lstStyle/>
            <a:p>
              <a:pPr algn="ctr">
                <a:lnSpc>
                  <a:spcPts val="2659"/>
                </a:lnSpc>
                <a:spcBef>
                  <a:spcPct val="0"/>
                </a:spcBef>
              </a:pPr>
              <a:endParaRPr/>
            </a:p>
          </p:txBody>
        </p:sp>
      </p:grpSp>
      <p:sp>
        <p:nvSpPr>
          <p:cNvPr id="12" name="Freeform 12"/>
          <p:cNvSpPr/>
          <p:nvPr/>
        </p:nvSpPr>
        <p:spPr>
          <a:xfrm>
            <a:off x="1028700" y="3143919"/>
            <a:ext cx="7226506" cy="3613253"/>
          </a:xfrm>
          <a:custGeom>
            <a:avLst/>
            <a:gdLst/>
            <a:ahLst/>
            <a:cxnLst/>
            <a:rect l="l" t="t" r="r" b="b"/>
            <a:pathLst>
              <a:path w="7226506" h="3613253">
                <a:moveTo>
                  <a:pt x="0" y="0"/>
                </a:moveTo>
                <a:lnTo>
                  <a:pt x="7226506" y="0"/>
                </a:lnTo>
                <a:lnTo>
                  <a:pt x="7226506" y="3613253"/>
                </a:lnTo>
                <a:lnTo>
                  <a:pt x="0" y="3613253"/>
                </a:lnTo>
                <a:lnTo>
                  <a:pt x="0" y="0"/>
                </a:lnTo>
                <a:close/>
              </a:path>
            </a:pathLst>
          </a:custGeom>
          <a:blipFill>
            <a:blip r:embed="rId3"/>
            <a:stretch>
              <a:fillRect/>
            </a:stretch>
          </a:blipFill>
        </p:spPr>
        <p:txBody>
          <a:bodyPr/>
          <a:lstStyle/>
          <a:p>
            <a:endParaRPr lang="ar-SA"/>
          </a:p>
        </p:txBody>
      </p:sp>
      <p:sp>
        <p:nvSpPr>
          <p:cNvPr id="13" name="Freeform 13"/>
          <p:cNvSpPr/>
          <p:nvPr/>
        </p:nvSpPr>
        <p:spPr>
          <a:xfrm>
            <a:off x="8462927" y="3975746"/>
            <a:ext cx="9234806" cy="2760700"/>
          </a:xfrm>
          <a:custGeom>
            <a:avLst/>
            <a:gdLst/>
            <a:ahLst/>
            <a:cxnLst/>
            <a:rect l="l" t="t" r="r" b="b"/>
            <a:pathLst>
              <a:path w="9234806" h="2760700">
                <a:moveTo>
                  <a:pt x="0" y="0"/>
                </a:moveTo>
                <a:lnTo>
                  <a:pt x="9234806" y="0"/>
                </a:lnTo>
                <a:lnTo>
                  <a:pt x="9234806" y="2760701"/>
                </a:lnTo>
                <a:lnTo>
                  <a:pt x="0" y="2760701"/>
                </a:lnTo>
                <a:lnTo>
                  <a:pt x="0" y="0"/>
                </a:lnTo>
                <a:close/>
              </a:path>
            </a:pathLst>
          </a:custGeom>
          <a:blipFill>
            <a:blip r:embed="rId4"/>
            <a:stretch>
              <a:fillRect b="-4116"/>
            </a:stretch>
          </a:blipFill>
        </p:spPr>
        <p:txBody>
          <a:bodyPr/>
          <a:lstStyle/>
          <a:p>
            <a:endParaRPr lang="ar-SA"/>
          </a:p>
        </p:txBody>
      </p:sp>
      <p:sp>
        <p:nvSpPr>
          <p:cNvPr id="14" name="TextBox 14"/>
          <p:cNvSpPr txBox="1"/>
          <p:nvPr/>
        </p:nvSpPr>
        <p:spPr>
          <a:xfrm>
            <a:off x="753488" y="904875"/>
            <a:ext cx="13572955" cy="604520"/>
          </a:xfrm>
          <a:prstGeom prst="rect">
            <a:avLst/>
          </a:prstGeom>
        </p:spPr>
        <p:txBody>
          <a:bodyPr lIns="0" tIns="0" rIns="0" bIns="0" rtlCol="0" anchor="t">
            <a:spAutoFit/>
          </a:bodyPr>
          <a:lstStyle/>
          <a:p>
            <a:pPr algn="r">
              <a:lnSpc>
                <a:spcPts val="4480"/>
              </a:lnSpc>
            </a:pPr>
            <a:r>
              <a:rPr lang="en-US" sz="3200">
                <a:solidFill>
                  <a:srgbClr val="E9E1DB"/>
                </a:solidFill>
                <a:latin typeface="Times New Roman"/>
                <a:ea typeface="Times New Roman"/>
                <a:cs typeface="Times New Roman"/>
                <a:sym typeface="Times New Roman"/>
              </a:rPr>
              <a:t>TRANSFORMER ARCHITECTURE UNDERSTANDING:</a:t>
            </a:r>
          </a:p>
        </p:txBody>
      </p:sp>
      <p:sp>
        <p:nvSpPr>
          <p:cNvPr id="15" name="TextBox 15"/>
          <p:cNvSpPr txBox="1"/>
          <p:nvPr/>
        </p:nvSpPr>
        <p:spPr>
          <a:xfrm>
            <a:off x="2325850" y="1957070"/>
            <a:ext cx="13636300" cy="1033781"/>
          </a:xfrm>
          <a:prstGeom prst="rect">
            <a:avLst/>
          </a:prstGeom>
        </p:spPr>
        <p:txBody>
          <a:bodyPr lIns="0" tIns="0" rIns="0" bIns="0" rtlCol="0" anchor="t">
            <a:spAutoFit/>
          </a:bodyPr>
          <a:lstStyle/>
          <a:p>
            <a:pPr algn="ctr" rtl="1">
              <a:lnSpc>
                <a:spcPts val="3919"/>
              </a:lnSpc>
              <a:spcBef>
                <a:spcPct val="0"/>
              </a:spcBef>
            </a:pPr>
            <a:r>
              <a:rPr lang="ar-EG" sz="2799">
                <a:solidFill>
                  <a:srgbClr val="E9E1DB"/>
                </a:solidFill>
                <a:latin typeface="Times New Roman"/>
                <a:ea typeface="Times New Roman"/>
                <a:cs typeface="Times New Roman"/>
                <a:sym typeface="Times New Roman"/>
                <a:rtl/>
              </a:rPr>
              <a:t> </a:t>
            </a:r>
            <a:r>
              <a:rPr lang="en-US" sz="2799">
                <a:solidFill>
                  <a:srgbClr val="E9E1DB"/>
                </a:solidFill>
                <a:latin typeface="Times New Roman"/>
                <a:ea typeface="Times New Roman"/>
                <a:cs typeface="Times New Roman"/>
                <a:sym typeface="Times New Roman"/>
              </a:rPr>
              <a:t>explain the difference between the LLM transformer encoder VS decoder using GitHub to test an actual code</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400235" y="-2280012"/>
            <a:ext cx="21938561" cy="13496146"/>
          </a:xfrm>
          <a:custGeom>
            <a:avLst/>
            <a:gdLst/>
            <a:ahLst/>
            <a:cxnLst/>
            <a:rect l="l" t="t" r="r" b="b"/>
            <a:pathLst>
              <a:path w="21938561" h="13496146">
                <a:moveTo>
                  <a:pt x="0" y="0"/>
                </a:moveTo>
                <a:lnTo>
                  <a:pt x="21938560" y="0"/>
                </a:lnTo>
                <a:lnTo>
                  <a:pt x="21938560" y="13496146"/>
                </a:lnTo>
                <a:lnTo>
                  <a:pt x="0" y="13496146"/>
                </a:lnTo>
                <a:lnTo>
                  <a:pt x="0" y="0"/>
                </a:lnTo>
                <a:close/>
              </a:path>
            </a:pathLst>
          </a:custGeom>
          <a:blipFill>
            <a:blip r:embed="rId2"/>
            <a:stretch>
              <a:fillRect l="-32641" t="-36451" r="-34370" b="-16258"/>
            </a:stretch>
          </a:blipFill>
        </p:spPr>
        <p:txBody>
          <a:bodyPr/>
          <a:lstStyle/>
          <a:p>
            <a:endParaRPr lang="ar-SA"/>
          </a:p>
        </p:txBody>
      </p:sp>
      <p:grpSp>
        <p:nvGrpSpPr>
          <p:cNvPr id="3" name="Group 3"/>
          <p:cNvGrpSpPr/>
          <p:nvPr/>
        </p:nvGrpSpPr>
        <p:grpSpPr>
          <a:xfrm rot="-2088381">
            <a:off x="-654014" y="5935649"/>
            <a:ext cx="7946576" cy="1601596"/>
            <a:chOff x="0" y="0"/>
            <a:chExt cx="3539030" cy="713275"/>
          </a:xfrm>
        </p:grpSpPr>
        <p:sp>
          <p:nvSpPr>
            <p:cNvPr id="4" name="Freeform 4"/>
            <p:cNvSpPr/>
            <p:nvPr/>
          </p:nvSpPr>
          <p:spPr>
            <a:xfrm>
              <a:off x="0" y="0"/>
              <a:ext cx="3539030" cy="713275"/>
            </a:xfrm>
            <a:custGeom>
              <a:avLst/>
              <a:gdLst/>
              <a:ahLst/>
              <a:cxnLst/>
              <a:rect l="l" t="t" r="r" b="b"/>
              <a:pathLst>
                <a:path w="3539030" h="713275">
                  <a:moveTo>
                    <a:pt x="203200" y="0"/>
                  </a:moveTo>
                  <a:lnTo>
                    <a:pt x="3539030" y="0"/>
                  </a:lnTo>
                  <a:lnTo>
                    <a:pt x="3335830" y="713275"/>
                  </a:lnTo>
                  <a:lnTo>
                    <a:pt x="0" y="713275"/>
                  </a:lnTo>
                  <a:lnTo>
                    <a:pt x="203200" y="0"/>
                  </a:lnTo>
                  <a:close/>
                </a:path>
              </a:pathLst>
            </a:custGeom>
            <a:solidFill>
              <a:srgbClr val="66574D"/>
            </a:solidFill>
          </p:spPr>
          <p:txBody>
            <a:bodyPr/>
            <a:lstStyle/>
            <a:p>
              <a:endParaRPr lang="ar-SA"/>
            </a:p>
          </p:txBody>
        </p:sp>
        <p:sp>
          <p:nvSpPr>
            <p:cNvPr id="5" name="TextBox 5"/>
            <p:cNvSpPr txBox="1"/>
            <p:nvPr/>
          </p:nvSpPr>
          <p:spPr>
            <a:xfrm>
              <a:off x="101600" y="-38100"/>
              <a:ext cx="3335830" cy="751375"/>
            </a:xfrm>
            <a:prstGeom prst="rect">
              <a:avLst/>
            </a:prstGeom>
          </p:spPr>
          <p:txBody>
            <a:bodyPr lIns="50800" tIns="50800" rIns="50800" bIns="50800" rtlCol="0" anchor="ctr"/>
            <a:lstStyle/>
            <a:p>
              <a:pPr algn="ctr">
                <a:lnSpc>
                  <a:spcPts val="2659"/>
                </a:lnSpc>
              </a:pPr>
              <a:endParaRPr/>
            </a:p>
          </p:txBody>
        </p:sp>
      </p:grpSp>
      <p:grpSp>
        <p:nvGrpSpPr>
          <p:cNvPr id="6" name="Group 6"/>
          <p:cNvGrpSpPr/>
          <p:nvPr/>
        </p:nvGrpSpPr>
        <p:grpSpPr>
          <a:xfrm>
            <a:off x="-1226391" y="419167"/>
            <a:ext cx="21419231" cy="9086516"/>
            <a:chOff x="0" y="0"/>
            <a:chExt cx="1540308" cy="653433"/>
          </a:xfrm>
        </p:grpSpPr>
        <p:sp>
          <p:nvSpPr>
            <p:cNvPr id="7" name="Freeform 7"/>
            <p:cNvSpPr/>
            <p:nvPr/>
          </p:nvSpPr>
          <p:spPr>
            <a:xfrm>
              <a:off x="0" y="0"/>
              <a:ext cx="1540308" cy="653433"/>
            </a:xfrm>
            <a:custGeom>
              <a:avLst/>
              <a:gdLst/>
              <a:ahLst/>
              <a:cxnLst/>
              <a:rect l="l" t="t" r="r" b="b"/>
              <a:pathLst>
                <a:path w="1540308" h="653433">
                  <a:moveTo>
                    <a:pt x="1337108" y="0"/>
                  </a:moveTo>
                  <a:lnTo>
                    <a:pt x="0" y="0"/>
                  </a:lnTo>
                  <a:lnTo>
                    <a:pt x="203200" y="653433"/>
                  </a:lnTo>
                  <a:lnTo>
                    <a:pt x="1540308" y="653433"/>
                  </a:lnTo>
                  <a:lnTo>
                    <a:pt x="1337108" y="0"/>
                  </a:lnTo>
                  <a:close/>
                </a:path>
              </a:pathLst>
            </a:custGeom>
            <a:solidFill>
              <a:srgbClr val="3D3735"/>
            </a:solidFill>
          </p:spPr>
          <p:txBody>
            <a:bodyPr/>
            <a:lstStyle/>
            <a:p>
              <a:endParaRPr lang="ar-SA"/>
            </a:p>
          </p:txBody>
        </p:sp>
        <p:sp>
          <p:nvSpPr>
            <p:cNvPr id="8" name="TextBox 8"/>
            <p:cNvSpPr txBox="1"/>
            <p:nvPr/>
          </p:nvSpPr>
          <p:spPr>
            <a:xfrm>
              <a:off x="101600" y="-38100"/>
              <a:ext cx="1337108" cy="691533"/>
            </a:xfrm>
            <a:prstGeom prst="rect">
              <a:avLst/>
            </a:prstGeom>
          </p:spPr>
          <p:txBody>
            <a:bodyPr lIns="50800" tIns="50800" rIns="50800" bIns="50800" rtlCol="0" anchor="ctr"/>
            <a:lstStyle/>
            <a:p>
              <a:pPr algn="ctr">
                <a:lnSpc>
                  <a:spcPts val="2659"/>
                </a:lnSpc>
                <a:spcBef>
                  <a:spcPct val="0"/>
                </a:spcBef>
              </a:pPr>
              <a:endParaRPr/>
            </a:p>
          </p:txBody>
        </p:sp>
      </p:grpSp>
      <p:grpSp>
        <p:nvGrpSpPr>
          <p:cNvPr id="9" name="Group 9"/>
          <p:cNvGrpSpPr/>
          <p:nvPr/>
        </p:nvGrpSpPr>
        <p:grpSpPr>
          <a:xfrm>
            <a:off x="0" y="8107296"/>
            <a:ext cx="18998529" cy="1554646"/>
            <a:chOff x="0" y="0"/>
            <a:chExt cx="7449608" cy="609600"/>
          </a:xfrm>
        </p:grpSpPr>
        <p:sp>
          <p:nvSpPr>
            <p:cNvPr id="10" name="Freeform 10"/>
            <p:cNvSpPr/>
            <p:nvPr/>
          </p:nvSpPr>
          <p:spPr>
            <a:xfrm>
              <a:off x="0" y="0"/>
              <a:ext cx="7449608" cy="609600"/>
            </a:xfrm>
            <a:custGeom>
              <a:avLst/>
              <a:gdLst/>
              <a:ahLst/>
              <a:cxnLst/>
              <a:rect l="l" t="t" r="r" b="b"/>
              <a:pathLst>
                <a:path w="7449608" h="609600">
                  <a:moveTo>
                    <a:pt x="7246408" y="0"/>
                  </a:moveTo>
                  <a:lnTo>
                    <a:pt x="0" y="0"/>
                  </a:lnTo>
                  <a:lnTo>
                    <a:pt x="203200" y="609600"/>
                  </a:lnTo>
                  <a:lnTo>
                    <a:pt x="7449608" y="609600"/>
                  </a:lnTo>
                  <a:lnTo>
                    <a:pt x="7246408" y="0"/>
                  </a:lnTo>
                  <a:close/>
                </a:path>
              </a:pathLst>
            </a:custGeom>
            <a:solidFill>
              <a:srgbClr val="E9E1DB"/>
            </a:solidFill>
          </p:spPr>
          <p:txBody>
            <a:bodyPr/>
            <a:lstStyle/>
            <a:p>
              <a:endParaRPr lang="ar-SA"/>
            </a:p>
          </p:txBody>
        </p:sp>
        <p:sp>
          <p:nvSpPr>
            <p:cNvPr id="11" name="TextBox 11"/>
            <p:cNvSpPr txBox="1"/>
            <p:nvPr/>
          </p:nvSpPr>
          <p:spPr>
            <a:xfrm>
              <a:off x="101600" y="-38100"/>
              <a:ext cx="7246408" cy="647700"/>
            </a:xfrm>
            <a:prstGeom prst="rect">
              <a:avLst/>
            </a:prstGeom>
          </p:spPr>
          <p:txBody>
            <a:bodyPr lIns="50800" tIns="50800" rIns="50800" bIns="50800" rtlCol="0" anchor="ctr"/>
            <a:lstStyle/>
            <a:p>
              <a:pPr algn="ctr">
                <a:lnSpc>
                  <a:spcPts val="2659"/>
                </a:lnSpc>
                <a:spcBef>
                  <a:spcPct val="0"/>
                </a:spcBef>
              </a:pPr>
              <a:endParaRPr/>
            </a:p>
          </p:txBody>
        </p:sp>
      </p:grpSp>
      <p:sp>
        <p:nvSpPr>
          <p:cNvPr id="12" name="Freeform 12"/>
          <p:cNvSpPr/>
          <p:nvPr/>
        </p:nvSpPr>
        <p:spPr>
          <a:xfrm>
            <a:off x="259108" y="2701150"/>
            <a:ext cx="11301259" cy="5113820"/>
          </a:xfrm>
          <a:custGeom>
            <a:avLst/>
            <a:gdLst/>
            <a:ahLst/>
            <a:cxnLst/>
            <a:rect l="l" t="t" r="r" b="b"/>
            <a:pathLst>
              <a:path w="11301259" h="5113820">
                <a:moveTo>
                  <a:pt x="0" y="0"/>
                </a:moveTo>
                <a:lnTo>
                  <a:pt x="11301258" y="0"/>
                </a:lnTo>
                <a:lnTo>
                  <a:pt x="11301258" y="5113820"/>
                </a:lnTo>
                <a:lnTo>
                  <a:pt x="0" y="5113820"/>
                </a:lnTo>
                <a:lnTo>
                  <a:pt x="0" y="0"/>
                </a:lnTo>
                <a:close/>
              </a:path>
            </a:pathLst>
          </a:custGeom>
          <a:blipFill>
            <a:blip r:embed="rId3"/>
            <a:stretch>
              <a:fillRect/>
            </a:stretch>
          </a:blipFill>
        </p:spPr>
        <p:txBody>
          <a:bodyPr/>
          <a:lstStyle/>
          <a:p>
            <a:endParaRPr lang="ar-SA"/>
          </a:p>
        </p:txBody>
      </p:sp>
      <p:sp>
        <p:nvSpPr>
          <p:cNvPr id="13" name="TextBox 13"/>
          <p:cNvSpPr txBox="1"/>
          <p:nvPr/>
        </p:nvSpPr>
        <p:spPr>
          <a:xfrm>
            <a:off x="753488" y="904875"/>
            <a:ext cx="13572955" cy="1166495"/>
          </a:xfrm>
          <a:prstGeom prst="rect">
            <a:avLst/>
          </a:prstGeom>
        </p:spPr>
        <p:txBody>
          <a:bodyPr lIns="0" tIns="0" rIns="0" bIns="0" rtlCol="0" anchor="t">
            <a:spAutoFit/>
          </a:bodyPr>
          <a:lstStyle/>
          <a:p>
            <a:pPr algn="r">
              <a:lnSpc>
                <a:spcPts val="4480"/>
              </a:lnSpc>
            </a:pPr>
            <a:r>
              <a:rPr lang="en-US" sz="3200">
                <a:solidFill>
                  <a:srgbClr val="E9E1DB"/>
                </a:solidFill>
                <a:latin typeface="Times New Roman"/>
                <a:ea typeface="Times New Roman"/>
                <a:cs typeface="Times New Roman"/>
                <a:sym typeface="Times New Roman"/>
              </a:rPr>
              <a:t>GENERATIVE AI AND LARGE LANGUAGE MODELS (LLMS)</a:t>
            </a:r>
          </a:p>
          <a:p>
            <a:pPr algn="r">
              <a:lnSpc>
                <a:spcPts val="4480"/>
              </a:lnSpc>
            </a:pPr>
            <a:endParaRPr lang="en-US" sz="3200">
              <a:solidFill>
                <a:srgbClr val="E9E1DB"/>
              </a:solidFill>
              <a:latin typeface="Times New Roman"/>
              <a:ea typeface="Times New Roman"/>
              <a:cs typeface="Times New Roman"/>
              <a:sym typeface="Times New Roman"/>
            </a:endParaRPr>
          </a:p>
        </p:txBody>
      </p:sp>
      <p:sp>
        <p:nvSpPr>
          <p:cNvPr id="14" name="TextBox 14"/>
          <p:cNvSpPr txBox="1"/>
          <p:nvPr/>
        </p:nvSpPr>
        <p:spPr>
          <a:xfrm>
            <a:off x="2325850" y="1957070"/>
            <a:ext cx="13636300" cy="538481"/>
          </a:xfrm>
          <a:prstGeom prst="rect">
            <a:avLst/>
          </a:prstGeom>
        </p:spPr>
        <p:txBody>
          <a:bodyPr lIns="0" tIns="0" rIns="0" bIns="0" rtlCol="0" anchor="t">
            <a:spAutoFit/>
          </a:bodyPr>
          <a:lstStyle/>
          <a:p>
            <a:pPr algn="ctr" rtl="1">
              <a:lnSpc>
                <a:spcPts val="3919"/>
              </a:lnSpc>
              <a:spcBef>
                <a:spcPct val="0"/>
              </a:spcBef>
            </a:pPr>
            <a:r>
              <a:rPr lang="en-US" sz="2799">
                <a:solidFill>
                  <a:srgbClr val="E9E1DB"/>
                </a:solidFill>
                <a:latin typeface="Times New Roman"/>
                <a:ea typeface="Times New Roman"/>
                <a:cs typeface="Times New Roman"/>
                <a:sym typeface="Times New Roman"/>
              </a:rPr>
              <a:t>Pre-training  VS fine-tuning</a:t>
            </a:r>
            <a:r>
              <a:rPr lang="ar-EG" sz="2799">
                <a:solidFill>
                  <a:srgbClr val="E9E1DB"/>
                </a:solidFill>
                <a:latin typeface="Times New Roman"/>
                <a:ea typeface="Times New Roman"/>
                <a:cs typeface="Times New Roman"/>
                <a:sym typeface="Times New Roman"/>
                <a:rtl/>
              </a:rPr>
              <a:t> </a:t>
            </a:r>
          </a:p>
        </p:txBody>
      </p:sp>
      <p:sp>
        <p:nvSpPr>
          <p:cNvPr id="15" name="Freeform 12">
            <a:extLst>
              <a:ext uri="{FF2B5EF4-FFF2-40B4-BE49-F238E27FC236}">
                <a16:creationId xmlns:a16="http://schemas.microsoft.com/office/drawing/2014/main" id="{974EB532-592E-0E9D-538C-C7D95C9A0853}"/>
              </a:ext>
            </a:extLst>
          </p:cNvPr>
          <p:cNvSpPr/>
          <p:nvPr/>
        </p:nvSpPr>
        <p:spPr>
          <a:xfrm>
            <a:off x="11767341" y="3290988"/>
            <a:ext cx="6375392" cy="4506010"/>
          </a:xfrm>
          <a:custGeom>
            <a:avLst/>
            <a:gdLst/>
            <a:ahLst/>
            <a:cxnLst/>
            <a:rect l="l" t="t" r="r" b="b"/>
            <a:pathLst>
              <a:path w="7315591" h="4956313">
                <a:moveTo>
                  <a:pt x="0" y="0"/>
                </a:moveTo>
                <a:lnTo>
                  <a:pt x="7315591" y="0"/>
                </a:lnTo>
                <a:lnTo>
                  <a:pt x="7315591" y="4956313"/>
                </a:lnTo>
                <a:lnTo>
                  <a:pt x="0" y="4956313"/>
                </a:lnTo>
                <a:lnTo>
                  <a:pt x="0" y="0"/>
                </a:lnTo>
                <a:close/>
              </a:path>
            </a:pathLst>
          </a:custGeom>
          <a:blipFill>
            <a:blip r:embed="rId4"/>
            <a:stretch>
              <a:fillRect/>
            </a:stretch>
          </a:blipFill>
        </p:spPr>
        <p:txBody>
          <a:bodyPr/>
          <a:lstStyle/>
          <a:p>
            <a:endParaRPr lang="ar-SA"/>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400235" y="-2280012"/>
            <a:ext cx="21938561" cy="13496146"/>
          </a:xfrm>
          <a:custGeom>
            <a:avLst/>
            <a:gdLst/>
            <a:ahLst/>
            <a:cxnLst/>
            <a:rect l="l" t="t" r="r" b="b"/>
            <a:pathLst>
              <a:path w="21938561" h="13496146">
                <a:moveTo>
                  <a:pt x="0" y="0"/>
                </a:moveTo>
                <a:lnTo>
                  <a:pt x="21938560" y="0"/>
                </a:lnTo>
                <a:lnTo>
                  <a:pt x="21938560" y="13496146"/>
                </a:lnTo>
                <a:lnTo>
                  <a:pt x="0" y="13496146"/>
                </a:lnTo>
                <a:lnTo>
                  <a:pt x="0" y="0"/>
                </a:lnTo>
                <a:close/>
              </a:path>
            </a:pathLst>
          </a:custGeom>
          <a:blipFill>
            <a:blip r:embed="rId2"/>
            <a:stretch>
              <a:fillRect l="-32641" t="-36451" r="-34370" b="-16258"/>
            </a:stretch>
          </a:blipFill>
        </p:spPr>
        <p:txBody>
          <a:bodyPr/>
          <a:lstStyle/>
          <a:p>
            <a:endParaRPr lang="ar-SA"/>
          </a:p>
        </p:txBody>
      </p:sp>
      <p:grpSp>
        <p:nvGrpSpPr>
          <p:cNvPr id="3" name="Group 3"/>
          <p:cNvGrpSpPr/>
          <p:nvPr/>
        </p:nvGrpSpPr>
        <p:grpSpPr>
          <a:xfrm rot="-2088381">
            <a:off x="-654014" y="5935649"/>
            <a:ext cx="7946576" cy="1601596"/>
            <a:chOff x="0" y="0"/>
            <a:chExt cx="3539030" cy="713275"/>
          </a:xfrm>
        </p:grpSpPr>
        <p:sp>
          <p:nvSpPr>
            <p:cNvPr id="4" name="Freeform 4"/>
            <p:cNvSpPr/>
            <p:nvPr/>
          </p:nvSpPr>
          <p:spPr>
            <a:xfrm>
              <a:off x="0" y="0"/>
              <a:ext cx="3539030" cy="713275"/>
            </a:xfrm>
            <a:custGeom>
              <a:avLst/>
              <a:gdLst/>
              <a:ahLst/>
              <a:cxnLst/>
              <a:rect l="l" t="t" r="r" b="b"/>
              <a:pathLst>
                <a:path w="3539030" h="713275">
                  <a:moveTo>
                    <a:pt x="203200" y="0"/>
                  </a:moveTo>
                  <a:lnTo>
                    <a:pt x="3539030" y="0"/>
                  </a:lnTo>
                  <a:lnTo>
                    <a:pt x="3335830" y="713275"/>
                  </a:lnTo>
                  <a:lnTo>
                    <a:pt x="0" y="713275"/>
                  </a:lnTo>
                  <a:lnTo>
                    <a:pt x="203200" y="0"/>
                  </a:lnTo>
                  <a:close/>
                </a:path>
              </a:pathLst>
            </a:custGeom>
            <a:solidFill>
              <a:srgbClr val="66574D"/>
            </a:solidFill>
          </p:spPr>
          <p:txBody>
            <a:bodyPr/>
            <a:lstStyle/>
            <a:p>
              <a:endParaRPr lang="ar-SA"/>
            </a:p>
          </p:txBody>
        </p:sp>
        <p:sp>
          <p:nvSpPr>
            <p:cNvPr id="5" name="TextBox 5"/>
            <p:cNvSpPr txBox="1"/>
            <p:nvPr/>
          </p:nvSpPr>
          <p:spPr>
            <a:xfrm>
              <a:off x="101600" y="-38100"/>
              <a:ext cx="3335830" cy="751375"/>
            </a:xfrm>
            <a:prstGeom prst="rect">
              <a:avLst/>
            </a:prstGeom>
          </p:spPr>
          <p:txBody>
            <a:bodyPr lIns="50800" tIns="50800" rIns="50800" bIns="50800" rtlCol="0" anchor="ctr"/>
            <a:lstStyle/>
            <a:p>
              <a:pPr algn="ctr">
                <a:lnSpc>
                  <a:spcPts val="2659"/>
                </a:lnSpc>
              </a:pPr>
              <a:endParaRPr/>
            </a:p>
          </p:txBody>
        </p:sp>
      </p:grpSp>
      <p:grpSp>
        <p:nvGrpSpPr>
          <p:cNvPr id="6" name="Group 6"/>
          <p:cNvGrpSpPr/>
          <p:nvPr/>
        </p:nvGrpSpPr>
        <p:grpSpPr>
          <a:xfrm>
            <a:off x="-1226391" y="419167"/>
            <a:ext cx="21419231" cy="9086516"/>
            <a:chOff x="0" y="0"/>
            <a:chExt cx="1540308" cy="653433"/>
          </a:xfrm>
        </p:grpSpPr>
        <p:sp>
          <p:nvSpPr>
            <p:cNvPr id="7" name="Freeform 7"/>
            <p:cNvSpPr/>
            <p:nvPr/>
          </p:nvSpPr>
          <p:spPr>
            <a:xfrm>
              <a:off x="0" y="0"/>
              <a:ext cx="1540308" cy="653433"/>
            </a:xfrm>
            <a:custGeom>
              <a:avLst/>
              <a:gdLst/>
              <a:ahLst/>
              <a:cxnLst/>
              <a:rect l="l" t="t" r="r" b="b"/>
              <a:pathLst>
                <a:path w="1540308" h="653433">
                  <a:moveTo>
                    <a:pt x="1337108" y="0"/>
                  </a:moveTo>
                  <a:lnTo>
                    <a:pt x="0" y="0"/>
                  </a:lnTo>
                  <a:lnTo>
                    <a:pt x="203200" y="653433"/>
                  </a:lnTo>
                  <a:lnTo>
                    <a:pt x="1540308" y="653433"/>
                  </a:lnTo>
                  <a:lnTo>
                    <a:pt x="1337108" y="0"/>
                  </a:lnTo>
                  <a:close/>
                </a:path>
              </a:pathLst>
            </a:custGeom>
            <a:solidFill>
              <a:srgbClr val="3D3735"/>
            </a:solidFill>
          </p:spPr>
          <p:txBody>
            <a:bodyPr/>
            <a:lstStyle/>
            <a:p>
              <a:endParaRPr lang="ar-SA"/>
            </a:p>
          </p:txBody>
        </p:sp>
        <p:sp>
          <p:nvSpPr>
            <p:cNvPr id="8" name="TextBox 8"/>
            <p:cNvSpPr txBox="1"/>
            <p:nvPr/>
          </p:nvSpPr>
          <p:spPr>
            <a:xfrm>
              <a:off x="101600" y="-38100"/>
              <a:ext cx="1337108" cy="691533"/>
            </a:xfrm>
            <a:prstGeom prst="rect">
              <a:avLst/>
            </a:prstGeom>
          </p:spPr>
          <p:txBody>
            <a:bodyPr lIns="50800" tIns="50800" rIns="50800" bIns="50800" rtlCol="0" anchor="ctr"/>
            <a:lstStyle/>
            <a:p>
              <a:pPr algn="ctr">
                <a:lnSpc>
                  <a:spcPts val="2659"/>
                </a:lnSpc>
                <a:spcBef>
                  <a:spcPct val="0"/>
                </a:spcBef>
              </a:pPr>
              <a:endParaRPr/>
            </a:p>
          </p:txBody>
        </p:sp>
      </p:grpSp>
      <p:grpSp>
        <p:nvGrpSpPr>
          <p:cNvPr id="9" name="Group 9"/>
          <p:cNvGrpSpPr/>
          <p:nvPr/>
        </p:nvGrpSpPr>
        <p:grpSpPr>
          <a:xfrm>
            <a:off x="0" y="8107296"/>
            <a:ext cx="18998529" cy="1554646"/>
            <a:chOff x="0" y="0"/>
            <a:chExt cx="7449608" cy="609600"/>
          </a:xfrm>
        </p:grpSpPr>
        <p:sp>
          <p:nvSpPr>
            <p:cNvPr id="10" name="Freeform 10"/>
            <p:cNvSpPr/>
            <p:nvPr/>
          </p:nvSpPr>
          <p:spPr>
            <a:xfrm>
              <a:off x="0" y="0"/>
              <a:ext cx="7449608" cy="609600"/>
            </a:xfrm>
            <a:custGeom>
              <a:avLst/>
              <a:gdLst/>
              <a:ahLst/>
              <a:cxnLst/>
              <a:rect l="l" t="t" r="r" b="b"/>
              <a:pathLst>
                <a:path w="7449608" h="609600">
                  <a:moveTo>
                    <a:pt x="7246408" y="0"/>
                  </a:moveTo>
                  <a:lnTo>
                    <a:pt x="0" y="0"/>
                  </a:lnTo>
                  <a:lnTo>
                    <a:pt x="203200" y="609600"/>
                  </a:lnTo>
                  <a:lnTo>
                    <a:pt x="7449608" y="609600"/>
                  </a:lnTo>
                  <a:lnTo>
                    <a:pt x="7246408" y="0"/>
                  </a:lnTo>
                  <a:close/>
                </a:path>
              </a:pathLst>
            </a:custGeom>
            <a:solidFill>
              <a:srgbClr val="E9E1DB"/>
            </a:solidFill>
          </p:spPr>
          <p:txBody>
            <a:bodyPr/>
            <a:lstStyle/>
            <a:p>
              <a:endParaRPr lang="ar-SA"/>
            </a:p>
          </p:txBody>
        </p:sp>
        <p:sp>
          <p:nvSpPr>
            <p:cNvPr id="11" name="TextBox 11"/>
            <p:cNvSpPr txBox="1"/>
            <p:nvPr/>
          </p:nvSpPr>
          <p:spPr>
            <a:xfrm>
              <a:off x="101600" y="-38100"/>
              <a:ext cx="7246408" cy="647700"/>
            </a:xfrm>
            <a:prstGeom prst="rect">
              <a:avLst/>
            </a:prstGeom>
          </p:spPr>
          <p:txBody>
            <a:bodyPr lIns="50800" tIns="50800" rIns="50800" bIns="50800" rtlCol="0" anchor="ctr"/>
            <a:lstStyle/>
            <a:p>
              <a:pPr algn="ctr">
                <a:lnSpc>
                  <a:spcPts val="2659"/>
                </a:lnSpc>
                <a:spcBef>
                  <a:spcPct val="0"/>
                </a:spcBef>
              </a:pPr>
              <a:endParaRPr/>
            </a:p>
          </p:txBody>
        </p:sp>
      </p:grpSp>
      <p:sp>
        <p:nvSpPr>
          <p:cNvPr id="12" name="Freeform 12"/>
          <p:cNvSpPr/>
          <p:nvPr/>
        </p:nvSpPr>
        <p:spPr>
          <a:xfrm>
            <a:off x="2093825" y="3026411"/>
            <a:ext cx="5210017" cy="4625060"/>
          </a:xfrm>
          <a:custGeom>
            <a:avLst/>
            <a:gdLst/>
            <a:ahLst/>
            <a:cxnLst/>
            <a:rect l="l" t="t" r="r" b="b"/>
            <a:pathLst>
              <a:path w="5210017" h="4625060">
                <a:moveTo>
                  <a:pt x="0" y="0"/>
                </a:moveTo>
                <a:lnTo>
                  <a:pt x="5210017" y="0"/>
                </a:lnTo>
                <a:lnTo>
                  <a:pt x="5210017" y="4625060"/>
                </a:lnTo>
                <a:lnTo>
                  <a:pt x="0" y="4625060"/>
                </a:lnTo>
                <a:lnTo>
                  <a:pt x="0" y="0"/>
                </a:lnTo>
                <a:close/>
              </a:path>
            </a:pathLst>
          </a:custGeom>
          <a:blipFill>
            <a:blip r:embed="rId3"/>
            <a:stretch>
              <a:fillRect/>
            </a:stretch>
          </a:blipFill>
        </p:spPr>
        <p:txBody>
          <a:bodyPr/>
          <a:lstStyle/>
          <a:p>
            <a:endParaRPr lang="ar-SA"/>
          </a:p>
        </p:txBody>
      </p:sp>
      <p:sp>
        <p:nvSpPr>
          <p:cNvPr id="13" name="Freeform 13"/>
          <p:cNvSpPr/>
          <p:nvPr/>
        </p:nvSpPr>
        <p:spPr>
          <a:xfrm>
            <a:off x="2179918" y="4904386"/>
            <a:ext cx="4374728" cy="478228"/>
          </a:xfrm>
          <a:custGeom>
            <a:avLst/>
            <a:gdLst/>
            <a:ahLst/>
            <a:cxnLst/>
            <a:rect l="l" t="t" r="r" b="b"/>
            <a:pathLst>
              <a:path w="4374728" h="478228">
                <a:moveTo>
                  <a:pt x="0" y="0"/>
                </a:moveTo>
                <a:lnTo>
                  <a:pt x="4374728" y="0"/>
                </a:lnTo>
                <a:lnTo>
                  <a:pt x="4374728" y="478228"/>
                </a:lnTo>
                <a:lnTo>
                  <a:pt x="0" y="478228"/>
                </a:lnTo>
                <a:lnTo>
                  <a:pt x="0" y="0"/>
                </a:lnTo>
                <a:close/>
              </a:path>
            </a:pathLst>
          </a:custGeom>
          <a:blipFill>
            <a:blip r:embed="rId4"/>
            <a:stretch>
              <a:fillRect t="-99636" r="-31014" b="-102025"/>
            </a:stretch>
          </a:blipFill>
        </p:spPr>
        <p:txBody>
          <a:bodyPr/>
          <a:lstStyle/>
          <a:p>
            <a:endParaRPr lang="ar-SA"/>
          </a:p>
        </p:txBody>
      </p:sp>
      <p:sp>
        <p:nvSpPr>
          <p:cNvPr id="14" name="Freeform 14"/>
          <p:cNvSpPr/>
          <p:nvPr/>
        </p:nvSpPr>
        <p:spPr>
          <a:xfrm>
            <a:off x="8414690" y="3026411"/>
            <a:ext cx="6409259" cy="4625060"/>
          </a:xfrm>
          <a:custGeom>
            <a:avLst/>
            <a:gdLst/>
            <a:ahLst/>
            <a:cxnLst/>
            <a:rect l="l" t="t" r="r" b="b"/>
            <a:pathLst>
              <a:path w="6409259" h="4625060">
                <a:moveTo>
                  <a:pt x="0" y="0"/>
                </a:moveTo>
                <a:lnTo>
                  <a:pt x="6409259" y="0"/>
                </a:lnTo>
                <a:lnTo>
                  <a:pt x="6409259" y="4625060"/>
                </a:lnTo>
                <a:lnTo>
                  <a:pt x="0" y="4625060"/>
                </a:lnTo>
                <a:lnTo>
                  <a:pt x="0" y="0"/>
                </a:lnTo>
                <a:close/>
              </a:path>
            </a:pathLst>
          </a:custGeom>
          <a:blipFill>
            <a:blip r:embed="rId5"/>
            <a:stretch>
              <a:fillRect/>
            </a:stretch>
          </a:blipFill>
        </p:spPr>
        <p:txBody>
          <a:bodyPr/>
          <a:lstStyle/>
          <a:p>
            <a:endParaRPr lang="ar-SA"/>
          </a:p>
        </p:txBody>
      </p:sp>
      <p:sp>
        <p:nvSpPr>
          <p:cNvPr id="15" name="Freeform 15"/>
          <p:cNvSpPr/>
          <p:nvPr/>
        </p:nvSpPr>
        <p:spPr>
          <a:xfrm>
            <a:off x="10251280" y="3895197"/>
            <a:ext cx="1264843" cy="1364628"/>
          </a:xfrm>
          <a:custGeom>
            <a:avLst/>
            <a:gdLst/>
            <a:ahLst/>
            <a:cxnLst/>
            <a:rect l="l" t="t" r="r" b="b"/>
            <a:pathLst>
              <a:path w="1264843" h="1364628">
                <a:moveTo>
                  <a:pt x="0" y="0"/>
                </a:moveTo>
                <a:lnTo>
                  <a:pt x="1264843" y="0"/>
                </a:lnTo>
                <a:lnTo>
                  <a:pt x="1264843" y="1364628"/>
                </a:lnTo>
                <a:lnTo>
                  <a:pt x="0" y="1364628"/>
                </a:lnTo>
                <a:lnTo>
                  <a:pt x="0" y="0"/>
                </a:lnTo>
                <a:close/>
              </a:path>
            </a:pathLst>
          </a:custGeom>
          <a:blipFill>
            <a:blip r:embed="rId6"/>
            <a:stretch>
              <a:fillRect l="-127824" b="-5582"/>
            </a:stretch>
          </a:blipFill>
        </p:spPr>
        <p:txBody>
          <a:bodyPr/>
          <a:lstStyle/>
          <a:p>
            <a:endParaRPr lang="ar-SA"/>
          </a:p>
        </p:txBody>
      </p:sp>
      <p:sp>
        <p:nvSpPr>
          <p:cNvPr id="16" name="Freeform 16"/>
          <p:cNvSpPr/>
          <p:nvPr/>
        </p:nvSpPr>
        <p:spPr>
          <a:xfrm>
            <a:off x="8414690" y="5090344"/>
            <a:ext cx="3204630" cy="338961"/>
          </a:xfrm>
          <a:custGeom>
            <a:avLst/>
            <a:gdLst/>
            <a:ahLst/>
            <a:cxnLst/>
            <a:rect l="l" t="t" r="r" b="b"/>
            <a:pathLst>
              <a:path w="3204630" h="338961">
                <a:moveTo>
                  <a:pt x="0" y="0"/>
                </a:moveTo>
                <a:lnTo>
                  <a:pt x="3204630" y="0"/>
                </a:lnTo>
                <a:lnTo>
                  <a:pt x="3204630" y="338961"/>
                </a:lnTo>
                <a:lnTo>
                  <a:pt x="0" y="338961"/>
                </a:lnTo>
                <a:lnTo>
                  <a:pt x="0" y="0"/>
                </a:lnTo>
                <a:close/>
              </a:path>
            </a:pathLst>
          </a:custGeom>
          <a:blipFill>
            <a:blip r:embed="rId7"/>
            <a:stretch>
              <a:fillRect t="-45215" r="-27225" b="-157696"/>
            </a:stretch>
          </a:blipFill>
        </p:spPr>
        <p:txBody>
          <a:bodyPr/>
          <a:lstStyle/>
          <a:p>
            <a:endParaRPr lang="ar-SA"/>
          </a:p>
        </p:txBody>
      </p:sp>
      <p:sp>
        <p:nvSpPr>
          <p:cNvPr id="17" name="TextBox 17"/>
          <p:cNvSpPr txBox="1"/>
          <p:nvPr/>
        </p:nvSpPr>
        <p:spPr>
          <a:xfrm>
            <a:off x="753488" y="904875"/>
            <a:ext cx="13572955" cy="1166495"/>
          </a:xfrm>
          <a:prstGeom prst="rect">
            <a:avLst/>
          </a:prstGeom>
        </p:spPr>
        <p:txBody>
          <a:bodyPr lIns="0" tIns="0" rIns="0" bIns="0" rtlCol="0" anchor="t">
            <a:spAutoFit/>
          </a:bodyPr>
          <a:lstStyle/>
          <a:p>
            <a:pPr algn="r">
              <a:lnSpc>
                <a:spcPts val="4480"/>
              </a:lnSpc>
            </a:pPr>
            <a:r>
              <a:rPr lang="en-US" sz="3200">
                <a:solidFill>
                  <a:srgbClr val="E9E1DB"/>
                </a:solidFill>
                <a:latin typeface="Times New Roman"/>
                <a:ea typeface="Times New Roman"/>
                <a:cs typeface="Times New Roman"/>
                <a:sym typeface="Times New Roman"/>
              </a:rPr>
              <a:t>GENERATIVE AI AND LARGE LANGUAGE MODELS (LLMS)</a:t>
            </a:r>
          </a:p>
          <a:p>
            <a:pPr algn="r">
              <a:lnSpc>
                <a:spcPts val="4480"/>
              </a:lnSpc>
            </a:pPr>
            <a:endParaRPr lang="en-US" sz="3200">
              <a:solidFill>
                <a:srgbClr val="E9E1DB"/>
              </a:solidFill>
              <a:latin typeface="Times New Roman"/>
              <a:ea typeface="Times New Roman"/>
              <a:cs typeface="Times New Roman"/>
              <a:sym typeface="Times New Roman"/>
            </a:endParaRPr>
          </a:p>
        </p:txBody>
      </p:sp>
      <p:sp>
        <p:nvSpPr>
          <p:cNvPr id="18" name="TextBox 18"/>
          <p:cNvSpPr txBox="1"/>
          <p:nvPr/>
        </p:nvSpPr>
        <p:spPr>
          <a:xfrm>
            <a:off x="3319274" y="1957070"/>
            <a:ext cx="10575255" cy="1069341"/>
          </a:xfrm>
          <a:prstGeom prst="rect">
            <a:avLst/>
          </a:prstGeom>
        </p:spPr>
        <p:txBody>
          <a:bodyPr lIns="0" tIns="0" rIns="0" bIns="0" rtlCol="0" anchor="t">
            <a:spAutoFit/>
          </a:bodyPr>
          <a:lstStyle/>
          <a:p>
            <a:pPr algn="ctr">
              <a:lnSpc>
                <a:spcPts val="4059"/>
              </a:lnSpc>
              <a:spcBef>
                <a:spcPct val="0"/>
              </a:spcBef>
            </a:pPr>
            <a:r>
              <a:rPr lang="en-US" sz="2899">
                <a:solidFill>
                  <a:srgbClr val="E9E1DB"/>
                </a:solidFill>
                <a:latin typeface="Times New Roman"/>
                <a:ea typeface="Times New Roman"/>
                <a:cs typeface="Times New Roman"/>
                <a:sym typeface="Times New Roman"/>
              </a:rPr>
              <a:t>Use the OpenAl API to create a simple application &amp; Try invoking content in two languages </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400235" y="-2280012"/>
            <a:ext cx="21938561" cy="13496146"/>
          </a:xfrm>
          <a:custGeom>
            <a:avLst/>
            <a:gdLst/>
            <a:ahLst/>
            <a:cxnLst/>
            <a:rect l="l" t="t" r="r" b="b"/>
            <a:pathLst>
              <a:path w="21938561" h="13496146">
                <a:moveTo>
                  <a:pt x="0" y="0"/>
                </a:moveTo>
                <a:lnTo>
                  <a:pt x="21938560" y="0"/>
                </a:lnTo>
                <a:lnTo>
                  <a:pt x="21938560" y="13496146"/>
                </a:lnTo>
                <a:lnTo>
                  <a:pt x="0" y="13496146"/>
                </a:lnTo>
                <a:lnTo>
                  <a:pt x="0" y="0"/>
                </a:lnTo>
                <a:close/>
              </a:path>
            </a:pathLst>
          </a:custGeom>
          <a:blipFill>
            <a:blip r:embed="rId2"/>
            <a:stretch>
              <a:fillRect l="-32641" t="-36451" r="-34370" b="-16258"/>
            </a:stretch>
          </a:blipFill>
        </p:spPr>
        <p:txBody>
          <a:bodyPr/>
          <a:lstStyle/>
          <a:p>
            <a:endParaRPr lang="ar-SA"/>
          </a:p>
        </p:txBody>
      </p:sp>
      <p:grpSp>
        <p:nvGrpSpPr>
          <p:cNvPr id="3" name="Group 3"/>
          <p:cNvGrpSpPr/>
          <p:nvPr/>
        </p:nvGrpSpPr>
        <p:grpSpPr>
          <a:xfrm rot="-2088381">
            <a:off x="-654014" y="5935649"/>
            <a:ext cx="7946576" cy="1601596"/>
            <a:chOff x="0" y="0"/>
            <a:chExt cx="3539030" cy="713275"/>
          </a:xfrm>
        </p:grpSpPr>
        <p:sp>
          <p:nvSpPr>
            <p:cNvPr id="4" name="Freeform 4"/>
            <p:cNvSpPr/>
            <p:nvPr/>
          </p:nvSpPr>
          <p:spPr>
            <a:xfrm>
              <a:off x="0" y="0"/>
              <a:ext cx="3539030" cy="713275"/>
            </a:xfrm>
            <a:custGeom>
              <a:avLst/>
              <a:gdLst/>
              <a:ahLst/>
              <a:cxnLst/>
              <a:rect l="l" t="t" r="r" b="b"/>
              <a:pathLst>
                <a:path w="3539030" h="713275">
                  <a:moveTo>
                    <a:pt x="203200" y="0"/>
                  </a:moveTo>
                  <a:lnTo>
                    <a:pt x="3539030" y="0"/>
                  </a:lnTo>
                  <a:lnTo>
                    <a:pt x="3335830" y="713275"/>
                  </a:lnTo>
                  <a:lnTo>
                    <a:pt x="0" y="713275"/>
                  </a:lnTo>
                  <a:lnTo>
                    <a:pt x="203200" y="0"/>
                  </a:lnTo>
                  <a:close/>
                </a:path>
              </a:pathLst>
            </a:custGeom>
            <a:solidFill>
              <a:srgbClr val="66574D"/>
            </a:solidFill>
          </p:spPr>
          <p:txBody>
            <a:bodyPr/>
            <a:lstStyle/>
            <a:p>
              <a:endParaRPr lang="ar-SA"/>
            </a:p>
          </p:txBody>
        </p:sp>
        <p:sp>
          <p:nvSpPr>
            <p:cNvPr id="5" name="TextBox 5"/>
            <p:cNvSpPr txBox="1"/>
            <p:nvPr/>
          </p:nvSpPr>
          <p:spPr>
            <a:xfrm>
              <a:off x="101600" y="-38100"/>
              <a:ext cx="3335830" cy="751375"/>
            </a:xfrm>
            <a:prstGeom prst="rect">
              <a:avLst/>
            </a:prstGeom>
          </p:spPr>
          <p:txBody>
            <a:bodyPr lIns="50800" tIns="50800" rIns="50800" bIns="50800" rtlCol="0" anchor="ctr"/>
            <a:lstStyle/>
            <a:p>
              <a:pPr algn="ctr">
                <a:lnSpc>
                  <a:spcPts val="2659"/>
                </a:lnSpc>
              </a:pPr>
              <a:endParaRPr/>
            </a:p>
          </p:txBody>
        </p:sp>
      </p:grpSp>
      <p:grpSp>
        <p:nvGrpSpPr>
          <p:cNvPr id="6" name="Group 6"/>
          <p:cNvGrpSpPr/>
          <p:nvPr/>
        </p:nvGrpSpPr>
        <p:grpSpPr>
          <a:xfrm>
            <a:off x="-1226391" y="419167"/>
            <a:ext cx="21419231" cy="9086516"/>
            <a:chOff x="0" y="0"/>
            <a:chExt cx="1540308" cy="653433"/>
          </a:xfrm>
        </p:grpSpPr>
        <p:sp>
          <p:nvSpPr>
            <p:cNvPr id="7" name="Freeform 7"/>
            <p:cNvSpPr/>
            <p:nvPr/>
          </p:nvSpPr>
          <p:spPr>
            <a:xfrm>
              <a:off x="0" y="0"/>
              <a:ext cx="1540308" cy="653433"/>
            </a:xfrm>
            <a:custGeom>
              <a:avLst/>
              <a:gdLst/>
              <a:ahLst/>
              <a:cxnLst/>
              <a:rect l="l" t="t" r="r" b="b"/>
              <a:pathLst>
                <a:path w="1540308" h="653433">
                  <a:moveTo>
                    <a:pt x="1337108" y="0"/>
                  </a:moveTo>
                  <a:lnTo>
                    <a:pt x="0" y="0"/>
                  </a:lnTo>
                  <a:lnTo>
                    <a:pt x="203200" y="653433"/>
                  </a:lnTo>
                  <a:lnTo>
                    <a:pt x="1540308" y="653433"/>
                  </a:lnTo>
                  <a:lnTo>
                    <a:pt x="1337108" y="0"/>
                  </a:lnTo>
                  <a:close/>
                </a:path>
              </a:pathLst>
            </a:custGeom>
            <a:solidFill>
              <a:srgbClr val="3D3735"/>
            </a:solidFill>
          </p:spPr>
          <p:txBody>
            <a:bodyPr/>
            <a:lstStyle/>
            <a:p>
              <a:endParaRPr lang="ar-SA"/>
            </a:p>
          </p:txBody>
        </p:sp>
        <p:sp>
          <p:nvSpPr>
            <p:cNvPr id="8" name="TextBox 8"/>
            <p:cNvSpPr txBox="1"/>
            <p:nvPr/>
          </p:nvSpPr>
          <p:spPr>
            <a:xfrm>
              <a:off x="101600" y="-38100"/>
              <a:ext cx="1337108" cy="691533"/>
            </a:xfrm>
            <a:prstGeom prst="rect">
              <a:avLst/>
            </a:prstGeom>
          </p:spPr>
          <p:txBody>
            <a:bodyPr lIns="50800" tIns="50800" rIns="50800" bIns="50800" rtlCol="0" anchor="ctr"/>
            <a:lstStyle/>
            <a:p>
              <a:pPr algn="ctr">
                <a:lnSpc>
                  <a:spcPts val="2659"/>
                </a:lnSpc>
                <a:spcBef>
                  <a:spcPct val="0"/>
                </a:spcBef>
              </a:pPr>
              <a:endParaRPr/>
            </a:p>
          </p:txBody>
        </p:sp>
      </p:grpSp>
      <p:grpSp>
        <p:nvGrpSpPr>
          <p:cNvPr id="9" name="Group 9"/>
          <p:cNvGrpSpPr/>
          <p:nvPr/>
        </p:nvGrpSpPr>
        <p:grpSpPr>
          <a:xfrm>
            <a:off x="0" y="8107296"/>
            <a:ext cx="18998529" cy="1554646"/>
            <a:chOff x="0" y="0"/>
            <a:chExt cx="7449608" cy="609600"/>
          </a:xfrm>
        </p:grpSpPr>
        <p:sp>
          <p:nvSpPr>
            <p:cNvPr id="10" name="Freeform 10"/>
            <p:cNvSpPr/>
            <p:nvPr/>
          </p:nvSpPr>
          <p:spPr>
            <a:xfrm>
              <a:off x="0" y="0"/>
              <a:ext cx="7449608" cy="609600"/>
            </a:xfrm>
            <a:custGeom>
              <a:avLst/>
              <a:gdLst/>
              <a:ahLst/>
              <a:cxnLst/>
              <a:rect l="l" t="t" r="r" b="b"/>
              <a:pathLst>
                <a:path w="7449608" h="609600">
                  <a:moveTo>
                    <a:pt x="7246408" y="0"/>
                  </a:moveTo>
                  <a:lnTo>
                    <a:pt x="0" y="0"/>
                  </a:lnTo>
                  <a:lnTo>
                    <a:pt x="203200" y="609600"/>
                  </a:lnTo>
                  <a:lnTo>
                    <a:pt x="7449608" y="609600"/>
                  </a:lnTo>
                  <a:lnTo>
                    <a:pt x="7246408" y="0"/>
                  </a:lnTo>
                  <a:close/>
                </a:path>
              </a:pathLst>
            </a:custGeom>
            <a:solidFill>
              <a:srgbClr val="E9E1DB"/>
            </a:solidFill>
          </p:spPr>
          <p:txBody>
            <a:bodyPr/>
            <a:lstStyle/>
            <a:p>
              <a:endParaRPr lang="ar-SA"/>
            </a:p>
          </p:txBody>
        </p:sp>
        <p:sp>
          <p:nvSpPr>
            <p:cNvPr id="11" name="TextBox 11"/>
            <p:cNvSpPr txBox="1"/>
            <p:nvPr/>
          </p:nvSpPr>
          <p:spPr>
            <a:xfrm>
              <a:off x="101600" y="-38100"/>
              <a:ext cx="7246408" cy="647700"/>
            </a:xfrm>
            <a:prstGeom prst="rect">
              <a:avLst/>
            </a:prstGeom>
          </p:spPr>
          <p:txBody>
            <a:bodyPr lIns="50800" tIns="50800" rIns="50800" bIns="50800" rtlCol="0" anchor="ctr"/>
            <a:lstStyle/>
            <a:p>
              <a:pPr algn="ctr">
                <a:lnSpc>
                  <a:spcPts val="2659"/>
                </a:lnSpc>
                <a:spcBef>
                  <a:spcPct val="0"/>
                </a:spcBef>
              </a:pPr>
              <a:endParaRPr/>
            </a:p>
          </p:txBody>
        </p:sp>
      </p:grpSp>
      <p:sp>
        <p:nvSpPr>
          <p:cNvPr id="12" name="TextBox 12"/>
          <p:cNvSpPr txBox="1"/>
          <p:nvPr/>
        </p:nvSpPr>
        <p:spPr>
          <a:xfrm>
            <a:off x="753488" y="904875"/>
            <a:ext cx="13572955" cy="1166495"/>
          </a:xfrm>
          <a:prstGeom prst="rect">
            <a:avLst/>
          </a:prstGeom>
        </p:spPr>
        <p:txBody>
          <a:bodyPr lIns="0" tIns="0" rIns="0" bIns="0" rtlCol="0" anchor="t">
            <a:spAutoFit/>
          </a:bodyPr>
          <a:lstStyle/>
          <a:p>
            <a:pPr algn="r">
              <a:lnSpc>
                <a:spcPts val="4480"/>
              </a:lnSpc>
            </a:pPr>
            <a:r>
              <a:rPr lang="en-US" sz="3200">
                <a:solidFill>
                  <a:srgbClr val="E9E1DB"/>
                </a:solidFill>
                <a:latin typeface="Times New Roman"/>
                <a:ea typeface="Times New Roman"/>
                <a:cs typeface="Times New Roman"/>
                <a:sym typeface="Times New Roman"/>
              </a:rPr>
              <a:t> PROMPT ENGINEERING AND OUTPUT QUALITY IMPROVEMENT </a:t>
            </a:r>
          </a:p>
          <a:p>
            <a:pPr algn="r">
              <a:lnSpc>
                <a:spcPts val="4480"/>
              </a:lnSpc>
            </a:pPr>
            <a:endParaRPr lang="en-US" sz="3200">
              <a:solidFill>
                <a:srgbClr val="E9E1DB"/>
              </a:solidFill>
              <a:latin typeface="Times New Roman"/>
              <a:ea typeface="Times New Roman"/>
              <a:cs typeface="Times New Roman"/>
              <a:sym typeface="Times New Roman"/>
            </a:endParaRPr>
          </a:p>
        </p:txBody>
      </p:sp>
      <p:sp>
        <p:nvSpPr>
          <p:cNvPr id="13" name="TextBox 13"/>
          <p:cNvSpPr txBox="1"/>
          <p:nvPr/>
        </p:nvSpPr>
        <p:spPr>
          <a:xfrm>
            <a:off x="1903497" y="1957070"/>
            <a:ext cx="13636300" cy="538481"/>
          </a:xfrm>
          <a:prstGeom prst="rect">
            <a:avLst/>
          </a:prstGeom>
        </p:spPr>
        <p:txBody>
          <a:bodyPr lIns="0" tIns="0" rIns="0" bIns="0" rtlCol="0" anchor="t">
            <a:spAutoFit/>
          </a:bodyPr>
          <a:lstStyle/>
          <a:p>
            <a:pPr algn="ctr" rtl="1">
              <a:lnSpc>
                <a:spcPts val="3919"/>
              </a:lnSpc>
              <a:spcBef>
                <a:spcPct val="0"/>
              </a:spcBef>
            </a:pPr>
            <a:r>
              <a:rPr lang="ar-EG" sz="2799" b="1">
                <a:solidFill>
                  <a:srgbClr val="E9E1DB"/>
                </a:solidFill>
                <a:latin typeface="Times New Roman Bold"/>
                <a:ea typeface="Times New Roman Bold"/>
                <a:cs typeface="Times New Roman Bold"/>
                <a:sym typeface="Times New Roman Bold"/>
                <a:rtl/>
              </a:rPr>
              <a:t> </a:t>
            </a:r>
            <a:r>
              <a:rPr lang="en-US" sz="2799" b="1">
                <a:solidFill>
                  <a:srgbClr val="E9E1DB"/>
                </a:solidFill>
                <a:latin typeface="Times New Roman Bold"/>
                <a:ea typeface="Times New Roman Bold"/>
                <a:cs typeface="Times New Roman Bold"/>
                <a:sym typeface="Times New Roman Bold"/>
              </a:rPr>
              <a:t>Overview &amp; Prompt Engineering techniques</a:t>
            </a:r>
            <a:r>
              <a:rPr lang="ar-EG" sz="2799" b="1">
                <a:solidFill>
                  <a:srgbClr val="E9E1DB"/>
                </a:solidFill>
                <a:latin typeface="Times New Roman Bold"/>
                <a:ea typeface="Times New Roman Bold"/>
                <a:cs typeface="Times New Roman Bold"/>
                <a:sym typeface="Times New Roman Bold"/>
                <a:rtl/>
              </a:rPr>
              <a:t> </a:t>
            </a:r>
          </a:p>
        </p:txBody>
      </p:sp>
      <p:sp>
        <p:nvSpPr>
          <p:cNvPr id="14" name="TextBox 14"/>
          <p:cNvSpPr txBox="1"/>
          <p:nvPr/>
        </p:nvSpPr>
        <p:spPr>
          <a:xfrm>
            <a:off x="5108933" y="2941980"/>
            <a:ext cx="9535966" cy="1295996"/>
          </a:xfrm>
          <a:prstGeom prst="rect">
            <a:avLst/>
          </a:prstGeom>
        </p:spPr>
        <p:txBody>
          <a:bodyPr lIns="0" tIns="0" rIns="0" bIns="0" rtlCol="0" anchor="t">
            <a:spAutoFit/>
          </a:bodyPr>
          <a:lstStyle/>
          <a:p>
            <a:pPr marL="604515" lvl="1" indent="-302257" algn="l">
              <a:lnSpc>
                <a:spcPts val="5375"/>
              </a:lnSpc>
              <a:buFont typeface="Arial"/>
              <a:buChar char="•"/>
            </a:pPr>
            <a:r>
              <a:rPr lang="en-US" sz="2799" dirty="0">
                <a:solidFill>
                  <a:srgbClr val="E9E1DB"/>
                </a:solidFill>
                <a:latin typeface="Times New Roman"/>
                <a:ea typeface="Times New Roman"/>
                <a:cs typeface="Times New Roman"/>
                <a:sym typeface="Times New Roman"/>
              </a:rPr>
              <a:t>What do we mean by prompt and Prompt engineering?</a:t>
            </a:r>
          </a:p>
          <a:p>
            <a:pPr marL="604515" lvl="1" indent="-302257" algn="l">
              <a:lnSpc>
                <a:spcPts val="5375"/>
              </a:lnSpc>
              <a:buFont typeface="Arial"/>
              <a:buChar char="•"/>
            </a:pPr>
            <a:r>
              <a:rPr lang="en-US" sz="2799" dirty="0">
                <a:solidFill>
                  <a:srgbClr val="E9E1DB"/>
                </a:solidFill>
                <a:latin typeface="Times New Roman"/>
                <a:ea typeface="Times New Roman"/>
                <a:cs typeface="Times New Roman"/>
                <a:sym typeface="Times New Roman"/>
              </a:rPr>
              <a:t>Prompt Engineering techniques</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400235" y="-2280012"/>
            <a:ext cx="21938561" cy="13496146"/>
          </a:xfrm>
          <a:custGeom>
            <a:avLst/>
            <a:gdLst/>
            <a:ahLst/>
            <a:cxnLst/>
            <a:rect l="l" t="t" r="r" b="b"/>
            <a:pathLst>
              <a:path w="21938561" h="13496146">
                <a:moveTo>
                  <a:pt x="0" y="0"/>
                </a:moveTo>
                <a:lnTo>
                  <a:pt x="21938560" y="0"/>
                </a:lnTo>
                <a:lnTo>
                  <a:pt x="21938560" y="13496146"/>
                </a:lnTo>
                <a:lnTo>
                  <a:pt x="0" y="13496146"/>
                </a:lnTo>
                <a:lnTo>
                  <a:pt x="0" y="0"/>
                </a:lnTo>
                <a:close/>
              </a:path>
            </a:pathLst>
          </a:custGeom>
          <a:blipFill>
            <a:blip r:embed="rId2"/>
            <a:stretch>
              <a:fillRect l="-32641" t="-36451" r="-34370" b="-16258"/>
            </a:stretch>
          </a:blipFill>
        </p:spPr>
        <p:txBody>
          <a:bodyPr/>
          <a:lstStyle/>
          <a:p>
            <a:endParaRPr lang="ar-SA"/>
          </a:p>
        </p:txBody>
      </p:sp>
      <p:grpSp>
        <p:nvGrpSpPr>
          <p:cNvPr id="3" name="Group 3"/>
          <p:cNvGrpSpPr/>
          <p:nvPr/>
        </p:nvGrpSpPr>
        <p:grpSpPr>
          <a:xfrm rot="-2088381">
            <a:off x="-654014" y="5935649"/>
            <a:ext cx="7946576" cy="1601596"/>
            <a:chOff x="0" y="0"/>
            <a:chExt cx="3539030" cy="713275"/>
          </a:xfrm>
        </p:grpSpPr>
        <p:sp>
          <p:nvSpPr>
            <p:cNvPr id="4" name="Freeform 4"/>
            <p:cNvSpPr/>
            <p:nvPr/>
          </p:nvSpPr>
          <p:spPr>
            <a:xfrm>
              <a:off x="0" y="0"/>
              <a:ext cx="3539030" cy="713275"/>
            </a:xfrm>
            <a:custGeom>
              <a:avLst/>
              <a:gdLst/>
              <a:ahLst/>
              <a:cxnLst/>
              <a:rect l="l" t="t" r="r" b="b"/>
              <a:pathLst>
                <a:path w="3539030" h="713275">
                  <a:moveTo>
                    <a:pt x="203200" y="0"/>
                  </a:moveTo>
                  <a:lnTo>
                    <a:pt x="3539030" y="0"/>
                  </a:lnTo>
                  <a:lnTo>
                    <a:pt x="3335830" y="713275"/>
                  </a:lnTo>
                  <a:lnTo>
                    <a:pt x="0" y="713275"/>
                  </a:lnTo>
                  <a:lnTo>
                    <a:pt x="203200" y="0"/>
                  </a:lnTo>
                  <a:close/>
                </a:path>
              </a:pathLst>
            </a:custGeom>
            <a:solidFill>
              <a:srgbClr val="66574D"/>
            </a:solidFill>
          </p:spPr>
          <p:txBody>
            <a:bodyPr/>
            <a:lstStyle/>
            <a:p>
              <a:endParaRPr lang="ar-SA"/>
            </a:p>
          </p:txBody>
        </p:sp>
        <p:sp>
          <p:nvSpPr>
            <p:cNvPr id="5" name="TextBox 5"/>
            <p:cNvSpPr txBox="1"/>
            <p:nvPr/>
          </p:nvSpPr>
          <p:spPr>
            <a:xfrm>
              <a:off x="101600" y="-38100"/>
              <a:ext cx="3335830" cy="751375"/>
            </a:xfrm>
            <a:prstGeom prst="rect">
              <a:avLst/>
            </a:prstGeom>
          </p:spPr>
          <p:txBody>
            <a:bodyPr lIns="50800" tIns="50800" rIns="50800" bIns="50800" rtlCol="0" anchor="ctr"/>
            <a:lstStyle/>
            <a:p>
              <a:pPr algn="ctr">
                <a:lnSpc>
                  <a:spcPts val="2659"/>
                </a:lnSpc>
              </a:pPr>
              <a:endParaRPr/>
            </a:p>
          </p:txBody>
        </p:sp>
      </p:grpSp>
      <p:grpSp>
        <p:nvGrpSpPr>
          <p:cNvPr id="6" name="Group 6"/>
          <p:cNvGrpSpPr/>
          <p:nvPr/>
        </p:nvGrpSpPr>
        <p:grpSpPr>
          <a:xfrm>
            <a:off x="-1226391" y="419167"/>
            <a:ext cx="21419231" cy="9086516"/>
            <a:chOff x="0" y="0"/>
            <a:chExt cx="1540308" cy="653433"/>
          </a:xfrm>
        </p:grpSpPr>
        <p:sp>
          <p:nvSpPr>
            <p:cNvPr id="7" name="Freeform 7"/>
            <p:cNvSpPr/>
            <p:nvPr/>
          </p:nvSpPr>
          <p:spPr>
            <a:xfrm>
              <a:off x="0" y="0"/>
              <a:ext cx="1540308" cy="653433"/>
            </a:xfrm>
            <a:custGeom>
              <a:avLst/>
              <a:gdLst/>
              <a:ahLst/>
              <a:cxnLst/>
              <a:rect l="l" t="t" r="r" b="b"/>
              <a:pathLst>
                <a:path w="1540308" h="653433">
                  <a:moveTo>
                    <a:pt x="1337108" y="0"/>
                  </a:moveTo>
                  <a:lnTo>
                    <a:pt x="0" y="0"/>
                  </a:lnTo>
                  <a:lnTo>
                    <a:pt x="203200" y="653433"/>
                  </a:lnTo>
                  <a:lnTo>
                    <a:pt x="1540308" y="653433"/>
                  </a:lnTo>
                  <a:lnTo>
                    <a:pt x="1337108" y="0"/>
                  </a:lnTo>
                  <a:close/>
                </a:path>
              </a:pathLst>
            </a:custGeom>
            <a:solidFill>
              <a:srgbClr val="3D3735"/>
            </a:solidFill>
          </p:spPr>
          <p:txBody>
            <a:bodyPr/>
            <a:lstStyle/>
            <a:p>
              <a:endParaRPr lang="ar-SA"/>
            </a:p>
          </p:txBody>
        </p:sp>
        <p:sp>
          <p:nvSpPr>
            <p:cNvPr id="8" name="TextBox 8"/>
            <p:cNvSpPr txBox="1"/>
            <p:nvPr/>
          </p:nvSpPr>
          <p:spPr>
            <a:xfrm>
              <a:off x="101600" y="-38100"/>
              <a:ext cx="1337108" cy="691533"/>
            </a:xfrm>
            <a:prstGeom prst="rect">
              <a:avLst/>
            </a:prstGeom>
          </p:spPr>
          <p:txBody>
            <a:bodyPr lIns="50800" tIns="50800" rIns="50800" bIns="50800" rtlCol="0" anchor="ctr"/>
            <a:lstStyle/>
            <a:p>
              <a:pPr algn="ctr">
                <a:lnSpc>
                  <a:spcPts val="2659"/>
                </a:lnSpc>
                <a:spcBef>
                  <a:spcPct val="0"/>
                </a:spcBef>
              </a:pPr>
              <a:endParaRPr/>
            </a:p>
          </p:txBody>
        </p:sp>
      </p:grpSp>
      <p:grpSp>
        <p:nvGrpSpPr>
          <p:cNvPr id="9" name="Group 9"/>
          <p:cNvGrpSpPr/>
          <p:nvPr/>
        </p:nvGrpSpPr>
        <p:grpSpPr>
          <a:xfrm>
            <a:off x="0" y="8107296"/>
            <a:ext cx="18998529" cy="1554646"/>
            <a:chOff x="0" y="0"/>
            <a:chExt cx="7449608" cy="609600"/>
          </a:xfrm>
        </p:grpSpPr>
        <p:sp>
          <p:nvSpPr>
            <p:cNvPr id="10" name="Freeform 10"/>
            <p:cNvSpPr/>
            <p:nvPr/>
          </p:nvSpPr>
          <p:spPr>
            <a:xfrm>
              <a:off x="0" y="0"/>
              <a:ext cx="7449608" cy="609600"/>
            </a:xfrm>
            <a:custGeom>
              <a:avLst/>
              <a:gdLst/>
              <a:ahLst/>
              <a:cxnLst/>
              <a:rect l="l" t="t" r="r" b="b"/>
              <a:pathLst>
                <a:path w="7449608" h="609600">
                  <a:moveTo>
                    <a:pt x="7246408" y="0"/>
                  </a:moveTo>
                  <a:lnTo>
                    <a:pt x="0" y="0"/>
                  </a:lnTo>
                  <a:lnTo>
                    <a:pt x="203200" y="609600"/>
                  </a:lnTo>
                  <a:lnTo>
                    <a:pt x="7449608" y="609600"/>
                  </a:lnTo>
                  <a:lnTo>
                    <a:pt x="7246408" y="0"/>
                  </a:lnTo>
                  <a:close/>
                </a:path>
              </a:pathLst>
            </a:custGeom>
            <a:solidFill>
              <a:srgbClr val="E9E1DB"/>
            </a:solidFill>
          </p:spPr>
          <p:txBody>
            <a:bodyPr/>
            <a:lstStyle/>
            <a:p>
              <a:endParaRPr lang="ar-SA"/>
            </a:p>
          </p:txBody>
        </p:sp>
        <p:sp>
          <p:nvSpPr>
            <p:cNvPr id="11" name="TextBox 11"/>
            <p:cNvSpPr txBox="1"/>
            <p:nvPr/>
          </p:nvSpPr>
          <p:spPr>
            <a:xfrm>
              <a:off x="101600" y="-38100"/>
              <a:ext cx="7246408" cy="647700"/>
            </a:xfrm>
            <a:prstGeom prst="rect">
              <a:avLst/>
            </a:prstGeom>
          </p:spPr>
          <p:txBody>
            <a:bodyPr lIns="50800" tIns="50800" rIns="50800" bIns="50800" rtlCol="0" anchor="ctr"/>
            <a:lstStyle/>
            <a:p>
              <a:pPr algn="ctr">
                <a:lnSpc>
                  <a:spcPts val="2659"/>
                </a:lnSpc>
                <a:spcBef>
                  <a:spcPct val="0"/>
                </a:spcBef>
              </a:pPr>
              <a:endParaRPr/>
            </a:p>
          </p:txBody>
        </p:sp>
      </p:grpSp>
      <p:sp>
        <p:nvSpPr>
          <p:cNvPr id="12" name="Freeform 12"/>
          <p:cNvSpPr/>
          <p:nvPr/>
        </p:nvSpPr>
        <p:spPr>
          <a:xfrm>
            <a:off x="325348" y="3657868"/>
            <a:ext cx="6482069" cy="1410100"/>
          </a:xfrm>
          <a:custGeom>
            <a:avLst/>
            <a:gdLst/>
            <a:ahLst/>
            <a:cxnLst/>
            <a:rect l="l" t="t" r="r" b="b"/>
            <a:pathLst>
              <a:path w="6482069" h="1410100">
                <a:moveTo>
                  <a:pt x="0" y="0"/>
                </a:moveTo>
                <a:lnTo>
                  <a:pt x="6482069" y="0"/>
                </a:lnTo>
                <a:lnTo>
                  <a:pt x="6482069" y="1410100"/>
                </a:lnTo>
                <a:lnTo>
                  <a:pt x="0" y="1410100"/>
                </a:lnTo>
                <a:lnTo>
                  <a:pt x="0" y="0"/>
                </a:lnTo>
                <a:close/>
              </a:path>
            </a:pathLst>
          </a:custGeom>
          <a:blipFill>
            <a:blip r:embed="rId3"/>
            <a:stretch>
              <a:fillRect r="-15252"/>
            </a:stretch>
          </a:blipFill>
        </p:spPr>
        <p:txBody>
          <a:bodyPr/>
          <a:lstStyle/>
          <a:p>
            <a:endParaRPr lang="ar-SA"/>
          </a:p>
        </p:txBody>
      </p:sp>
      <p:sp>
        <p:nvSpPr>
          <p:cNvPr id="13" name="Freeform 13"/>
          <p:cNvSpPr/>
          <p:nvPr/>
        </p:nvSpPr>
        <p:spPr>
          <a:xfrm>
            <a:off x="5549276" y="6088548"/>
            <a:ext cx="7867897" cy="1435891"/>
          </a:xfrm>
          <a:custGeom>
            <a:avLst/>
            <a:gdLst/>
            <a:ahLst/>
            <a:cxnLst/>
            <a:rect l="l" t="t" r="r" b="b"/>
            <a:pathLst>
              <a:path w="7867897" h="1435891">
                <a:moveTo>
                  <a:pt x="0" y="0"/>
                </a:moveTo>
                <a:lnTo>
                  <a:pt x="7867897" y="0"/>
                </a:lnTo>
                <a:lnTo>
                  <a:pt x="7867897" y="1435891"/>
                </a:lnTo>
                <a:lnTo>
                  <a:pt x="0" y="1435891"/>
                </a:lnTo>
                <a:lnTo>
                  <a:pt x="0" y="0"/>
                </a:lnTo>
                <a:close/>
              </a:path>
            </a:pathLst>
          </a:custGeom>
          <a:blipFill>
            <a:blip r:embed="rId4"/>
            <a:stretch>
              <a:fillRect/>
            </a:stretch>
          </a:blipFill>
        </p:spPr>
        <p:txBody>
          <a:bodyPr/>
          <a:lstStyle/>
          <a:p>
            <a:endParaRPr lang="ar-SA"/>
          </a:p>
        </p:txBody>
      </p:sp>
      <p:sp>
        <p:nvSpPr>
          <p:cNvPr id="14" name="Freeform 14"/>
          <p:cNvSpPr/>
          <p:nvPr/>
        </p:nvSpPr>
        <p:spPr>
          <a:xfrm>
            <a:off x="9144000" y="3868155"/>
            <a:ext cx="8887499" cy="1199812"/>
          </a:xfrm>
          <a:custGeom>
            <a:avLst/>
            <a:gdLst/>
            <a:ahLst/>
            <a:cxnLst/>
            <a:rect l="l" t="t" r="r" b="b"/>
            <a:pathLst>
              <a:path w="8887499" h="1199812">
                <a:moveTo>
                  <a:pt x="0" y="0"/>
                </a:moveTo>
                <a:lnTo>
                  <a:pt x="8887499" y="0"/>
                </a:lnTo>
                <a:lnTo>
                  <a:pt x="8887499" y="1199813"/>
                </a:lnTo>
                <a:lnTo>
                  <a:pt x="0" y="1199813"/>
                </a:lnTo>
                <a:lnTo>
                  <a:pt x="0" y="0"/>
                </a:lnTo>
                <a:close/>
              </a:path>
            </a:pathLst>
          </a:custGeom>
          <a:blipFill>
            <a:blip r:embed="rId5"/>
            <a:stretch>
              <a:fillRect/>
            </a:stretch>
          </a:blipFill>
        </p:spPr>
        <p:txBody>
          <a:bodyPr/>
          <a:lstStyle/>
          <a:p>
            <a:endParaRPr lang="ar-SA"/>
          </a:p>
        </p:txBody>
      </p:sp>
      <p:sp>
        <p:nvSpPr>
          <p:cNvPr id="15" name="TextBox 15"/>
          <p:cNvSpPr txBox="1"/>
          <p:nvPr/>
        </p:nvSpPr>
        <p:spPr>
          <a:xfrm>
            <a:off x="753488" y="904875"/>
            <a:ext cx="13572955" cy="1166495"/>
          </a:xfrm>
          <a:prstGeom prst="rect">
            <a:avLst/>
          </a:prstGeom>
        </p:spPr>
        <p:txBody>
          <a:bodyPr lIns="0" tIns="0" rIns="0" bIns="0" rtlCol="0" anchor="t">
            <a:spAutoFit/>
          </a:bodyPr>
          <a:lstStyle/>
          <a:p>
            <a:pPr algn="r">
              <a:lnSpc>
                <a:spcPts val="4480"/>
              </a:lnSpc>
            </a:pPr>
            <a:r>
              <a:rPr lang="en-US" sz="3200">
                <a:solidFill>
                  <a:srgbClr val="E9E1DB"/>
                </a:solidFill>
                <a:latin typeface="Times New Roman"/>
                <a:ea typeface="Times New Roman"/>
                <a:cs typeface="Times New Roman"/>
                <a:sym typeface="Times New Roman"/>
              </a:rPr>
              <a:t> PROMPT ENGINEERING AND OUTPUT QUALITY IMPROVEMENT </a:t>
            </a:r>
          </a:p>
          <a:p>
            <a:pPr algn="r">
              <a:lnSpc>
                <a:spcPts val="4480"/>
              </a:lnSpc>
            </a:pPr>
            <a:endParaRPr lang="en-US" sz="3200">
              <a:solidFill>
                <a:srgbClr val="E9E1DB"/>
              </a:solidFill>
              <a:latin typeface="Times New Roman"/>
              <a:ea typeface="Times New Roman"/>
              <a:cs typeface="Times New Roman"/>
              <a:sym typeface="Times New Roman"/>
            </a:endParaRPr>
          </a:p>
        </p:txBody>
      </p:sp>
      <p:sp>
        <p:nvSpPr>
          <p:cNvPr id="16" name="TextBox 16"/>
          <p:cNvSpPr txBox="1"/>
          <p:nvPr/>
        </p:nvSpPr>
        <p:spPr>
          <a:xfrm>
            <a:off x="2325850" y="1957070"/>
            <a:ext cx="13636300" cy="538481"/>
          </a:xfrm>
          <a:prstGeom prst="rect">
            <a:avLst/>
          </a:prstGeom>
        </p:spPr>
        <p:txBody>
          <a:bodyPr lIns="0" tIns="0" rIns="0" bIns="0" rtlCol="0" anchor="t">
            <a:spAutoFit/>
          </a:bodyPr>
          <a:lstStyle/>
          <a:p>
            <a:pPr algn="ctr" rtl="1">
              <a:lnSpc>
                <a:spcPts val="3919"/>
              </a:lnSpc>
              <a:spcBef>
                <a:spcPct val="0"/>
              </a:spcBef>
            </a:pPr>
            <a:r>
              <a:rPr lang="en-US" sz="2799">
                <a:solidFill>
                  <a:srgbClr val="E9E1DB"/>
                </a:solidFill>
                <a:latin typeface="Times New Roman"/>
                <a:ea typeface="Times New Roman"/>
                <a:cs typeface="Times New Roman"/>
                <a:sym typeface="Times New Roman"/>
              </a:rPr>
              <a:t>Prompt Engineering techniques</a:t>
            </a:r>
          </a:p>
        </p:txBody>
      </p:sp>
      <p:sp>
        <p:nvSpPr>
          <p:cNvPr id="17" name="TextBox 17"/>
          <p:cNvSpPr txBox="1"/>
          <p:nvPr/>
        </p:nvSpPr>
        <p:spPr>
          <a:xfrm>
            <a:off x="1371600" y="2703011"/>
            <a:ext cx="2371427" cy="323215"/>
          </a:xfrm>
          <a:prstGeom prst="rect">
            <a:avLst/>
          </a:prstGeom>
        </p:spPr>
        <p:txBody>
          <a:bodyPr lIns="0" tIns="0" rIns="0" bIns="0" rtlCol="0" anchor="t">
            <a:spAutoFit/>
          </a:bodyPr>
          <a:lstStyle/>
          <a:p>
            <a:pPr algn="ctr">
              <a:lnSpc>
                <a:spcPts val="2659"/>
              </a:lnSpc>
              <a:spcBef>
                <a:spcPct val="0"/>
              </a:spcBef>
            </a:pPr>
            <a:r>
              <a:rPr lang="en-US" sz="1899" dirty="0">
                <a:solidFill>
                  <a:srgbClr val="E9E1DB"/>
                </a:solidFill>
                <a:latin typeface="Glacial Indifference"/>
                <a:ea typeface="Glacial Indifference"/>
                <a:cs typeface="Glacial Indifference"/>
                <a:sym typeface="Glacial Indifference"/>
              </a:rPr>
              <a:t>1- Zero-shot prompting</a:t>
            </a:r>
          </a:p>
        </p:txBody>
      </p:sp>
      <p:sp>
        <p:nvSpPr>
          <p:cNvPr id="18" name="TextBox 18"/>
          <p:cNvSpPr txBox="1"/>
          <p:nvPr/>
        </p:nvSpPr>
        <p:spPr>
          <a:xfrm>
            <a:off x="7202220" y="5157158"/>
            <a:ext cx="2318841" cy="323215"/>
          </a:xfrm>
          <a:prstGeom prst="rect">
            <a:avLst/>
          </a:prstGeom>
        </p:spPr>
        <p:txBody>
          <a:bodyPr lIns="0" tIns="0" rIns="0" bIns="0" rtlCol="0" anchor="t">
            <a:spAutoFit/>
          </a:bodyPr>
          <a:lstStyle/>
          <a:p>
            <a:pPr algn="ctr">
              <a:lnSpc>
                <a:spcPts val="2659"/>
              </a:lnSpc>
              <a:spcBef>
                <a:spcPct val="0"/>
              </a:spcBef>
            </a:pPr>
            <a:r>
              <a:rPr lang="en-US" sz="1899" dirty="0">
                <a:solidFill>
                  <a:srgbClr val="E9E1DB"/>
                </a:solidFill>
                <a:latin typeface="Glacial Indifference"/>
                <a:ea typeface="Glacial Indifference"/>
                <a:cs typeface="Glacial Indifference"/>
                <a:sym typeface="Glacial Indifference"/>
              </a:rPr>
              <a:t>1- Few-shot prompting</a:t>
            </a:r>
          </a:p>
        </p:txBody>
      </p:sp>
      <p:sp>
        <p:nvSpPr>
          <p:cNvPr id="19" name="TextBox 19"/>
          <p:cNvSpPr txBox="1"/>
          <p:nvPr/>
        </p:nvSpPr>
        <p:spPr>
          <a:xfrm>
            <a:off x="12732791" y="2858637"/>
            <a:ext cx="3187303" cy="323215"/>
          </a:xfrm>
          <a:prstGeom prst="rect">
            <a:avLst/>
          </a:prstGeom>
        </p:spPr>
        <p:txBody>
          <a:bodyPr lIns="0" tIns="0" rIns="0" bIns="0" rtlCol="0" anchor="t">
            <a:spAutoFit/>
          </a:bodyPr>
          <a:lstStyle/>
          <a:p>
            <a:pPr algn="ctr">
              <a:lnSpc>
                <a:spcPts val="2659"/>
              </a:lnSpc>
              <a:spcBef>
                <a:spcPct val="0"/>
              </a:spcBef>
            </a:pPr>
            <a:r>
              <a:rPr lang="en-US" sz="1899" dirty="0">
                <a:solidFill>
                  <a:srgbClr val="E9E1DB"/>
                </a:solidFill>
                <a:latin typeface="Glacial Indifference"/>
                <a:ea typeface="Glacial Indifference"/>
                <a:cs typeface="Glacial Indifference"/>
                <a:sym typeface="Glacial Indifference"/>
              </a:rPr>
              <a:t>1- Chain-of-thought prompting</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400235" y="-2280012"/>
            <a:ext cx="21938561" cy="13496146"/>
          </a:xfrm>
          <a:custGeom>
            <a:avLst/>
            <a:gdLst/>
            <a:ahLst/>
            <a:cxnLst/>
            <a:rect l="l" t="t" r="r" b="b"/>
            <a:pathLst>
              <a:path w="21938561" h="13496146">
                <a:moveTo>
                  <a:pt x="0" y="0"/>
                </a:moveTo>
                <a:lnTo>
                  <a:pt x="21938560" y="0"/>
                </a:lnTo>
                <a:lnTo>
                  <a:pt x="21938560" y="13496146"/>
                </a:lnTo>
                <a:lnTo>
                  <a:pt x="0" y="13496146"/>
                </a:lnTo>
                <a:lnTo>
                  <a:pt x="0" y="0"/>
                </a:lnTo>
                <a:close/>
              </a:path>
            </a:pathLst>
          </a:custGeom>
          <a:blipFill>
            <a:blip r:embed="rId2"/>
            <a:stretch>
              <a:fillRect l="-32641" t="-36451" r="-34370" b="-16258"/>
            </a:stretch>
          </a:blipFill>
        </p:spPr>
        <p:txBody>
          <a:bodyPr/>
          <a:lstStyle/>
          <a:p>
            <a:endParaRPr lang="ar-SA"/>
          </a:p>
        </p:txBody>
      </p:sp>
      <p:grpSp>
        <p:nvGrpSpPr>
          <p:cNvPr id="3" name="Group 3"/>
          <p:cNvGrpSpPr/>
          <p:nvPr/>
        </p:nvGrpSpPr>
        <p:grpSpPr>
          <a:xfrm rot="-2088381">
            <a:off x="-654014" y="5935649"/>
            <a:ext cx="7946576" cy="1601596"/>
            <a:chOff x="0" y="0"/>
            <a:chExt cx="3539030" cy="713275"/>
          </a:xfrm>
        </p:grpSpPr>
        <p:sp>
          <p:nvSpPr>
            <p:cNvPr id="4" name="Freeform 4"/>
            <p:cNvSpPr/>
            <p:nvPr/>
          </p:nvSpPr>
          <p:spPr>
            <a:xfrm>
              <a:off x="0" y="0"/>
              <a:ext cx="3539030" cy="713275"/>
            </a:xfrm>
            <a:custGeom>
              <a:avLst/>
              <a:gdLst/>
              <a:ahLst/>
              <a:cxnLst/>
              <a:rect l="l" t="t" r="r" b="b"/>
              <a:pathLst>
                <a:path w="3539030" h="713275">
                  <a:moveTo>
                    <a:pt x="203200" y="0"/>
                  </a:moveTo>
                  <a:lnTo>
                    <a:pt x="3539030" y="0"/>
                  </a:lnTo>
                  <a:lnTo>
                    <a:pt x="3335830" y="713275"/>
                  </a:lnTo>
                  <a:lnTo>
                    <a:pt x="0" y="713275"/>
                  </a:lnTo>
                  <a:lnTo>
                    <a:pt x="203200" y="0"/>
                  </a:lnTo>
                  <a:close/>
                </a:path>
              </a:pathLst>
            </a:custGeom>
            <a:solidFill>
              <a:srgbClr val="66574D"/>
            </a:solidFill>
          </p:spPr>
          <p:txBody>
            <a:bodyPr/>
            <a:lstStyle/>
            <a:p>
              <a:endParaRPr lang="ar-SA"/>
            </a:p>
          </p:txBody>
        </p:sp>
        <p:sp>
          <p:nvSpPr>
            <p:cNvPr id="5" name="TextBox 5"/>
            <p:cNvSpPr txBox="1"/>
            <p:nvPr/>
          </p:nvSpPr>
          <p:spPr>
            <a:xfrm>
              <a:off x="101600" y="-38100"/>
              <a:ext cx="3335830" cy="751375"/>
            </a:xfrm>
            <a:prstGeom prst="rect">
              <a:avLst/>
            </a:prstGeom>
          </p:spPr>
          <p:txBody>
            <a:bodyPr lIns="50800" tIns="50800" rIns="50800" bIns="50800" rtlCol="0" anchor="ctr"/>
            <a:lstStyle/>
            <a:p>
              <a:pPr algn="ctr">
                <a:lnSpc>
                  <a:spcPts val="2659"/>
                </a:lnSpc>
              </a:pPr>
              <a:endParaRPr/>
            </a:p>
          </p:txBody>
        </p:sp>
      </p:grpSp>
      <p:grpSp>
        <p:nvGrpSpPr>
          <p:cNvPr id="6" name="Group 6"/>
          <p:cNvGrpSpPr/>
          <p:nvPr/>
        </p:nvGrpSpPr>
        <p:grpSpPr>
          <a:xfrm>
            <a:off x="-1226391" y="419167"/>
            <a:ext cx="21419231" cy="9086516"/>
            <a:chOff x="0" y="0"/>
            <a:chExt cx="1540308" cy="653433"/>
          </a:xfrm>
        </p:grpSpPr>
        <p:sp>
          <p:nvSpPr>
            <p:cNvPr id="7" name="Freeform 7"/>
            <p:cNvSpPr/>
            <p:nvPr/>
          </p:nvSpPr>
          <p:spPr>
            <a:xfrm>
              <a:off x="0" y="0"/>
              <a:ext cx="1540308" cy="653433"/>
            </a:xfrm>
            <a:custGeom>
              <a:avLst/>
              <a:gdLst/>
              <a:ahLst/>
              <a:cxnLst/>
              <a:rect l="l" t="t" r="r" b="b"/>
              <a:pathLst>
                <a:path w="1540308" h="653433">
                  <a:moveTo>
                    <a:pt x="1337108" y="0"/>
                  </a:moveTo>
                  <a:lnTo>
                    <a:pt x="0" y="0"/>
                  </a:lnTo>
                  <a:lnTo>
                    <a:pt x="203200" y="653433"/>
                  </a:lnTo>
                  <a:lnTo>
                    <a:pt x="1540308" y="653433"/>
                  </a:lnTo>
                  <a:lnTo>
                    <a:pt x="1337108" y="0"/>
                  </a:lnTo>
                  <a:close/>
                </a:path>
              </a:pathLst>
            </a:custGeom>
            <a:solidFill>
              <a:srgbClr val="3D3735"/>
            </a:solidFill>
          </p:spPr>
          <p:txBody>
            <a:bodyPr/>
            <a:lstStyle/>
            <a:p>
              <a:endParaRPr lang="ar-SA"/>
            </a:p>
          </p:txBody>
        </p:sp>
        <p:sp>
          <p:nvSpPr>
            <p:cNvPr id="8" name="TextBox 8"/>
            <p:cNvSpPr txBox="1"/>
            <p:nvPr/>
          </p:nvSpPr>
          <p:spPr>
            <a:xfrm>
              <a:off x="101600" y="-38100"/>
              <a:ext cx="1337108" cy="691533"/>
            </a:xfrm>
            <a:prstGeom prst="rect">
              <a:avLst/>
            </a:prstGeom>
          </p:spPr>
          <p:txBody>
            <a:bodyPr lIns="50800" tIns="50800" rIns="50800" bIns="50800" rtlCol="0" anchor="ctr"/>
            <a:lstStyle/>
            <a:p>
              <a:pPr algn="ctr">
                <a:lnSpc>
                  <a:spcPts val="2659"/>
                </a:lnSpc>
                <a:spcBef>
                  <a:spcPct val="0"/>
                </a:spcBef>
              </a:pPr>
              <a:endParaRPr/>
            </a:p>
          </p:txBody>
        </p:sp>
      </p:grpSp>
      <p:grpSp>
        <p:nvGrpSpPr>
          <p:cNvPr id="9" name="Group 9"/>
          <p:cNvGrpSpPr/>
          <p:nvPr/>
        </p:nvGrpSpPr>
        <p:grpSpPr>
          <a:xfrm>
            <a:off x="0" y="8107296"/>
            <a:ext cx="18998529" cy="1554646"/>
            <a:chOff x="0" y="0"/>
            <a:chExt cx="7449608" cy="609600"/>
          </a:xfrm>
        </p:grpSpPr>
        <p:sp>
          <p:nvSpPr>
            <p:cNvPr id="10" name="Freeform 10"/>
            <p:cNvSpPr/>
            <p:nvPr/>
          </p:nvSpPr>
          <p:spPr>
            <a:xfrm>
              <a:off x="0" y="0"/>
              <a:ext cx="7449608" cy="609600"/>
            </a:xfrm>
            <a:custGeom>
              <a:avLst/>
              <a:gdLst/>
              <a:ahLst/>
              <a:cxnLst/>
              <a:rect l="l" t="t" r="r" b="b"/>
              <a:pathLst>
                <a:path w="7449608" h="609600">
                  <a:moveTo>
                    <a:pt x="7246408" y="0"/>
                  </a:moveTo>
                  <a:lnTo>
                    <a:pt x="0" y="0"/>
                  </a:lnTo>
                  <a:lnTo>
                    <a:pt x="203200" y="609600"/>
                  </a:lnTo>
                  <a:lnTo>
                    <a:pt x="7449608" y="609600"/>
                  </a:lnTo>
                  <a:lnTo>
                    <a:pt x="7246408" y="0"/>
                  </a:lnTo>
                  <a:close/>
                </a:path>
              </a:pathLst>
            </a:custGeom>
            <a:solidFill>
              <a:srgbClr val="E9E1DB"/>
            </a:solidFill>
          </p:spPr>
          <p:txBody>
            <a:bodyPr/>
            <a:lstStyle/>
            <a:p>
              <a:endParaRPr lang="ar-SA"/>
            </a:p>
          </p:txBody>
        </p:sp>
        <p:sp>
          <p:nvSpPr>
            <p:cNvPr id="11" name="TextBox 11"/>
            <p:cNvSpPr txBox="1"/>
            <p:nvPr/>
          </p:nvSpPr>
          <p:spPr>
            <a:xfrm>
              <a:off x="101600" y="-38100"/>
              <a:ext cx="7246408" cy="647700"/>
            </a:xfrm>
            <a:prstGeom prst="rect">
              <a:avLst/>
            </a:prstGeom>
          </p:spPr>
          <p:txBody>
            <a:bodyPr lIns="50800" tIns="50800" rIns="50800" bIns="50800" rtlCol="0" anchor="ctr"/>
            <a:lstStyle/>
            <a:p>
              <a:pPr algn="ctr">
                <a:lnSpc>
                  <a:spcPts val="2659"/>
                </a:lnSpc>
                <a:spcBef>
                  <a:spcPct val="0"/>
                </a:spcBef>
              </a:pPr>
              <a:endParaRPr/>
            </a:p>
          </p:txBody>
        </p:sp>
      </p:grpSp>
      <p:sp>
        <p:nvSpPr>
          <p:cNvPr id="12" name="Freeform 12"/>
          <p:cNvSpPr/>
          <p:nvPr/>
        </p:nvSpPr>
        <p:spPr>
          <a:xfrm>
            <a:off x="4855563" y="2717640"/>
            <a:ext cx="8576875" cy="5167567"/>
          </a:xfrm>
          <a:custGeom>
            <a:avLst/>
            <a:gdLst/>
            <a:ahLst/>
            <a:cxnLst/>
            <a:rect l="l" t="t" r="r" b="b"/>
            <a:pathLst>
              <a:path w="8576875" h="5167567">
                <a:moveTo>
                  <a:pt x="0" y="0"/>
                </a:moveTo>
                <a:lnTo>
                  <a:pt x="8576874" y="0"/>
                </a:lnTo>
                <a:lnTo>
                  <a:pt x="8576874" y="5167567"/>
                </a:lnTo>
                <a:lnTo>
                  <a:pt x="0" y="5167567"/>
                </a:lnTo>
                <a:lnTo>
                  <a:pt x="0" y="0"/>
                </a:lnTo>
                <a:close/>
              </a:path>
            </a:pathLst>
          </a:custGeom>
          <a:blipFill>
            <a:blip r:embed="rId3"/>
            <a:stretch>
              <a:fillRect/>
            </a:stretch>
          </a:blipFill>
        </p:spPr>
        <p:txBody>
          <a:bodyPr/>
          <a:lstStyle/>
          <a:p>
            <a:endParaRPr lang="ar-SA"/>
          </a:p>
        </p:txBody>
      </p:sp>
      <p:sp>
        <p:nvSpPr>
          <p:cNvPr id="13" name="TextBox 13"/>
          <p:cNvSpPr txBox="1"/>
          <p:nvPr/>
        </p:nvSpPr>
        <p:spPr>
          <a:xfrm>
            <a:off x="753488" y="904875"/>
            <a:ext cx="13572955" cy="1166495"/>
          </a:xfrm>
          <a:prstGeom prst="rect">
            <a:avLst/>
          </a:prstGeom>
        </p:spPr>
        <p:txBody>
          <a:bodyPr lIns="0" tIns="0" rIns="0" bIns="0" rtlCol="0" anchor="t">
            <a:spAutoFit/>
          </a:bodyPr>
          <a:lstStyle/>
          <a:p>
            <a:pPr algn="r">
              <a:lnSpc>
                <a:spcPts val="4480"/>
              </a:lnSpc>
            </a:pPr>
            <a:r>
              <a:rPr lang="en-US" sz="3200">
                <a:solidFill>
                  <a:srgbClr val="E9E1DB"/>
                </a:solidFill>
                <a:latin typeface="Times New Roman"/>
                <a:ea typeface="Times New Roman"/>
                <a:cs typeface="Times New Roman"/>
                <a:sym typeface="Times New Roman"/>
              </a:rPr>
              <a:t> PROMPT ENGINEERING AND OUTPUT QUALITY IMPROVEMENT </a:t>
            </a:r>
          </a:p>
          <a:p>
            <a:pPr algn="r">
              <a:lnSpc>
                <a:spcPts val="4480"/>
              </a:lnSpc>
            </a:pPr>
            <a:endParaRPr lang="en-US" sz="3200">
              <a:solidFill>
                <a:srgbClr val="E9E1DB"/>
              </a:solidFill>
              <a:latin typeface="Times New Roman"/>
              <a:ea typeface="Times New Roman"/>
              <a:cs typeface="Times New Roman"/>
              <a:sym typeface="Times New Roman"/>
            </a:endParaRPr>
          </a:p>
        </p:txBody>
      </p:sp>
      <p:sp>
        <p:nvSpPr>
          <p:cNvPr id="14" name="TextBox 14"/>
          <p:cNvSpPr txBox="1"/>
          <p:nvPr/>
        </p:nvSpPr>
        <p:spPr>
          <a:xfrm>
            <a:off x="2325850" y="1957070"/>
            <a:ext cx="13636300" cy="538481"/>
          </a:xfrm>
          <a:prstGeom prst="rect">
            <a:avLst/>
          </a:prstGeom>
        </p:spPr>
        <p:txBody>
          <a:bodyPr lIns="0" tIns="0" rIns="0" bIns="0" rtlCol="0" anchor="t">
            <a:spAutoFit/>
          </a:bodyPr>
          <a:lstStyle/>
          <a:p>
            <a:pPr algn="ctr" rtl="1">
              <a:lnSpc>
                <a:spcPts val="3919"/>
              </a:lnSpc>
              <a:spcBef>
                <a:spcPct val="0"/>
              </a:spcBef>
            </a:pPr>
            <a:r>
              <a:rPr lang="en-US" sz="2799">
                <a:solidFill>
                  <a:srgbClr val="E9E1DB"/>
                </a:solidFill>
                <a:latin typeface="Times New Roman"/>
                <a:ea typeface="Times New Roman"/>
                <a:cs typeface="Times New Roman"/>
                <a:sym typeface="Times New Roman"/>
              </a:rPr>
              <a:t>Prompt Engineering techniques</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400235" y="-2280012"/>
            <a:ext cx="21938561" cy="13496146"/>
          </a:xfrm>
          <a:custGeom>
            <a:avLst/>
            <a:gdLst/>
            <a:ahLst/>
            <a:cxnLst/>
            <a:rect l="l" t="t" r="r" b="b"/>
            <a:pathLst>
              <a:path w="21938561" h="13496146">
                <a:moveTo>
                  <a:pt x="0" y="0"/>
                </a:moveTo>
                <a:lnTo>
                  <a:pt x="21938560" y="0"/>
                </a:lnTo>
                <a:lnTo>
                  <a:pt x="21938560" y="13496146"/>
                </a:lnTo>
                <a:lnTo>
                  <a:pt x="0" y="13496146"/>
                </a:lnTo>
                <a:lnTo>
                  <a:pt x="0" y="0"/>
                </a:lnTo>
                <a:close/>
              </a:path>
            </a:pathLst>
          </a:custGeom>
          <a:blipFill>
            <a:blip r:embed="rId2"/>
            <a:stretch>
              <a:fillRect l="-32641" t="-36451" r="-34370" b="-16258"/>
            </a:stretch>
          </a:blipFill>
        </p:spPr>
        <p:txBody>
          <a:bodyPr/>
          <a:lstStyle/>
          <a:p>
            <a:endParaRPr lang="ar-SA"/>
          </a:p>
        </p:txBody>
      </p:sp>
      <p:grpSp>
        <p:nvGrpSpPr>
          <p:cNvPr id="3" name="Group 3"/>
          <p:cNvGrpSpPr/>
          <p:nvPr/>
        </p:nvGrpSpPr>
        <p:grpSpPr>
          <a:xfrm rot="-2088381">
            <a:off x="-654014" y="5935649"/>
            <a:ext cx="7946576" cy="1601596"/>
            <a:chOff x="0" y="0"/>
            <a:chExt cx="3539030" cy="713275"/>
          </a:xfrm>
        </p:grpSpPr>
        <p:sp>
          <p:nvSpPr>
            <p:cNvPr id="4" name="Freeform 4"/>
            <p:cNvSpPr/>
            <p:nvPr/>
          </p:nvSpPr>
          <p:spPr>
            <a:xfrm>
              <a:off x="0" y="0"/>
              <a:ext cx="3539030" cy="713275"/>
            </a:xfrm>
            <a:custGeom>
              <a:avLst/>
              <a:gdLst/>
              <a:ahLst/>
              <a:cxnLst/>
              <a:rect l="l" t="t" r="r" b="b"/>
              <a:pathLst>
                <a:path w="3539030" h="713275">
                  <a:moveTo>
                    <a:pt x="203200" y="0"/>
                  </a:moveTo>
                  <a:lnTo>
                    <a:pt x="3539030" y="0"/>
                  </a:lnTo>
                  <a:lnTo>
                    <a:pt x="3335830" y="713275"/>
                  </a:lnTo>
                  <a:lnTo>
                    <a:pt x="0" y="713275"/>
                  </a:lnTo>
                  <a:lnTo>
                    <a:pt x="203200" y="0"/>
                  </a:lnTo>
                  <a:close/>
                </a:path>
              </a:pathLst>
            </a:custGeom>
            <a:solidFill>
              <a:srgbClr val="66574D"/>
            </a:solidFill>
          </p:spPr>
          <p:txBody>
            <a:bodyPr/>
            <a:lstStyle/>
            <a:p>
              <a:endParaRPr lang="ar-SA"/>
            </a:p>
          </p:txBody>
        </p:sp>
        <p:sp>
          <p:nvSpPr>
            <p:cNvPr id="5" name="TextBox 5"/>
            <p:cNvSpPr txBox="1"/>
            <p:nvPr/>
          </p:nvSpPr>
          <p:spPr>
            <a:xfrm>
              <a:off x="101600" y="-38100"/>
              <a:ext cx="3335830" cy="751375"/>
            </a:xfrm>
            <a:prstGeom prst="rect">
              <a:avLst/>
            </a:prstGeom>
          </p:spPr>
          <p:txBody>
            <a:bodyPr lIns="50800" tIns="50800" rIns="50800" bIns="50800" rtlCol="0" anchor="ctr"/>
            <a:lstStyle/>
            <a:p>
              <a:pPr algn="ctr">
                <a:lnSpc>
                  <a:spcPts val="2659"/>
                </a:lnSpc>
              </a:pPr>
              <a:endParaRPr/>
            </a:p>
          </p:txBody>
        </p:sp>
      </p:grpSp>
      <p:grpSp>
        <p:nvGrpSpPr>
          <p:cNvPr id="6" name="Group 6"/>
          <p:cNvGrpSpPr/>
          <p:nvPr/>
        </p:nvGrpSpPr>
        <p:grpSpPr>
          <a:xfrm>
            <a:off x="-1226391" y="419167"/>
            <a:ext cx="21419231" cy="9086516"/>
            <a:chOff x="0" y="0"/>
            <a:chExt cx="1540308" cy="653433"/>
          </a:xfrm>
        </p:grpSpPr>
        <p:sp>
          <p:nvSpPr>
            <p:cNvPr id="7" name="Freeform 7"/>
            <p:cNvSpPr/>
            <p:nvPr/>
          </p:nvSpPr>
          <p:spPr>
            <a:xfrm>
              <a:off x="0" y="0"/>
              <a:ext cx="1540308" cy="653433"/>
            </a:xfrm>
            <a:custGeom>
              <a:avLst/>
              <a:gdLst/>
              <a:ahLst/>
              <a:cxnLst/>
              <a:rect l="l" t="t" r="r" b="b"/>
              <a:pathLst>
                <a:path w="1540308" h="653433">
                  <a:moveTo>
                    <a:pt x="1337108" y="0"/>
                  </a:moveTo>
                  <a:lnTo>
                    <a:pt x="0" y="0"/>
                  </a:lnTo>
                  <a:lnTo>
                    <a:pt x="203200" y="653433"/>
                  </a:lnTo>
                  <a:lnTo>
                    <a:pt x="1540308" y="653433"/>
                  </a:lnTo>
                  <a:lnTo>
                    <a:pt x="1337108" y="0"/>
                  </a:lnTo>
                  <a:close/>
                </a:path>
              </a:pathLst>
            </a:custGeom>
            <a:solidFill>
              <a:srgbClr val="3D3735"/>
            </a:solidFill>
          </p:spPr>
          <p:txBody>
            <a:bodyPr/>
            <a:lstStyle/>
            <a:p>
              <a:endParaRPr lang="ar-SA"/>
            </a:p>
          </p:txBody>
        </p:sp>
        <p:sp>
          <p:nvSpPr>
            <p:cNvPr id="8" name="TextBox 8"/>
            <p:cNvSpPr txBox="1"/>
            <p:nvPr/>
          </p:nvSpPr>
          <p:spPr>
            <a:xfrm>
              <a:off x="101600" y="-38100"/>
              <a:ext cx="1337108" cy="691533"/>
            </a:xfrm>
            <a:prstGeom prst="rect">
              <a:avLst/>
            </a:prstGeom>
          </p:spPr>
          <p:txBody>
            <a:bodyPr lIns="50800" tIns="50800" rIns="50800" bIns="50800" rtlCol="0" anchor="ctr"/>
            <a:lstStyle/>
            <a:p>
              <a:pPr algn="ctr">
                <a:lnSpc>
                  <a:spcPts val="2659"/>
                </a:lnSpc>
                <a:spcBef>
                  <a:spcPct val="0"/>
                </a:spcBef>
              </a:pPr>
              <a:endParaRPr/>
            </a:p>
          </p:txBody>
        </p:sp>
      </p:grpSp>
      <p:grpSp>
        <p:nvGrpSpPr>
          <p:cNvPr id="9" name="Group 9"/>
          <p:cNvGrpSpPr/>
          <p:nvPr/>
        </p:nvGrpSpPr>
        <p:grpSpPr>
          <a:xfrm>
            <a:off x="0" y="8107296"/>
            <a:ext cx="18998529" cy="1554646"/>
            <a:chOff x="0" y="0"/>
            <a:chExt cx="7449608" cy="609600"/>
          </a:xfrm>
        </p:grpSpPr>
        <p:sp>
          <p:nvSpPr>
            <p:cNvPr id="10" name="Freeform 10"/>
            <p:cNvSpPr/>
            <p:nvPr/>
          </p:nvSpPr>
          <p:spPr>
            <a:xfrm>
              <a:off x="0" y="0"/>
              <a:ext cx="7449608" cy="609600"/>
            </a:xfrm>
            <a:custGeom>
              <a:avLst/>
              <a:gdLst/>
              <a:ahLst/>
              <a:cxnLst/>
              <a:rect l="l" t="t" r="r" b="b"/>
              <a:pathLst>
                <a:path w="7449608" h="609600">
                  <a:moveTo>
                    <a:pt x="7246408" y="0"/>
                  </a:moveTo>
                  <a:lnTo>
                    <a:pt x="0" y="0"/>
                  </a:lnTo>
                  <a:lnTo>
                    <a:pt x="203200" y="609600"/>
                  </a:lnTo>
                  <a:lnTo>
                    <a:pt x="7449608" y="609600"/>
                  </a:lnTo>
                  <a:lnTo>
                    <a:pt x="7246408" y="0"/>
                  </a:lnTo>
                  <a:close/>
                </a:path>
              </a:pathLst>
            </a:custGeom>
            <a:solidFill>
              <a:srgbClr val="E9E1DB"/>
            </a:solidFill>
          </p:spPr>
          <p:txBody>
            <a:bodyPr/>
            <a:lstStyle/>
            <a:p>
              <a:endParaRPr lang="ar-SA"/>
            </a:p>
          </p:txBody>
        </p:sp>
        <p:sp>
          <p:nvSpPr>
            <p:cNvPr id="11" name="TextBox 11"/>
            <p:cNvSpPr txBox="1"/>
            <p:nvPr/>
          </p:nvSpPr>
          <p:spPr>
            <a:xfrm>
              <a:off x="101600" y="-38100"/>
              <a:ext cx="7246408" cy="647700"/>
            </a:xfrm>
            <a:prstGeom prst="rect">
              <a:avLst/>
            </a:prstGeom>
          </p:spPr>
          <p:txBody>
            <a:bodyPr lIns="50800" tIns="50800" rIns="50800" bIns="50800" rtlCol="0" anchor="ctr"/>
            <a:lstStyle/>
            <a:p>
              <a:pPr algn="ctr">
                <a:lnSpc>
                  <a:spcPts val="2659"/>
                </a:lnSpc>
                <a:spcBef>
                  <a:spcPct val="0"/>
                </a:spcBef>
              </a:pPr>
              <a:endParaRPr/>
            </a:p>
          </p:txBody>
        </p:sp>
      </p:grpSp>
      <p:sp>
        <p:nvSpPr>
          <p:cNvPr id="12" name="Freeform 12"/>
          <p:cNvSpPr/>
          <p:nvPr/>
        </p:nvSpPr>
        <p:spPr>
          <a:xfrm>
            <a:off x="5328611" y="2874681"/>
            <a:ext cx="6878850" cy="1284433"/>
          </a:xfrm>
          <a:custGeom>
            <a:avLst/>
            <a:gdLst/>
            <a:ahLst/>
            <a:cxnLst/>
            <a:rect l="l" t="t" r="r" b="b"/>
            <a:pathLst>
              <a:path w="6878850" h="1284433">
                <a:moveTo>
                  <a:pt x="0" y="0"/>
                </a:moveTo>
                <a:lnTo>
                  <a:pt x="6878850" y="0"/>
                </a:lnTo>
                <a:lnTo>
                  <a:pt x="6878850" y="1284433"/>
                </a:lnTo>
                <a:lnTo>
                  <a:pt x="0" y="1284433"/>
                </a:lnTo>
                <a:lnTo>
                  <a:pt x="0" y="0"/>
                </a:lnTo>
                <a:close/>
              </a:path>
            </a:pathLst>
          </a:custGeom>
          <a:blipFill>
            <a:blip r:embed="rId3"/>
            <a:stretch>
              <a:fillRect l="-17039" t="-213897" r="-78592" b="-275443"/>
            </a:stretch>
          </a:blipFill>
        </p:spPr>
        <p:txBody>
          <a:bodyPr/>
          <a:lstStyle/>
          <a:p>
            <a:endParaRPr lang="ar-SA"/>
          </a:p>
        </p:txBody>
      </p:sp>
      <p:sp>
        <p:nvSpPr>
          <p:cNvPr id="13" name="TextBox 13"/>
          <p:cNvSpPr txBox="1"/>
          <p:nvPr/>
        </p:nvSpPr>
        <p:spPr>
          <a:xfrm>
            <a:off x="753488" y="904875"/>
            <a:ext cx="13572955" cy="1166495"/>
          </a:xfrm>
          <a:prstGeom prst="rect">
            <a:avLst/>
          </a:prstGeom>
        </p:spPr>
        <p:txBody>
          <a:bodyPr lIns="0" tIns="0" rIns="0" bIns="0" rtlCol="0" anchor="t">
            <a:spAutoFit/>
          </a:bodyPr>
          <a:lstStyle/>
          <a:p>
            <a:pPr algn="r">
              <a:lnSpc>
                <a:spcPts val="4480"/>
              </a:lnSpc>
            </a:pPr>
            <a:r>
              <a:rPr lang="en-US" sz="3200">
                <a:solidFill>
                  <a:srgbClr val="E9E1DB"/>
                </a:solidFill>
                <a:latin typeface="Times New Roman"/>
                <a:ea typeface="Times New Roman"/>
                <a:cs typeface="Times New Roman"/>
                <a:sym typeface="Times New Roman"/>
              </a:rPr>
              <a:t> PROMPT ENGINEERING AND OUTPUT QUALITY IMPROVEMENT </a:t>
            </a:r>
          </a:p>
          <a:p>
            <a:pPr algn="r">
              <a:lnSpc>
                <a:spcPts val="4480"/>
              </a:lnSpc>
            </a:pPr>
            <a:endParaRPr lang="en-US" sz="3200">
              <a:solidFill>
                <a:srgbClr val="E9E1DB"/>
              </a:solidFill>
              <a:latin typeface="Times New Roman"/>
              <a:ea typeface="Times New Roman"/>
              <a:cs typeface="Times New Roman"/>
              <a:sym typeface="Times New Roman"/>
            </a:endParaRPr>
          </a:p>
        </p:txBody>
      </p:sp>
      <p:sp>
        <p:nvSpPr>
          <p:cNvPr id="14" name="TextBox 14"/>
          <p:cNvSpPr txBox="1"/>
          <p:nvPr/>
        </p:nvSpPr>
        <p:spPr>
          <a:xfrm>
            <a:off x="2325850" y="1957070"/>
            <a:ext cx="13636300" cy="538481"/>
          </a:xfrm>
          <a:prstGeom prst="rect">
            <a:avLst/>
          </a:prstGeom>
        </p:spPr>
        <p:txBody>
          <a:bodyPr lIns="0" tIns="0" rIns="0" bIns="0" rtlCol="0" anchor="t">
            <a:spAutoFit/>
          </a:bodyPr>
          <a:lstStyle/>
          <a:p>
            <a:pPr algn="ctr" rtl="1">
              <a:lnSpc>
                <a:spcPts val="3919"/>
              </a:lnSpc>
              <a:spcBef>
                <a:spcPct val="0"/>
              </a:spcBef>
            </a:pPr>
            <a:r>
              <a:rPr lang="ar-EG" sz="2799">
                <a:solidFill>
                  <a:srgbClr val="E9E1DB"/>
                </a:solidFill>
                <a:latin typeface="Times New Roman"/>
                <a:ea typeface="Times New Roman"/>
                <a:cs typeface="Times New Roman"/>
                <a:sym typeface="Times New Roman"/>
                <a:rtl/>
              </a:rPr>
              <a:t> </a:t>
            </a:r>
            <a:r>
              <a:rPr lang="en-US" sz="2799">
                <a:solidFill>
                  <a:srgbClr val="E9E1DB"/>
                </a:solidFill>
                <a:latin typeface="Times New Roman"/>
                <a:ea typeface="Times New Roman"/>
                <a:cs typeface="Times New Roman"/>
                <a:sym typeface="Times New Roman"/>
              </a:rPr>
              <a:t>Evaluate prompts effectiveness</a:t>
            </a:r>
            <a:r>
              <a:rPr lang="ar-EG" sz="2799">
                <a:solidFill>
                  <a:srgbClr val="E9E1DB"/>
                </a:solidFill>
                <a:latin typeface="Times New Roman"/>
                <a:ea typeface="Times New Roman"/>
                <a:cs typeface="Times New Roman"/>
                <a:sym typeface="Times New Roman"/>
                <a:rtl/>
              </a:rPr>
              <a:t> </a:t>
            </a:r>
          </a:p>
        </p:txBody>
      </p:sp>
      <p:sp>
        <p:nvSpPr>
          <p:cNvPr id="15" name="TextBox 15"/>
          <p:cNvSpPr txBox="1"/>
          <p:nvPr/>
        </p:nvSpPr>
        <p:spPr>
          <a:xfrm>
            <a:off x="2214546" y="4962525"/>
            <a:ext cx="15044754" cy="2912745"/>
          </a:xfrm>
          <a:prstGeom prst="rect">
            <a:avLst/>
          </a:prstGeom>
        </p:spPr>
        <p:txBody>
          <a:bodyPr lIns="0" tIns="0" rIns="0" bIns="0" rtlCol="0" anchor="t">
            <a:spAutoFit/>
          </a:bodyPr>
          <a:lstStyle/>
          <a:p>
            <a:pPr algn="l">
              <a:lnSpc>
                <a:spcPts val="3839"/>
              </a:lnSpc>
            </a:pPr>
            <a:r>
              <a:rPr lang="en-US" sz="1999">
                <a:solidFill>
                  <a:srgbClr val="E9E1DB"/>
                </a:solidFill>
                <a:latin typeface="Times New Roman"/>
                <a:ea typeface="Times New Roman"/>
                <a:cs typeface="Times New Roman"/>
                <a:sym typeface="Times New Roman"/>
              </a:rPr>
              <a:t>1. Understand the fundamental concepts and techniques of machine learning, including supervised and unsupervised learning, regression, classification, clustering, and dimensionality reduction.</a:t>
            </a:r>
          </a:p>
          <a:p>
            <a:pPr algn="l">
              <a:lnSpc>
                <a:spcPts val="3839"/>
              </a:lnSpc>
            </a:pPr>
            <a:r>
              <a:rPr lang="en-US" sz="1999">
                <a:solidFill>
                  <a:srgbClr val="E9E1DB"/>
                </a:solidFill>
                <a:latin typeface="Times New Roman"/>
                <a:ea typeface="Times New Roman"/>
                <a:cs typeface="Times New Roman"/>
                <a:sym typeface="Times New Roman"/>
              </a:rPr>
              <a:t> 2. Develop the ability to apply machine learning algorithms to real-world datasets, including data preprocessing, model selection, evaluation, and interpretation of results.</a:t>
            </a:r>
          </a:p>
          <a:p>
            <a:pPr algn="l">
              <a:lnSpc>
                <a:spcPts val="3839"/>
              </a:lnSpc>
            </a:pPr>
            <a:r>
              <a:rPr lang="en-US" sz="1999">
                <a:solidFill>
                  <a:srgbClr val="E9E1DB"/>
                </a:solidFill>
                <a:latin typeface="Times New Roman"/>
                <a:ea typeface="Times New Roman"/>
                <a:cs typeface="Times New Roman"/>
                <a:sym typeface="Times New Roman"/>
              </a:rPr>
              <a:t> 3. Gain practical experience in implementing machine learning algorithms using popular programming languages and libraries such as Python and scikit-learn, and be able to effectively communicate and present findings to stakeholders.</a:t>
            </a:r>
          </a:p>
        </p:txBody>
      </p:sp>
      <p:sp>
        <p:nvSpPr>
          <p:cNvPr id="16" name="TextBox 16"/>
          <p:cNvSpPr txBox="1"/>
          <p:nvPr/>
        </p:nvSpPr>
        <p:spPr>
          <a:xfrm>
            <a:off x="2325850" y="4429961"/>
            <a:ext cx="15044754" cy="323215"/>
          </a:xfrm>
          <a:prstGeom prst="rect">
            <a:avLst/>
          </a:prstGeom>
        </p:spPr>
        <p:txBody>
          <a:bodyPr lIns="0" tIns="0" rIns="0" bIns="0" rtlCol="0" anchor="t">
            <a:spAutoFit/>
          </a:bodyPr>
          <a:lstStyle/>
          <a:p>
            <a:pPr algn="l">
              <a:lnSpc>
                <a:spcPts val="2659"/>
              </a:lnSpc>
              <a:spcBef>
                <a:spcPct val="0"/>
              </a:spcBef>
            </a:pPr>
            <a:r>
              <a:rPr lang="en-US" sz="1899" b="1">
                <a:solidFill>
                  <a:srgbClr val="E9E1DB"/>
                </a:solidFill>
                <a:latin typeface="Glacial Indifference Bold"/>
                <a:ea typeface="Glacial Indifference Bold"/>
                <a:cs typeface="Glacial Indifference Bold"/>
                <a:sym typeface="Glacial Indifference Bold"/>
              </a:rPr>
              <a:t>Output:</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400235" y="-2280012"/>
            <a:ext cx="21938561" cy="13496146"/>
          </a:xfrm>
          <a:custGeom>
            <a:avLst/>
            <a:gdLst/>
            <a:ahLst/>
            <a:cxnLst/>
            <a:rect l="l" t="t" r="r" b="b"/>
            <a:pathLst>
              <a:path w="21938561" h="13496146">
                <a:moveTo>
                  <a:pt x="0" y="0"/>
                </a:moveTo>
                <a:lnTo>
                  <a:pt x="21938560" y="0"/>
                </a:lnTo>
                <a:lnTo>
                  <a:pt x="21938560" y="13496146"/>
                </a:lnTo>
                <a:lnTo>
                  <a:pt x="0" y="13496146"/>
                </a:lnTo>
                <a:lnTo>
                  <a:pt x="0" y="0"/>
                </a:lnTo>
                <a:close/>
              </a:path>
            </a:pathLst>
          </a:custGeom>
          <a:blipFill>
            <a:blip r:embed="rId2"/>
            <a:stretch>
              <a:fillRect l="-32641" t="-36451" r="-34370" b="-16258"/>
            </a:stretch>
          </a:blipFill>
        </p:spPr>
        <p:txBody>
          <a:bodyPr/>
          <a:lstStyle/>
          <a:p>
            <a:endParaRPr lang="ar-SA"/>
          </a:p>
        </p:txBody>
      </p:sp>
      <p:grpSp>
        <p:nvGrpSpPr>
          <p:cNvPr id="3" name="Group 3"/>
          <p:cNvGrpSpPr/>
          <p:nvPr/>
        </p:nvGrpSpPr>
        <p:grpSpPr>
          <a:xfrm rot="-2088381">
            <a:off x="-654014" y="5935649"/>
            <a:ext cx="7946576" cy="1601596"/>
            <a:chOff x="0" y="0"/>
            <a:chExt cx="3539030" cy="713275"/>
          </a:xfrm>
        </p:grpSpPr>
        <p:sp>
          <p:nvSpPr>
            <p:cNvPr id="4" name="Freeform 4"/>
            <p:cNvSpPr/>
            <p:nvPr/>
          </p:nvSpPr>
          <p:spPr>
            <a:xfrm>
              <a:off x="0" y="0"/>
              <a:ext cx="3539030" cy="713275"/>
            </a:xfrm>
            <a:custGeom>
              <a:avLst/>
              <a:gdLst/>
              <a:ahLst/>
              <a:cxnLst/>
              <a:rect l="l" t="t" r="r" b="b"/>
              <a:pathLst>
                <a:path w="3539030" h="713275">
                  <a:moveTo>
                    <a:pt x="203200" y="0"/>
                  </a:moveTo>
                  <a:lnTo>
                    <a:pt x="3539030" y="0"/>
                  </a:lnTo>
                  <a:lnTo>
                    <a:pt x="3335830" y="713275"/>
                  </a:lnTo>
                  <a:lnTo>
                    <a:pt x="0" y="713275"/>
                  </a:lnTo>
                  <a:lnTo>
                    <a:pt x="203200" y="0"/>
                  </a:lnTo>
                  <a:close/>
                </a:path>
              </a:pathLst>
            </a:custGeom>
            <a:solidFill>
              <a:srgbClr val="66574D"/>
            </a:solidFill>
          </p:spPr>
          <p:txBody>
            <a:bodyPr/>
            <a:lstStyle/>
            <a:p>
              <a:endParaRPr lang="ar-SA"/>
            </a:p>
          </p:txBody>
        </p:sp>
        <p:sp>
          <p:nvSpPr>
            <p:cNvPr id="5" name="TextBox 5"/>
            <p:cNvSpPr txBox="1"/>
            <p:nvPr/>
          </p:nvSpPr>
          <p:spPr>
            <a:xfrm>
              <a:off x="101600" y="-38100"/>
              <a:ext cx="3335830" cy="751375"/>
            </a:xfrm>
            <a:prstGeom prst="rect">
              <a:avLst/>
            </a:prstGeom>
          </p:spPr>
          <p:txBody>
            <a:bodyPr lIns="50800" tIns="50800" rIns="50800" bIns="50800" rtlCol="0" anchor="ctr"/>
            <a:lstStyle/>
            <a:p>
              <a:pPr algn="ctr">
                <a:lnSpc>
                  <a:spcPts val="2659"/>
                </a:lnSpc>
              </a:pPr>
              <a:endParaRPr/>
            </a:p>
          </p:txBody>
        </p:sp>
      </p:grpSp>
      <p:grpSp>
        <p:nvGrpSpPr>
          <p:cNvPr id="6" name="Group 6"/>
          <p:cNvGrpSpPr/>
          <p:nvPr/>
        </p:nvGrpSpPr>
        <p:grpSpPr>
          <a:xfrm>
            <a:off x="-1226391" y="419167"/>
            <a:ext cx="21419231" cy="9086516"/>
            <a:chOff x="0" y="0"/>
            <a:chExt cx="1540308" cy="653433"/>
          </a:xfrm>
        </p:grpSpPr>
        <p:sp>
          <p:nvSpPr>
            <p:cNvPr id="7" name="Freeform 7"/>
            <p:cNvSpPr/>
            <p:nvPr/>
          </p:nvSpPr>
          <p:spPr>
            <a:xfrm>
              <a:off x="0" y="0"/>
              <a:ext cx="1540308" cy="653433"/>
            </a:xfrm>
            <a:custGeom>
              <a:avLst/>
              <a:gdLst/>
              <a:ahLst/>
              <a:cxnLst/>
              <a:rect l="l" t="t" r="r" b="b"/>
              <a:pathLst>
                <a:path w="1540308" h="653433">
                  <a:moveTo>
                    <a:pt x="1337108" y="0"/>
                  </a:moveTo>
                  <a:lnTo>
                    <a:pt x="0" y="0"/>
                  </a:lnTo>
                  <a:lnTo>
                    <a:pt x="203200" y="653433"/>
                  </a:lnTo>
                  <a:lnTo>
                    <a:pt x="1540308" y="653433"/>
                  </a:lnTo>
                  <a:lnTo>
                    <a:pt x="1337108" y="0"/>
                  </a:lnTo>
                  <a:close/>
                </a:path>
              </a:pathLst>
            </a:custGeom>
            <a:solidFill>
              <a:srgbClr val="3D3735"/>
            </a:solidFill>
          </p:spPr>
          <p:txBody>
            <a:bodyPr/>
            <a:lstStyle/>
            <a:p>
              <a:endParaRPr lang="ar-SA"/>
            </a:p>
          </p:txBody>
        </p:sp>
        <p:sp>
          <p:nvSpPr>
            <p:cNvPr id="8" name="TextBox 8"/>
            <p:cNvSpPr txBox="1"/>
            <p:nvPr/>
          </p:nvSpPr>
          <p:spPr>
            <a:xfrm>
              <a:off x="101600" y="-38100"/>
              <a:ext cx="1337108" cy="691533"/>
            </a:xfrm>
            <a:prstGeom prst="rect">
              <a:avLst/>
            </a:prstGeom>
          </p:spPr>
          <p:txBody>
            <a:bodyPr lIns="50800" tIns="50800" rIns="50800" bIns="50800" rtlCol="0" anchor="ctr"/>
            <a:lstStyle/>
            <a:p>
              <a:pPr algn="ctr">
                <a:lnSpc>
                  <a:spcPts val="2659"/>
                </a:lnSpc>
                <a:spcBef>
                  <a:spcPct val="0"/>
                </a:spcBef>
              </a:pPr>
              <a:endParaRPr/>
            </a:p>
          </p:txBody>
        </p:sp>
      </p:grpSp>
      <p:grpSp>
        <p:nvGrpSpPr>
          <p:cNvPr id="9" name="Group 9"/>
          <p:cNvGrpSpPr/>
          <p:nvPr/>
        </p:nvGrpSpPr>
        <p:grpSpPr>
          <a:xfrm>
            <a:off x="0" y="8107296"/>
            <a:ext cx="18998529" cy="1554646"/>
            <a:chOff x="0" y="0"/>
            <a:chExt cx="7449608" cy="609600"/>
          </a:xfrm>
        </p:grpSpPr>
        <p:sp>
          <p:nvSpPr>
            <p:cNvPr id="10" name="Freeform 10"/>
            <p:cNvSpPr/>
            <p:nvPr/>
          </p:nvSpPr>
          <p:spPr>
            <a:xfrm>
              <a:off x="0" y="0"/>
              <a:ext cx="7449608" cy="609600"/>
            </a:xfrm>
            <a:custGeom>
              <a:avLst/>
              <a:gdLst/>
              <a:ahLst/>
              <a:cxnLst/>
              <a:rect l="l" t="t" r="r" b="b"/>
              <a:pathLst>
                <a:path w="7449608" h="609600">
                  <a:moveTo>
                    <a:pt x="7246408" y="0"/>
                  </a:moveTo>
                  <a:lnTo>
                    <a:pt x="0" y="0"/>
                  </a:lnTo>
                  <a:lnTo>
                    <a:pt x="203200" y="609600"/>
                  </a:lnTo>
                  <a:lnTo>
                    <a:pt x="7449608" y="609600"/>
                  </a:lnTo>
                  <a:lnTo>
                    <a:pt x="7246408" y="0"/>
                  </a:lnTo>
                  <a:close/>
                </a:path>
              </a:pathLst>
            </a:custGeom>
            <a:solidFill>
              <a:srgbClr val="E9E1DB"/>
            </a:solidFill>
          </p:spPr>
          <p:txBody>
            <a:bodyPr/>
            <a:lstStyle/>
            <a:p>
              <a:endParaRPr lang="ar-SA"/>
            </a:p>
          </p:txBody>
        </p:sp>
        <p:sp>
          <p:nvSpPr>
            <p:cNvPr id="11" name="TextBox 11"/>
            <p:cNvSpPr txBox="1"/>
            <p:nvPr/>
          </p:nvSpPr>
          <p:spPr>
            <a:xfrm>
              <a:off x="101600" y="-38100"/>
              <a:ext cx="7246408" cy="647700"/>
            </a:xfrm>
            <a:prstGeom prst="rect">
              <a:avLst/>
            </a:prstGeom>
          </p:spPr>
          <p:txBody>
            <a:bodyPr lIns="50800" tIns="50800" rIns="50800" bIns="50800" rtlCol="0" anchor="ctr"/>
            <a:lstStyle/>
            <a:p>
              <a:pPr algn="ctr">
                <a:lnSpc>
                  <a:spcPts val="2659"/>
                </a:lnSpc>
                <a:spcBef>
                  <a:spcPct val="0"/>
                </a:spcBef>
              </a:pPr>
              <a:endParaRPr/>
            </a:p>
          </p:txBody>
        </p:sp>
      </p:grpSp>
      <p:sp>
        <p:nvSpPr>
          <p:cNvPr id="12" name="Freeform 12"/>
          <p:cNvSpPr/>
          <p:nvPr/>
        </p:nvSpPr>
        <p:spPr>
          <a:xfrm>
            <a:off x="3248835" y="3499564"/>
            <a:ext cx="12468779" cy="3179539"/>
          </a:xfrm>
          <a:custGeom>
            <a:avLst/>
            <a:gdLst/>
            <a:ahLst/>
            <a:cxnLst/>
            <a:rect l="l" t="t" r="r" b="b"/>
            <a:pathLst>
              <a:path w="12468779" h="3179539">
                <a:moveTo>
                  <a:pt x="0" y="0"/>
                </a:moveTo>
                <a:lnTo>
                  <a:pt x="12468779" y="0"/>
                </a:lnTo>
                <a:lnTo>
                  <a:pt x="12468779" y="3179538"/>
                </a:lnTo>
                <a:lnTo>
                  <a:pt x="0" y="3179538"/>
                </a:lnTo>
                <a:lnTo>
                  <a:pt x="0" y="0"/>
                </a:lnTo>
                <a:close/>
              </a:path>
            </a:pathLst>
          </a:custGeom>
          <a:blipFill>
            <a:blip r:embed="rId3"/>
            <a:stretch>
              <a:fillRect/>
            </a:stretch>
          </a:blipFill>
        </p:spPr>
        <p:txBody>
          <a:bodyPr/>
          <a:lstStyle/>
          <a:p>
            <a:endParaRPr lang="ar-SA"/>
          </a:p>
        </p:txBody>
      </p:sp>
      <p:sp>
        <p:nvSpPr>
          <p:cNvPr id="13" name="TextBox 13"/>
          <p:cNvSpPr txBox="1"/>
          <p:nvPr/>
        </p:nvSpPr>
        <p:spPr>
          <a:xfrm>
            <a:off x="753488" y="904875"/>
            <a:ext cx="13572955" cy="1166495"/>
          </a:xfrm>
          <a:prstGeom prst="rect">
            <a:avLst/>
          </a:prstGeom>
        </p:spPr>
        <p:txBody>
          <a:bodyPr lIns="0" tIns="0" rIns="0" bIns="0" rtlCol="0" anchor="t">
            <a:spAutoFit/>
          </a:bodyPr>
          <a:lstStyle/>
          <a:p>
            <a:pPr algn="r">
              <a:lnSpc>
                <a:spcPts val="4480"/>
              </a:lnSpc>
            </a:pPr>
            <a:r>
              <a:rPr lang="en-US" sz="3200">
                <a:solidFill>
                  <a:srgbClr val="E9E1DB"/>
                </a:solidFill>
                <a:latin typeface="Times New Roman"/>
                <a:ea typeface="Times New Roman"/>
                <a:cs typeface="Times New Roman"/>
                <a:sym typeface="Times New Roman"/>
              </a:rPr>
              <a:t> PROMPT ENGINEERING AND OUTPUT QUALITY IMPROVEMENT </a:t>
            </a:r>
          </a:p>
          <a:p>
            <a:pPr algn="r">
              <a:lnSpc>
                <a:spcPts val="4480"/>
              </a:lnSpc>
            </a:pPr>
            <a:endParaRPr lang="en-US" sz="3200">
              <a:solidFill>
                <a:srgbClr val="E9E1DB"/>
              </a:solidFill>
              <a:latin typeface="Times New Roman"/>
              <a:ea typeface="Times New Roman"/>
              <a:cs typeface="Times New Roman"/>
              <a:sym typeface="Times New Roman"/>
            </a:endParaRPr>
          </a:p>
        </p:txBody>
      </p:sp>
      <p:sp>
        <p:nvSpPr>
          <p:cNvPr id="14" name="TextBox 14"/>
          <p:cNvSpPr txBox="1"/>
          <p:nvPr/>
        </p:nvSpPr>
        <p:spPr>
          <a:xfrm>
            <a:off x="2325850" y="1957070"/>
            <a:ext cx="13636300" cy="538481"/>
          </a:xfrm>
          <a:prstGeom prst="rect">
            <a:avLst/>
          </a:prstGeom>
        </p:spPr>
        <p:txBody>
          <a:bodyPr lIns="0" tIns="0" rIns="0" bIns="0" rtlCol="0" anchor="t">
            <a:spAutoFit/>
          </a:bodyPr>
          <a:lstStyle/>
          <a:p>
            <a:pPr algn="ctr" rtl="1">
              <a:lnSpc>
                <a:spcPts val="3919"/>
              </a:lnSpc>
              <a:spcBef>
                <a:spcPct val="0"/>
              </a:spcBef>
            </a:pPr>
            <a:r>
              <a:rPr lang="ar-EG" sz="2799">
                <a:solidFill>
                  <a:srgbClr val="E9E1DB"/>
                </a:solidFill>
                <a:latin typeface="Times New Roman"/>
                <a:ea typeface="Times New Roman"/>
                <a:cs typeface="Times New Roman"/>
                <a:sym typeface="Times New Roman"/>
                <a:rtl/>
              </a:rPr>
              <a:t> </a:t>
            </a:r>
            <a:r>
              <a:rPr lang="en-US" sz="2799">
                <a:solidFill>
                  <a:srgbClr val="E9E1DB"/>
                </a:solidFill>
                <a:latin typeface="Times New Roman"/>
                <a:ea typeface="Times New Roman"/>
                <a:cs typeface="Times New Roman"/>
                <a:sym typeface="Times New Roman"/>
              </a:rPr>
              <a:t>Evaluate prompts effectiveness</a:t>
            </a:r>
            <a:r>
              <a:rPr lang="ar-EG" sz="2799">
                <a:solidFill>
                  <a:srgbClr val="E9E1DB"/>
                </a:solidFill>
                <a:latin typeface="Times New Roman"/>
                <a:ea typeface="Times New Roman"/>
                <a:cs typeface="Times New Roman"/>
                <a:sym typeface="Times New Roman"/>
                <a:rtl/>
              </a:rPr>
              <a:t> </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400235" y="-2280012"/>
            <a:ext cx="21938561" cy="13496146"/>
          </a:xfrm>
          <a:custGeom>
            <a:avLst/>
            <a:gdLst/>
            <a:ahLst/>
            <a:cxnLst/>
            <a:rect l="l" t="t" r="r" b="b"/>
            <a:pathLst>
              <a:path w="21938561" h="13496146">
                <a:moveTo>
                  <a:pt x="0" y="0"/>
                </a:moveTo>
                <a:lnTo>
                  <a:pt x="21938560" y="0"/>
                </a:lnTo>
                <a:lnTo>
                  <a:pt x="21938560" y="13496146"/>
                </a:lnTo>
                <a:lnTo>
                  <a:pt x="0" y="13496146"/>
                </a:lnTo>
                <a:lnTo>
                  <a:pt x="0" y="0"/>
                </a:lnTo>
                <a:close/>
              </a:path>
            </a:pathLst>
          </a:custGeom>
          <a:blipFill>
            <a:blip r:embed="rId2"/>
            <a:stretch>
              <a:fillRect l="-32641" t="-36451" r="-34370" b="-16258"/>
            </a:stretch>
          </a:blipFill>
        </p:spPr>
        <p:txBody>
          <a:bodyPr/>
          <a:lstStyle/>
          <a:p>
            <a:endParaRPr lang="ar-SA"/>
          </a:p>
        </p:txBody>
      </p:sp>
      <p:grpSp>
        <p:nvGrpSpPr>
          <p:cNvPr id="3" name="Group 3"/>
          <p:cNvGrpSpPr/>
          <p:nvPr/>
        </p:nvGrpSpPr>
        <p:grpSpPr>
          <a:xfrm rot="-2088381">
            <a:off x="-654014" y="5935649"/>
            <a:ext cx="7946576" cy="1601596"/>
            <a:chOff x="0" y="0"/>
            <a:chExt cx="3539030" cy="713275"/>
          </a:xfrm>
        </p:grpSpPr>
        <p:sp>
          <p:nvSpPr>
            <p:cNvPr id="4" name="Freeform 4"/>
            <p:cNvSpPr/>
            <p:nvPr/>
          </p:nvSpPr>
          <p:spPr>
            <a:xfrm>
              <a:off x="0" y="0"/>
              <a:ext cx="3539030" cy="713275"/>
            </a:xfrm>
            <a:custGeom>
              <a:avLst/>
              <a:gdLst/>
              <a:ahLst/>
              <a:cxnLst/>
              <a:rect l="l" t="t" r="r" b="b"/>
              <a:pathLst>
                <a:path w="3539030" h="713275">
                  <a:moveTo>
                    <a:pt x="203200" y="0"/>
                  </a:moveTo>
                  <a:lnTo>
                    <a:pt x="3539030" y="0"/>
                  </a:lnTo>
                  <a:lnTo>
                    <a:pt x="3335830" y="713275"/>
                  </a:lnTo>
                  <a:lnTo>
                    <a:pt x="0" y="713275"/>
                  </a:lnTo>
                  <a:lnTo>
                    <a:pt x="203200" y="0"/>
                  </a:lnTo>
                  <a:close/>
                </a:path>
              </a:pathLst>
            </a:custGeom>
            <a:solidFill>
              <a:srgbClr val="66574D"/>
            </a:solidFill>
          </p:spPr>
          <p:txBody>
            <a:bodyPr/>
            <a:lstStyle/>
            <a:p>
              <a:endParaRPr lang="ar-SA"/>
            </a:p>
          </p:txBody>
        </p:sp>
        <p:sp>
          <p:nvSpPr>
            <p:cNvPr id="5" name="TextBox 5"/>
            <p:cNvSpPr txBox="1"/>
            <p:nvPr/>
          </p:nvSpPr>
          <p:spPr>
            <a:xfrm>
              <a:off x="101600" y="-38100"/>
              <a:ext cx="3335830" cy="751375"/>
            </a:xfrm>
            <a:prstGeom prst="rect">
              <a:avLst/>
            </a:prstGeom>
          </p:spPr>
          <p:txBody>
            <a:bodyPr lIns="50800" tIns="50800" rIns="50800" bIns="50800" rtlCol="0" anchor="ctr"/>
            <a:lstStyle/>
            <a:p>
              <a:pPr algn="ctr">
                <a:lnSpc>
                  <a:spcPts val="2659"/>
                </a:lnSpc>
              </a:pPr>
              <a:endParaRPr/>
            </a:p>
          </p:txBody>
        </p:sp>
      </p:grpSp>
      <p:grpSp>
        <p:nvGrpSpPr>
          <p:cNvPr id="6" name="Group 6"/>
          <p:cNvGrpSpPr/>
          <p:nvPr/>
        </p:nvGrpSpPr>
        <p:grpSpPr>
          <a:xfrm>
            <a:off x="-1226391" y="419167"/>
            <a:ext cx="21419231" cy="9086516"/>
            <a:chOff x="0" y="0"/>
            <a:chExt cx="1540308" cy="653433"/>
          </a:xfrm>
        </p:grpSpPr>
        <p:sp>
          <p:nvSpPr>
            <p:cNvPr id="7" name="Freeform 7"/>
            <p:cNvSpPr/>
            <p:nvPr/>
          </p:nvSpPr>
          <p:spPr>
            <a:xfrm>
              <a:off x="0" y="0"/>
              <a:ext cx="1540308" cy="653433"/>
            </a:xfrm>
            <a:custGeom>
              <a:avLst/>
              <a:gdLst/>
              <a:ahLst/>
              <a:cxnLst/>
              <a:rect l="l" t="t" r="r" b="b"/>
              <a:pathLst>
                <a:path w="1540308" h="653433">
                  <a:moveTo>
                    <a:pt x="1337108" y="0"/>
                  </a:moveTo>
                  <a:lnTo>
                    <a:pt x="0" y="0"/>
                  </a:lnTo>
                  <a:lnTo>
                    <a:pt x="203200" y="653433"/>
                  </a:lnTo>
                  <a:lnTo>
                    <a:pt x="1540308" y="653433"/>
                  </a:lnTo>
                  <a:lnTo>
                    <a:pt x="1337108" y="0"/>
                  </a:lnTo>
                  <a:close/>
                </a:path>
              </a:pathLst>
            </a:custGeom>
            <a:solidFill>
              <a:srgbClr val="3D3735"/>
            </a:solidFill>
          </p:spPr>
          <p:txBody>
            <a:bodyPr/>
            <a:lstStyle/>
            <a:p>
              <a:endParaRPr lang="ar-SA"/>
            </a:p>
          </p:txBody>
        </p:sp>
        <p:sp>
          <p:nvSpPr>
            <p:cNvPr id="8" name="TextBox 8"/>
            <p:cNvSpPr txBox="1"/>
            <p:nvPr/>
          </p:nvSpPr>
          <p:spPr>
            <a:xfrm>
              <a:off x="101600" y="-38100"/>
              <a:ext cx="1337108" cy="691533"/>
            </a:xfrm>
            <a:prstGeom prst="rect">
              <a:avLst/>
            </a:prstGeom>
          </p:spPr>
          <p:txBody>
            <a:bodyPr lIns="50800" tIns="50800" rIns="50800" bIns="50800" rtlCol="0" anchor="ctr"/>
            <a:lstStyle/>
            <a:p>
              <a:pPr algn="ctr">
                <a:lnSpc>
                  <a:spcPts val="2659"/>
                </a:lnSpc>
                <a:spcBef>
                  <a:spcPct val="0"/>
                </a:spcBef>
              </a:pPr>
              <a:endParaRPr/>
            </a:p>
          </p:txBody>
        </p:sp>
      </p:grpSp>
      <p:grpSp>
        <p:nvGrpSpPr>
          <p:cNvPr id="9" name="Group 9"/>
          <p:cNvGrpSpPr/>
          <p:nvPr/>
        </p:nvGrpSpPr>
        <p:grpSpPr>
          <a:xfrm>
            <a:off x="0" y="8107296"/>
            <a:ext cx="18998529" cy="1554646"/>
            <a:chOff x="0" y="0"/>
            <a:chExt cx="7449608" cy="609600"/>
          </a:xfrm>
        </p:grpSpPr>
        <p:sp>
          <p:nvSpPr>
            <p:cNvPr id="10" name="Freeform 10"/>
            <p:cNvSpPr/>
            <p:nvPr/>
          </p:nvSpPr>
          <p:spPr>
            <a:xfrm>
              <a:off x="0" y="0"/>
              <a:ext cx="7449608" cy="609600"/>
            </a:xfrm>
            <a:custGeom>
              <a:avLst/>
              <a:gdLst/>
              <a:ahLst/>
              <a:cxnLst/>
              <a:rect l="l" t="t" r="r" b="b"/>
              <a:pathLst>
                <a:path w="7449608" h="609600">
                  <a:moveTo>
                    <a:pt x="7246408" y="0"/>
                  </a:moveTo>
                  <a:lnTo>
                    <a:pt x="0" y="0"/>
                  </a:lnTo>
                  <a:lnTo>
                    <a:pt x="203200" y="609600"/>
                  </a:lnTo>
                  <a:lnTo>
                    <a:pt x="7449608" y="609600"/>
                  </a:lnTo>
                  <a:lnTo>
                    <a:pt x="7246408" y="0"/>
                  </a:lnTo>
                  <a:close/>
                </a:path>
              </a:pathLst>
            </a:custGeom>
            <a:solidFill>
              <a:srgbClr val="E9E1DB"/>
            </a:solidFill>
          </p:spPr>
          <p:txBody>
            <a:bodyPr/>
            <a:lstStyle/>
            <a:p>
              <a:endParaRPr lang="ar-SA"/>
            </a:p>
          </p:txBody>
        </p:sp>
        <p:sp>
          <p:nvSpPr>
            <p:cNvPr id="11" name="TextBox 11"/>
            <p:cNvSpPr txBox="1"/>
            <p:nvPr/>
          </p:nvSpPr>
          <p:spPr>
            <a:xfrm>
              <a:off x="101600" y="-38100"/>
              <a:ext cx="7246408" cy="647700"/>
            </a:xfrm>
            <a:prstGeom prst="rect">
              <a:avLst/>
            </a:prstGeom>
          </p:spPr>
          <p:txBody>
            <a:bodyPr lIns="50800" tIns="50800" rIns="50800" bIns="50800" rtlCol="0" anchor="ctr"/>
            <a:lstStyle/>
            <a:p>
              <a:pPr algn="ctr">
                <a:lnSpc>
                  <a:spcPts val="2659"/>
                </a:lnSpc>
                <a:spcBef>
                  <a:spcPct val="0"/>
                </a:spcBef>
              </a:pPr>
              <a:endParaRPr/>
            </a:p>
          </p:txBody>
        </p:sp>
      </p:grpSp>
      <p:sp>
        <p:nvSpPr>
          <p:cNvPr id="12" name="Freeform 12"/>
          <p:cNvSpPr/>
          <p:nvPr/>
        </p:nvSpPr>
        <p:spPr>
          <a:xfrm>
            <a:off x="1869318" y="3355045"/>
            <a:ext cx="15227813" cy="3214760"/>
          </a:xfrm>
          <a:custGeom>
            <a:avLst/>
            <a:gdLst/>
            <a:ahLst/>
            <a:cxnLst/>
            <a:rect l="l" t="t" r="r" b="b"/>
            <a:pathLst>
              <a:path w="15227813" h="3214760">
                <a:moveTo>
                  <a:pt x="0" y="0"/>
                </a:moveTo>
                <a:lnTo>
                  <a:pt x="15227813" y="0"/>
                </a:lnTo>
                <a:lnTo>
                  <a:pt x="15227813" y="3214760"/>
                </a:lnTo>
                <a:lnTo>
                  <a:pt x="0" y="3214760"/>
                </a:lnTo>
                <a:lnTo>
                  <a:pt x="0" y="0"/>
                </a:lnTo>
                <a:close/>
              </a:path>
            </a:pathLst>
          </a:custGeom>
          <a:blipFill>
            <a:blip r:embed="rId3"/>
            <a:stretch>
              <a:fillRect l="-17240" t="-94467" r="-13724" b="-154484"/>
            </a:stretch>
          </a:blipFill>
        </p:spPr>
        <p:txBody>
          <a:bodyPr/>
          <a:lstStyle/>
          <a:p>
            <a:endParaRPr lang="ar-SA"/>
          </a:p>
        </p:txBody>
      </p:sp>
      <p:sp>
        <p:nvSpPr>
          <p:cNvPr id="13" name="TextBox 13"/>
          <p:cNvSpPr txBox="1"/>
          <p:nvPr/>
        </p:nvSpPr>
        <p:spPr>
          <a:xfrm>
            <a:off x="753488" y="904875"/>
            <a:ext cx="13572955" cy="1166495"/>
          </a:xfrm>
          <a:prstGeom prst="rect">
            <a:avLst/>
          </a:prstGeom>
        </p:spPr>
        <p:txBody>
          <a:bodyPr lIns="0" tIns="0" rIns="0" bIns="0" rtlCol="0" anchor="t">
            <a:spAutoFit/>
          </a:bodyPr>
          <a:lstStyle/>
          <a:p>
            <a:pPr algn="r">
              <a:lnSpc>
                <a:spcPts val="4480"/>
              </a:lnSpc>
            </a:pPr>
            <a:r>
              <a:rPr lang="en-US" sz="3200">
                <a:solidFill>
                  <a:srgbClr val="E9E1DB"/>
                </a:solidFill>
                <a:latin typeface="Times New Roman"/>
                <a:ea typeface="Times New Roman"/>
                <a:cs typeface="Times New Roman"/>
                <a:sym typeface="Times New Roman"/>
              </a:rPr>
              <a:t> PROMPT ENGINEERING AND OUTPUT QUALITY IMPROVEMENT </a:t>
            </a:r>
          </a:p>
          <a:p>
            <a:pPr algn="r">
              <a:lnSpc>
                <a:spcPts val="4480"/>
              </a:lnSpc>
            </a:pPr>
            <a:endParaRPr lang="en-US" sz="3200">
              <a:solidFill>
                <a:srgbClr val="E9E1DB"/>
              </a:solidFill>
              <a:latin typeface="Times New Roman"/>
              <a:ea typeface="Times New Roman"/>
              <a:cs typeface="Times New Roman"/>
              <a:sym typeface="Times New Roman"/>
            </a:endParaRPr>
          </a:p>
        </p:txBody>
      </p:sp>
      <p:sp>
        <p:nvSpPr>
          <p:cNvPr id="14" name="TextBox 14"/>
          <p:cNvSpPr txBox="1"/>
          <p:nvPr/>
        </p:nvSpPr>
        <p:spPr>
          <a:xfrm>
            <a:off x="2325850" y="1957070"/>
            <a:ext cx="13636300" cy="538481"/>
          </a:xfrm>
          <a:prstGeom prst="rect">
            <a:avLst/>
          </a:prstGeom>
        </p:spPr>
        <p:txBody>
          <a:bodyPr lIns="0" tIns="0" rIns="0" bIns="0" rtlCol="0" anchor="t">
            <a:spAutoFit/>
          </a:bodyPr>
          <a:lstStyle/>
          <a:p>
            <a:pPr algn="ctr" rtl="1">
              <a:lnSpc>
                <a:spcPts val="3919"/>
              </a:lnSpc>
              <a:spcBef>
                <a:spcPct val="0"/>
              </a:spcBef>
            </a:pPr>
            <a:r>
              <a:rPr lang="en-US" sz="2799">
                <a:solidFill>
                  <a:srgbClr val="E9E1DB"/>
                </a:solidFill>
                <a:latin typeface="Times New Roman"/>
                <a:ea typeface="Times New Roman"/>
                <a:cs typeface="Times New Roman"/>
                <a:sym typeface="Times New Roman"/>
              </a:rPr>
              <a:t>Developing prompts library</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400235" y="-2280012"/>
            <a:ext cx="21938561" cy="13496146"/>
          </a:xfrm>
          <a:custGeom>
            <a:avLst/>
            <a:gdLst/>
            <a:ahLst/>
            <a:cxnLst/>
            <a:rect l="l" t="t" r="r" b="b"/>
            <a:pathLst>
              <a:path w="21938561" h="13496146">
                <a:moveTo>
                  <a:pt x="0" y="0"/>
                </a:moveTo>
                <a:lnTo>
                  <a:pt x="21938560" y="0"/>
                </a:lnTo>
                <a:lnTo>
                  <a:pt x="21938560" y="13496146"/>
                </a:lnTo>
                <a:lnTo>
                  <a:pt x="0" y="13496146"/>
                </a:lnTo>
                <a:lnTo>
                  <a:pt x="0" y="0"/>
                </a:lnTo>
                <a:close/>
              </a:path>
            </a:pathLst>
          </a:custGeom>
          <a:blipFill>
            <a:blip r:embed="rId2"/>
            <a:stretch>
              <a:fillRect l="-32641" t="-36451" r="-34370" b="-16258"/>
            </a:stretch>
          </a:blipFill>
        </p:spPr>
        <p:txBody>
          <a:bodyPr/>
          <a:lstStyle/>
          <a:p>
            <a:endParaRPr lang="ar-SA"/>
          </a:p>
        </p:txBody>
      </p:sp>
      <p:grpSp>
        <p:nvGrpSpPr>
          <p:cNvPr id="3" name="Group 3"/>
          <p:cNvGrpSpPr/>
          <p:nvPr/>
        </p:nvGrpSpPr>
        <p:grpSpPr>
          <a:xfrm rot="-2088381">
            <a:off x="-654014" y="5935649"/>
            <a:ext cx="7946576" cy="1601596"/>
            <a:chOff x="0" y="0"/>
            <a:chExt cx="3539030" cy="713275"/>
          </a:xfrm>
        </p:grpSpPr>
        <p:sp>
          <p:nvSpPr>
            <p:cNvPr id="4" name="Freeform 4"/>
            <p:cNvSpPr/>
            <p:nvPr/>
          </p:nvSpPr>
          <p:spPr>
            <a:xfrm>
              <a:off x="0" y="0"/>
              <a:ext cx="3539030" cy="713275"/>
            </a:xfrm>
            <a:custGeom>
              <a:avLst/>
              <a:gdLst/>
              <a:ahLst/>
              <a:cxnLst/>
              <a:rect l="l" t="t" r="r" b="b"/>
              <a:pathLst>
                <a:path w="3539030" h="713275">
                  <a:moveTo>
                    <a:pt x="203200" y="0"/>
                  </a:moveTo>
                  <a:lnTo>
                    <a:pt x="3539030" y="0"/>
                  </a:lnTo>
                  <a:lnTo>
                    <a:pt x="3335830" y="713275"/>
                  </a:lnTo>
                  <a:lnTo>
                    <a:pt x="0" y="713275"/>
                  </a:lnTo>
                  <a:lnTo>
                    <a:pt x="203200" y="0"/>
                  </a:lnTo>
                  <a:close/>
                </a:path>
              </a:pathLst>
            </a:custGeom>
            <a:solidFill>
              <a:srgbClr val="66574D"/>
            </a:solidFill>
          </p:spPr>
          <p:txBody>
            <a:bodyPr/>
            <a:lstStyle/>
            <a:p>
              <a:endParaRPr lang="ar-SA"/>
            </a:p>
          </p:txBody>
        </p:sp>
        <p:sp>
          <p:nvSpPr>
            <p:cNvPr id="5" name="TextBox 5"/>
            <p:cNvSpPr txBox="1"/>
            <p:nvPr/>
          </p:nvSpPr>
          <p:spPr>
            <a:xfrm>
              <a:off x="101600" y="-38100"/>
              <a:ext cx="3335830" cy="751375"/>
            </a:xfrm>
            <a:prstGeom prst="rect">
              <a:avLst/>
            </a:prstGeom>
          </p:spPr>
          <p:txBody>
            <a:bodyPr lIns="50800" tIns="50800" rIns="50800" bIns="50800" rtlCol="0" anchor="ctr"/>
            <a:lstStyle/>
            <a:p>
              <a:pPr algn="ctr">
                <a:lnSpc>
                  <a:spcPts val="2659"/>
                </a:lnSpc>
              </a:pPr>
              <a:endParaRPr/>
            </a:p>
          </p:txBody>
        </p:sp>
      </p:grpSp>
      <p:grpSp>
        <p:nvGrpSpPr>
          <p:cNvPr id="6" name="Group 6"/>
          <p:cNvGrpSpPr/>
          <p:nvPr/>
        </p:nvGrpSpPr>
        <p:grpSpPr>
          <a:xfrm>
            <a:off x="-1226391" y="419167"/>
            <a:ext cx="21419231" cy="9086516"/>
            <a:chOff x="0" y="0"/>
            <a:chExt cx="1540308" cy="653433"/>
          </a:xfrm>
        </p:grpSpPr>
        <p:sp>
          <p:nvSpPr>
            <p:cNvPr id="7" name="Freeform 7"/>
            <p:cNvSpPr/>
            <p:nvPr/>
          </p:nvSpPr>
          <p:spPr>
            <a:xfrm>
              <a:off x="0" y="0"/>
              <a:ext cx="1540308" cy="653433"/>
            </a:xfrm>
            <a:custGeom>
              <a:avLst/>
              <a:gdLst/>
              <a:ahLst/>
              <a:cxnLst/>
              <a:rect l="l" t="t" r="r" b="b"/>
              <a:pathLst>
                <a:path w="1540308" h="653433">
                  <a:moveTo>
                    <a:pt x="1337108" y="0"/>
                  </a:moveTo>
                  <a:lnTo>
                    <a:pt x="0" y="0"/>
                  </a:lnTo>
                  <a:lnTo>
                    <a:pt x="203200" y="653433"/>
                  </a:lnTo>
                  <a:lnTo>
                    <a:pt x="1540308" y="653433"/>
                  </a:lnTo>
                  <a:lnTo>
                    <a:pt x="1337108" y="0"/>
                  </a:lnTo>
                  <a:close/>
                </a:path>
              </a:pathLst>
            </a:custGeom>
            <a:solidFill>
              <a:srgbClr val="3D3735"/>
            </a:solidFill>
          </p:spPr>
          <p:txBody>
            <a:bodyPr/>
            <a:lstStyle/>
            <a:p>
              <a:endParaRPr lang="ar-SA"/>
            </a:p>
          </p:txBody>
        </p:sp>
        <p:sp>
          <p:nvSpPr>
            <p:cNvPr id="8" name="TextBox 8"/>
            <p:cNvSpPr txBox="1"/>
            <p:nvPr/>
          </p:nvSpPr>
          <p:spPr>
            <a:xfrm>
              <a:off x="101600" y="-38100"/>
              <a:ext cx="1337108" cy="691533"/>
            </a:xfrm>
            <a:prstGeom prst="rect">
              <a:avLst/>
            </a:prstGeom>
          </p:spPr>
          <p:txBody>
            <a:bodyPr lIns="50800" tIns="50800" rIns="50800" bIns="50800" rtlCol="0" anchor="ctr"/>
            <a:lstStyle/>
            <a:p>
              <a:pPr algn="ctr">
                <a:lnSpc>
                  <a:spcPts val="2659"/>
                </a:lnSpc>
                <a:spcBef>
                  <a:spcPct val="0"/>
                </a:spcBef>
              </a:pPr>
              <a:endParaRPr/>
            </a:p>
          </p:txBody>
        </p:sp>
      </p:grpSp>
      <p:grpSp>
        <p:nvGrpSpPr>
          <p:cNvPr id="9" name="Group 9"/>
          <p:cNvGrpSpPr/>
          <p:nvPr/>
        </p:nvGrpSpPr>
        <p:grpSpPr>
          <a:xfrm>
            <a:off x="0" y="8107296"/>
            <a:ext cx="18998529" cy="1554646"/>
            <a:chOff x="0" y="0"/>
            <a:chExt cx="7449608" cy="609600"/>
          </a:xfrm>
        </p:grpSpPr>
        <p:sp>
          <p:nvSpPr>
            <p:cNvPr id="10" name="Freeform 10"/>
            <p:cNvSpPr/>
            <p:nvPr/>
          </p:nvSpPr>
          <p:spPr>
            <a:xfrm>
              <a:off x="0" y="0"/>
              <a:ext cx="7449608" cy="609600"/>
            </a:xfrm>
            <a:custGeom>
              <a:avLst/>
              <a:gdLst/>
              <a:ahLst/>
              <a:cxnLst/>
              <a:rect l="l" t="t" r="r" b="b"/>
              <a:pathLst>
                <a:path w="7449608" h="609600">
                  <a:moveTo>
                    <a:pt x="7246408" y="0"/>
                  </a:moveTo>
                  <a:lnTo>
                    <a:pt x="0" y="0"/>
                  </a:lnTo>
                  <a:lnTo>
                    <a:pt x="203200" y="609600"/>
                  </a:lnTo>
                  <a:lnTo>
                    <a:pt x="7449608" y="609600"/>
                  </a:lnTo>
                  <a:lnTo>
                    <a:pt x="7246408" y="0"/>
                  </a:lnTo>
                  <a:close/>
                </a:path>
              </a:pathLst>
            </a:custGeom>
            <a:solidFill>
              <a:srgbClr val="E9E1DB"/>
            </a:solidFill>
          </p:spPr>
          <p:txBody>
            <a:bodyPr/>
            <a:lstStyle/>
            <a:p>
              <a:endParaRPr lang="ar-SA"/>
            </a:p>
          </p:txBody>
        </p:sp>
        <p:sp>
          <p:nvSpPr>
            <p:cNvPr id="11" name="TextBox 11"/>
            <p:cNvSpPr txBox="1"/>
            <p:nvPr/>
          </p:nvSpPr>
          <p:spPr>
            <a:xfrm>
              <a:off x="101600" y="-38100"/>
              <a:ext cx="7246408" cy="647700"/>
            </a:xfrm>
            <a:prstGeom prst="rect">
              <a:avLst/>
            </a:prstGeom>
          </p:spPr>
          <p:txBody>
            <a:bodyPr lIns="50800" tIns="50800" rIns="50800" bIns="50800" rtlCol="0" anchor="ctr"/>
            <a:lstStyle/>
            <a:p>
              <a:pPr algn="ctr">
                <a:lnSpc>
                  <a:spcPts val="2659"/>
                </a:lnSpc>
                <a:spcBef>
                  <a:spcPct val="0"/>
                </a:spcBef>
              </a:pPr>
              <a:endParaRPr/>
            </a:p>
          </p:txBody>
        </p:sp>
      </p:grpSp>
      <p:sp>
        <p:nvSpPr>
          <p:cNvPr id="12" name="Freeform 12"/>
          <p:cNvSpPr/>
          <p:nvPr/>
        </p:nvSpPr>
        <p:spPr>
          <a:xfrm>
            <a:off x="12443902" y="3704642"/>
            <a:ext cx="4364760" cy="3660394"/>
          </a:xfrm>
          <a:custGeom>
            <a:avLst/>
            <a:gdLst/>
            <a:ahLst/>
            <a:cxnLst/>
            <a:rect l="l" t="t" r="r" b="b"/>
            <a:pathLst>
              <a:path w="4364760" h="3660394">
                <a:moveTo>
                  <a:pt x="0" y="0"/>
                </a:moveTo>
                <a:lnTo>
                  <a:pt x="4364760" y="0"/>
                </a:lnTo>
                <a:lnTo>
                  <a:pt x="4364760" y="3660394"/>
                </a:lnTo>
                <a:lnTo>
                  <a:pt x="0" y="3660394"/>
                </a:lnTo>
                <a:lnTo>
                  <a:pt x="0" y="0"/>
                </a:lnTo>
                <a:close/>
              </a:path>
            </a:pathLst>
          </a:custGeom>
          <a:blipFill>
            <a:blip r:embed="rId3"/>
            <a:stretch>
              <a:fillRect/>
            </a:stretch>
          </a:blipFill>
        </p:spPr>
        <p:txBody>
          <a:bodyPr/>
          <a:lstStyle/>
          <a:p>
            <a:endParaRPr lang="ar-SA"/>
          </a:p>
        </p:txBody>
      </p:sp>
      <p:sp>
        <p:nvSpPr>
          <p:cNvPr id="13" name="TextBox 13"/>
          <p:cNvSpPr txBox="1"/>
          <p:nvPr/>
        </p:nvSpPr>
        <p:spPr>
          <a:xfrm>
            <a:off x="1028700" y="904875"/>
            <a:ext cx="12867180" cy="1166495"/>
          </a:xfrm>
          <a:prstGeom prst="rect">
            <a:avLst/>
          </a:prstGeom>
        </p:spPr>
        <p:txBody>
          <a:bodyPr lIns="0" tIns="0" rIns="0" bIns="0" rtlCol="0" anchor="t">
            <a:spAutoFit/>
          </a:bodyPr>
          <a:lstStyle/>
          <a:p>
            <a:pPr algn="just">
              <a:lnSpc>
                <a:spcPts val="4480"/>
              </a:lnSpc>
            </a:pPr>
            <a:r>
              <a:rPr lang="en-US" sz="3200">
                <a:solidFill>
                  <a:srgbClr val="E9E1DB"/>
                </a:solidFill>
                <a:latin typeface="Times New Roman"/>
                <a:ea typeface="Times New Roman"/>
                <a:cs typeface="Times New Roman"/>
                <a:sym typeface="Times New Roman"/>
              </a:rPr>
              <a:t>EVALUATING GENERATIVE CONTENT LINGUISTICALLY</a:t>
            </a:r>
          </a:p>
          <a:p>
            <a:pPr algn="just">
              <a:lnSpc>
                <a:spcPts val="4480"/>
              </a:lnSpc>
            </a:pPr>
            <a:r>
              <a:rPr lang="en-US" sz="3200">
                <a:solidFill>
                  <a:srgbClr val="E9E1DB"/>
                </a:solidFill>
                <a:latin typeface="Times New Roman"/>
                <a:ea typeface="Times New Roman"/>
                <a:cs typeface="Times New Roman"/>
                <a:sym typeface="Times New Roman"/>
              </a:rPr>
              <a:t> AND PEDAGOGICALLY</a:t>
            </a:r>
          </a:p>
        </p:txBody>
      </p:sp>
      <p:sp>
        <p:nvSpPr>
          <p:cNvPr id="14" name="TextBox 14"/>
          <p:cNvSpPr txBox="1"/>
          <p:nvPr/>
        </p:nvSpPr>
        <p:spPr>
          <a:xfrm>
            <a:off x="1530140" y="2679380"/>
            <a:ext cx="5215930" cy="933974"/>
          </a:xfrm>
          <a:prstGeom prst="rect">
            <a:avLst/>
          </a:prstGeom>
        </p:spPr>
        <p:txBody>
          <a:bodyPr lIns="0" tIns="0" rIns="0" bIns="0" rtlCol="0" anchor="t">
            <a:spAutoFit/>
          </a:bodyPr>
          <a:lstStyle/>
          <a:p>
            <a:pPr>
              <a:lnSpc>
                <a:spcPts val="3779"/>
              </a:lnSpc>
              <a:spcBef>
                <a:spcPct val="0"/>
              </a:spcBef>
            </a:pPr>
            <a:r>
              <a:rPr lang="en-US" sz="2699" b="1" dirty="0">
                <a:solidFill>
                  <a:srgbClr val="E9E1DB"/>
                </a:solidFill>
                <a:latin typeface="Times New Roman Bold"/>
                <a:ea typeface="Times New Roman Bold"/>
                <a:cs typeface="Times New Roman Bold"/>
                <a:sym typeface="Times New Roman Bold"/>
              </a:rPr>
              <a:t>What does Bloom's taxonomy mean?</a:t>
            </a:r>
          </a:p>
        </p:txBody>
      </p:sp>
      <p:sp>
        <p:nvSpPr>
          <p:cNvPr id="15" name="TextBox 15"/>
          <p:cNvSpPr txBox="1"/>
          <p:nvPr/>
        </p:nvSpPr>
        <p:spPr>
          <a:xfrm>
            <a:off x="1841804" y="3898126"/>
            <a:ext cx="8727241" cy="3197225"/>
          </a:xfrm>
          <a:prstGeom prst="rect">
            <a:avLst/>
          </a:prstGeom>
        </p:spPr>
        <p:txBody>
          <a:bodyPr lIns="0" tIns="0" rIns="0" bIns="0" rtlCol="0" anchor="t">
            <a:spAutoFit/>
          </a:bodyPr>
          <a:lstStyle/>
          <a:p>
            <a:pPr algn="l">
              <a:lnSpc>
                <a:spcPts val="2799"/>
              </a:lnSpc>
              <a:spcBef>
                <a:spcPct val="0"/>
              </a:spcBef>
            </a:pPr>
            <a:r>
              <a:rPr lang="en-US" sz="1999">
                <a:solidFill>
                  <a:srgbClr val="E9E1DB"/>
                </a:solidFill>
                <a:latin typeface="Times New Roman"/>
                <a:ea typeface="Times New Roman"/>
                <a:cs typeface="Times New Roman"/>
                <a:sym typeface="Times New Roman"/>
              </a:rPr>
              <a:t> a framework for classifying the levels of thinking and knowledge that the learner must achieve during the educational process. Bloom's Taxonomy contains six main levels, each representing a different type of cognitive skill: remember, understand, apply, analyze, evaluate, create/synthesize; it helps in writing measurable objectives, such as: The student must be able to recall key terms in each topic, and the student must explain a specific concept with a clear understanding. In addition, it helps in designing activities and gradual assessment. In the context of analyzing the generated outputs, it will be used to classify each learning objective resulting from the AI mode.</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400235" y="-2280012"/>
            <a:ext cx="21938561" cy="13496146"/>
          </a:xfrm>
          <a:custGeom>
            <a:avLst/>
            <a:gdLst/>
            <a:ahLst/>
            <a:cxnLst/>
            <a:rect l="l" t="t" r="r" b="b"/>
            <a:pathLst>
              <a:path w="21938561" h="13496146">
                <a:moveTo>
                  <a:pt x="0" y="0"/>
                </a:moveTo>
                <a:lnTo>
                  <a:pt x="21938560" y="0"/>
                </a:lnTo>
                <a:lnTo>
                  <a:pt x="21938560" y="13496146"/>
                </a:lnTo>
                <a:lnTo>
                  <a:pt x="0" y="13496146"/>
                </a:lnTo>
                <a:lnTo>
                  <a:pt x="0" y="0"/>
                </a:lnTo>
                <a:close/>
              </a:path>
            </a:pathLst>
          </a:custGeom>
          <a:blipFill>
            <a:blip r:embed="rId2"/>
            <a:stretch>
              <a:fillRect l="-32641" t="-36451" r="-34370" b="-16258"/>
            </a:stretch>
          </a:blipFill>
        </p:spPr>
        <p:txBody>
          <a:bodyPr/>
          <a:lstStyle/>
          <a:p>
            <a:endParaRPr lang="ar-SA"/>
          </a:p>
        </p:txBody>
      </p:sp>
      <p:grpSp>
        <p:nvGrpSpPr>
          <p:cNvPr id="3" name="Group 3"/>
          <p:cNvGrpSpPr/>
          <p:nvPr/>
        </p:nvGrpSpPr>
        <p:grpSpPr>
          <a:xfrm rot="-2088381">
            <a:off x="-654014" y="5935649"/>
            <a:ext cx="7946576" cy="1601596"/>
            <a:chOff x="0" y="0"/>
            <a:chExt cx="3539030" cy="713275"/>
          </a:xfrm>
        </p:grpSpPr>
        <p:sp>
          <p:nvSpPr>
            <p:cNvPr id="4" name="Freeform 4"/>
            <p:cNvSpPr/>
            <p:nvPr/>
          </p:nvSpPr>
          <p:spPr>
            <a:xfrm>
              <a:off x="0" y="0"/>
              <a:ext cx="3539030" cy="713275"/>
            </a:xfrm>
            <a:custGeom>
              <a:avLst/>
              <a:gdLst/>
              <a:ahLst/>
              <a:cxnLst/>
              <a:rect l="l" t="t" r="r" b="b"/>
              <a:pathLst>
                <a:path w="3539030" h="713275">
                  <a:moveTo>
                    <a:pt x="203200" y="0"/>
                  </a:moveTo>
                  <a:lnTo>
                    <a:pt x="3539030" y="0"/>
                  </a:lnTo>
                  <a:lnTo>
                    <a:pt x="3335830" y="713275"/>
                  </a:lnTo>
                  <a:lnTo>
                    <a:pt x="0" y="713275"/>
                  </a:lnTo>
                  <a:lnTo>
                    <a:pt x="203200" y="0"/>
                  </a:lnTo>
                  <a:close/>
                </a:path>
              </a:pathLst>
            </a:custGeom>
            <a:solidFill>
              <a:srgbClr val="66574D"/>
            </a:solidFill>
          </p:spPr>
          <p:txBody>
            <a:bodyPr/>
            <a:lstStyle/>
            <a:p>
              <a:endParaRPr lang="ar-SA"/>
            </a:p>
          </p:txBody>
        </p:sp>
        <p:sp>
          <p:nvSpPr>
            <p:cNvPr id="5" name="TextBox 5"/>
            <p:cNvSpPr txBox="1"/>
            <p:nvPr/>
          </p:nvSpPr>
          <p:spPr>
            <a:xfrm>
              <a:off x="101600" y="-38100"/>
              <a:ext cx="3335830" cy="751375"/>
            </a:xfrm>
            <a:prstGeom prst="rect">
              <a:avLst/>
            </a:prstGeom>
          </p:spPr>
          <p:txBody>
            <a:bodyPr lIns="50800" tIns="50800" rIns="50800" bIns="50800" rtlCol="0" anchor="ctr"/>
            <a:lstStyle/>
            <a:p>
              <a:pPr algn="ctr">
                <a:lnSpc>
                  <a:spcPts val="2659"/>
                </a:lnSpc>
              </a:pPr>
              <a:endParaRPr/>
            </a:p>
          </p:txBody>
        </p:sp>
      </p:grpSp>
      <p:grpSp>
        <p:nvGrpSpPr>
          <p:cNvPr id="6" name="Group 6"/>
          <p:cNvGrpSpPr/>
          <p:nvPr/>
        </p:nvGrpSpPr>
        <p:grpSpPr>
          <a:xfrm>
            <a:off x="-1226391" y="419167"/>
            <a:ext cx="21419231" cy="9086516"/>
            <a:chOff x="0" y="0"/>
            <a:chExt cx="1540308" cy="653433"/>
          </a:xfrm>
        </p:grpSpPr>
        <p:sp>
          <p:nvSpPr>
            <p:cNvPr id="7" name="Freeform 7"/>
            <p:cNvSpPr/>
            <p:nvPr/>
          </p:nvSpPr>
          <p:spPr>
            <a:xfrm>
              <a:off x="0" y="0"/>
              <a:ext cx="1540308" cy="653433"/>
            </a:xfrm>
            <a:custGeom>
              <a:avLst/>
              <a:gdLst/>
              <a:ahLst/>
              <a:cxnLst/>
              <a:rect l="l" t="t" r="r" b="b"/>
              <a:pathLst>
                <a:path w="1540308" h="653433">
                  <a:moveTo>
                    <a:pt x="1337108" y="0"/>
                  </a:moveTo>
                  <a:lnTo>
                    <a:pt x="0" y="0"/>
                  </a:lnTo>
                  <a:lnTo>
                    <a:pt x="203200" y="653433"/>
                  </a:lnTo>
                  <a:lnTo>
                    <a:pt x="1540308" y="653433"/>
                  </a:lnTo>
                  <a:lnTo>
                    <a:pt x="1337108" y="0"/>
                  </a:lnTo>
                  <a:close/>
                </a:path>
              </a:pathLst>
            </a:custGeom>
            <a:solidFill>
              <a:srgbClr val="3D3735"/>
            </a:solidFill>
          </p:spPr>
          <p:txBody>
            <a:bodyPr/>
            <a:lstStyle/>
            <a:p>
              <a:endParaRPr lang="ar-SA"/>
            </a:p>
          </p:txBody>
        </p:sp>
        <p:sp>
          <p:nvSpPr>
            <p:cNvPr id="8" name="TextBox 8"/>
            <p:cNvSpPr txBox="1"/>
            <p:nvPr/>
          </p:nvSpPr>
          <p:spPr>
            <a:xfrm>
              <a:off x="101600" y="-38100"/>
              <a:ext cx="1337108" cy="691533"/>
            </a:xfrm>
            <a:prstGeom prst="rect">
              <a:avLst/>
            </a:prstGeom>
          </p:spPr>
          <p:txBody>
            <a:bodyPr lIns="50800" tIns="50800" rIns="50800" bIns="50800" rtlCol="0" anchor="ctr"/>
            <a:lstStyle/>
            <a:p>
              <a:pPr algn="ctr">
                <a:lnSpc>
                  <a:spcPts val="2659"/>
                </a:lnSpc>
                <a:spcBef>
                  <a:spcPct val="0"/>
                </a:spcBef>
              </a:pPr>
              <a:endParaRPr/>
            </a:p>
          </p:txBody>
        </p:sp>
      </p:grpSp>
      <p:grpSp>
        <p:nvGrpSpPr>
          <p:cNvPr id="9" name="Group 9"/>
          <p:cNvGrpSpPr/>
          <p:nvPr/>
        </p:nvGrpSpPr>
        <p:grpSpPr>
          <a:xfrm>
            <a:off x="0" y="8107296"/>
            <a:ext cx="18998529" cy="1554646"/>
            <a:chOff x="0" y="0"/>
            <a:chExt cx="7449608" cy="609600"/>
          </a:xfrm>
        </p:grpSpPr>
        <p:sp>
          <p:nvSpPr>
            <p:cNvPr id="10" name="Freeform 10"/>
            <p:cNvSpPr/>
            <p:nvPr/>
          </p:nvSpPr>
          <p:spPr>
            <a:xfrm>
              <a:off x="0" y="0"/>
              <a:ext cx="7449608" cy="609600"/>
            </a:xfrm>
            <a:custGeom>
              <a:avLst/>
              <a:gdLst/>
              <a:ahLst/>
              <a:cxnLst/>
              <a:rect l="l" t="t" r="r" b="b"/>
              <a:pathLst>
                <a:path w="7449608" h="609600">
                  <a:moveTo>
                    <a:pt x="7246408" y="0"/>
                  </a:moveTo>
                  <a:lnTo>
                    <a:pt x="0" y="0"/>
                  </a:lnTo>
                  <a:lnTo>
                    <a:pt x="203200" y="609600"/>
                  </a:lnTo>
                  <a:lnTo>
                    <a:pt x="7449608" y="609600"/>
                  </a:lnTo>
                  <a:lnTo>
                    <a:pt x="7246408" y="0"/>
                  </a:lnTo>
                  <a:close/>
                </a:path>
              </a:pathLst>
            </a:custGeom>
            <a:solidFill>
              <a:srgbClr val="E9E1DB"/>
            </a:solidFill>
          </p:spPr>
          <p:txBody>
            <a:bodyPr/>
            <a:lstStyle/>
            <a:p>
              <a:endParaRPr lang="ar-SA"/>
            </a:p>
          </p:txBody>
        </p:sp>
        <p:sp>
          <p:nvSpPr>
            <p:cNvPr id="11" name="TextBox 11"/>
            <p:cNvSpPr txBox="1"/>
            <p:nvPr/>
          </p:nvSpPr>
          <p:spPr>
            <a:xfrm>
              <a:off x="101600" y="-38100"/>
              <a:ext cx="7246408" cy="647700"/>
            </a:xfrm>
            <a:prstGeom prst="rect">
              <a:avLst/>
            </a:prstGeom>
          </p:spPr>
          <p:txBody>
            <a:bodyPr lIns="50800" tIns="50800" rIns="50800" bIns="50800" rtlCol="0" anchor="ctr"/>
            <a:lstStyle/>
            <a:p>
              <a:pPr algn="ctr">
                <a:lnSpc>
                  <a:spcPts val="2659"/>
                </a:lnSpc>
                <a:spcBef>
                  <a:spcPct val="0"/>
                </a:spcBef>
              </a:pPr>
              <a:endParaRPr/>
            </a:p>
          </p:txBody>
        </p:sp>
      </p:grpSp>
      <p:sp>
        <p:nvSpPr>
          <p:cNvPr id="12" name="Freeform 12"/>
          <p:cNvSpPr/>
          <p:nvPr/>
        </p:nvSpPr>
        <p:spPr>
          <a:xfrm>
            <a:off x="4610260" y="2219088"/>
            <a:ext cx="7868125" cy="3605687"/>
          </a:xfrm>
          <a:custGeom>
            <a:avLst/>
            <a:gdLst/>
            <a:ahLst/>
            <a:cxnLst/>
            <a:rect l="l" t="t" r="r" b="b"/>
            <a:pathLst>
              <a:path w="7868125" h="3605687">
                <a:moveTo>
                  <a:pt x="0" y="0"/>
                </a:moveTo>
                <a:lnTo>
                  <a:pt x="7868124" y="0"/>
                </a:lnTo>
                <a:lnTo>
                  <a:pt x="7868124" y="3605687"/>
                </a:lnTo>
                <a:lnTo>
                  <a:pt x="0" y="3605687"/>
                </a:lnTo>
                <a:lnTo>
                  <a:pt x="0" y="0"/>
                </a:lnTo>
                <a:close/>
              </a:path>
            </a:pathLst>
          </a:custGeom>
          <a:blipFill>
            <a:blip r:embed="rId3"/>
            <a:stretch>
              <a:fillRect/>
            </a:stretch>
          </a:blipFill>
        </p:spPr>
        <p:txBody>
          <a:bodyPr/>
          <a:lstStyle/>
          <a:p>
            <a:endParaRPr lang="ar-SA"/>
          </a:p>
        </p:txBody>
      </p:sp>
      <p:sp>
        <p:nvSpPr>
          <p:cNvPr id="13" name="Freeform 13"/>
          <p:cNvSpPr/>
          <p:nvPr/>
        </p:nvSpPr>
        <p:spPr>
          <a:xfrm>
            <a:off x="2040784" y="6054364"/>
            <a:ext cx="13007076" cy="1823343"/>
          </a:xfrm>
          <a:custGeom>
            <a:avLst/>
            <a:gdLst/>
            <a:ahLst/>
            <a:cxnLst/>
            <a:rect l="l" t="t" r="r" b="b"/>
            <a:pathLst>
              <a:path w="13007076" h="1823343">
                <a:moveTo>
                  <a:pt x="0" y="0"/>
                </a:moveTo>
                <a:lnTo>
                  <a:pt x="13007076" y="0"/>
                </a:lnTo>
                <a:lnTo>
                  <a:pt x="13007076" y="1823343"/>
                </a:lnTo>
                <a:lnTo>
                  <a:pt x="0" y="1823343"/>
                </a:lnTo>
                <a:lnTo>
                  <a:pt x="0" y="0"/>
                </a:lnTo>
                <a:close/>
              </a:path>
            </a:pathLst>
          </a:custGeom>
          <a:blipFill>
            <a:blip r:embed="rId4"/>
            <a:stretch>
              <a:fillRect/>
            </a:stretch>
          </a:blipFill>
        </p:spPr>
        <p:txBody>
          <a:bodyPr/>
          <a:lstStyle/>
          <a:p>
            <a:endParaRPr lang="ar-SA"/>
          </a:p>
        </p:txBody>
      </p:sp>
      <p:sp>
        <p:nvSpPr>
          <p:cNvPr id="14" name="TextBox 14"/>
          <p:cNvSpPr txBox="1"/>
          <p:nvPr/>
        </p:nvSpPr>
        <p:spPr>
          <a:xfrm>
            <a:off x="1028700" y="904875"/>
            <a:ext cx="12867180" cy="1166495"/>
          </a:xfrm>
          <a:prstGeom prst="rect">
            <a:avLst/>
          </a:prstGeom>
        </p:spPr>
        <p:txBody>
          <a:bodyPr lIns="0" tIns="0" rIns="0" bIns="0" rtlCol="0" anchor="t">
            <a:spAutoFit/>
          </a:bodyPr>
          <a:lstStyle/>
          <a:p>
            <a:pPr algn="just">
              <a:lnSpc>
                <a:spcPts val="4480"/>
              </a:lnSpc>
            </a:pPr>
            <a:r>
              <a:rPr lang="en-US" sz="3200">
                <a:solidFill>
                  <a:srgbClr val="E9E1DB"/>
                </a:solidFill>
                <a:latin typeface="Times New Roman"/>
                <a:ea typeface="Times New Roman"/>
                <a:cs typeface="Times New Roman"/>
                <a:sym typeface="Times New Roman"/>
              </a:rPr>
              <a:t>EVALUATING GENERATIVE CONTENT LINGUISTICALLY</a:t>
            </a:r>
          </a:p>
          <a:p>
            <a:pPr algn="just">
              <a:lnSpc>
                <a:spcPts val="4480"/>
              </a:lnSpc>
            </a:pPr>
            <a:r>
              <a:rPr lang="en-US" sz="3200">
                <a:solidFill>
                  <a:srgbClr val="E9E1DB"/>
                </a:solidFill>
                <a:latin typeface="Times New Roman"/>
                <a:ea typeface="Times New Roman"/>
                <a:cs typeface="Times New Roman"/>
                <a:sym typeface="Times New Roman"/>
              </a:rPr>
              <a:t> AND PEDAGOGICALLY</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400235" y="-2280012"/>
            <a:ext cx="21938561" cy="13496146"/>
          </a:xfrm>
          <a:custGeom>
            <a:avLst/>
            <a:gdLst/>
            <a:ahLst/>
            <a:cxnLst/>
            <a:rect l="l" t="t" r="r" b="b"/>
            <a:pathLst>
              <a:path w="21938561" h="13496146">
                <a:moveTo>
                  <a:pt x="0" y="0"/>
                </a:moveTo>
                <a:lnTo>
                  <a:pt x="21938560" y="0"/>
                </a:lnTo>
                <a:lnTo>
                  <a:pt x="21938560" y="13496146"/>
                </a:lnTo>
                <a:lnTo>
                  <a:pt x="0" y="13496146"/>
                </a:lnTo>
                <a:lnTo>
                  <a:pt x="0" y="0"/>
                </a:lnTo>
                <a:close/>
              </a:path>
            </a:pathLst>
          </a:custGeom>
          <a:blipFill>
            <a:blip r:embed="rId2"/>
            <a:stretch>
              <a:fillRect l="-32641" t="-36451" r="-34370" b="-16258"/>
            </a:stretch>
          </a:blipFill>
        </p:spPr>
        <p:txBody>
          <a:bodyPr/>
          <a:lstStyle/>
          <a:p>
            <a:endParaRPr lang="ar-SA"/>
          </a:p>
        </p:txBody>
      </p:sp>
      <p:grpSp>
        <p:nvGrpSpPr>
          <p:cNvPr id="3" name="Group 3"/>
          <p:cNvGrpSpPr/>
          <p:nvPr/>
        </p:nvGrpSpPr>
        <p:grpSpPr>
          <a:xfrm rot="-2088381">
            <a:off x="-654014" y="5935649"/>
            <a:ext cx="7946576" cy="1601596"/>
            <a:chOff x="0" y="0"/>
            <a:chExt cx="3539030" cy="713275"/>
          </a:xfrm>
        </p:grpSpPr>
        <p:sp>
          <p:nvSpPr>
            <p:cNvPr id="4" name="Freeform 4"/>
            <p:cNvSpPr/>
            <p:nvPr/>
          </p:nvSpPr>
          <p:spPr>
            <a:xfrm>
              <a:off x="0" y="0"/>
              <a:ext cx="3539030" cy="713275"/>
            </a:xfrm>
            <a:custGeom>
              <a:avLst/>
              <a:gdLst/>
              <a:ahLst/>
              <a:cxnLst/>
              <a:rect l="l" t="t" r="r" b="b"/>
              <a:pathLst>
                <a:path w="3539030" h="713275">
                  <a:moveTo>
                    <a:pt x="203200" y="0"/>
                  </a:moveTo>
                  <a:lnTo>
                    <a:pt x="3539030" y="0"/>
                  </a:lnTo>
                  <a:lnTo>
                    <a:pt x="3335830" y="713275"/>
                  </a:lnTo>
                  <a:lnTo>
                    <a:pt x="0" y="713275"/>
                  </a:lnTo>
                  <a:lnTo>
                    <a:pt x="203200" y="0"/>
                  </a:lnTo>
                  <a:close/>
                </a:path>
              </a:pathLst>
            </a:custGeom>
            <a:solidFill>
              <a:srgbClr val="66574D"/>
            </a:solidFill>
          </p:spPr>
          <p:txBody>
            <a:bodyPr/>
            <a:lstStyle/>
            <a:p>
              <a:endParaRPr lang="ar-SA"/>
            </a:p>
          </p:txBody>
        </p:sp>
        <p:sp>
          <p:nvSpPr>
            <p:cNvPr id="5" name="TextBox 5"/>
            <p:cNvSpPr txBox="1"/>
            <p:nvPr/>
          </p:nvSpPr>
          <p:spPr>
            <a:xfrm>
              <a:off x="101600" y="-38100"/>
              <a:ext cx="3335830" cy="751375"/>
            </a:xfrm>
            <a:prstGeom prst="rect">
              <a:avLst/>
            </a:prstGeom>
          </p:spPr>
          <p:txBody>
            <a:bodyPr lIns="50800" tIns="50800" rIns="50800" bIns="50800" rtlCol="0" anchor="ctr"/>
            <a:lstStyle/>
            <a:p>
              <a:pPr algn="ctr">
                <a:lnSpc>
                  <a:spcPts val="2659"/>
                </a:lnSpc>
              </a:pPr>
              <a:endParaRPr/>
            </a:p>
          </p:txBody>
        </p:sp>
      </p:grpSp>
      <p:grpSp>
        <p:nvGrpSpPr>
          <p:cNvPr id="6" name="Group 6"/>
          <p:cNvGrpSpPr/>
          <p:nvPr/>
        </p:nvGrpSpPr>
        <p:grpSpPr>
          <a:xfrm>
            <a:off x="-1226391" y="419167"/>
            <a:ext cx="21419231" cy="9086516"/>
            <a:chOff x="0" y="0"/>
            <a:chExt cx="1540308" cy="653433"/>
          </a:xfrm>
        </p:grpSpPr>
        <p:sp>
          <p:nvSpPr>
            <p:cNvPr id="7" name="Freeform 7"/>
            <p:cNvSpPr/>
            <p:nvPr/>
          </p:nvSpPr>
          <p:spPr>
            <a:xfrm>
              <a:off x="0" y="0"/>
              <a:ext cx="1540308" cy="653433"/>
            </a:xfrm>
            <a:custGeom>
              <a:avLst/>
              <a:gdLst/>
              <a:ahLst/>
              <a:cxnLst/>
              <a:rect l="l" t="t" r="r" b="b"/>
              <a:pathLst>
                <a:path w="1540308" h="653433">
                  <a:moveTo>
                    <a:pt x="1337108" y="0"/>
                  </a:moveTo>
                  <a:lnTo>
                    <a:pt x="0" y="0"/>
                  </a:lnTo>
                  <a:lnTo>
                    <a:pt x="203200" y="653433"/>
                  </a:lnTo>
                  <a:lnTo>
                    <a:pt x="1540308" y="653433"/>
                  </a:lnTo>
                  <a:lnTo>
                    <a:pt x="1337108" y="0"/>
                  </a:lnTo>
                  <a:close/>
                </a:path>
              </a:pathLst>
            </a:custGeom>
            <a:solidFill>
              <a:srgbClr val="3D3735"/>
            </a:solidFill>
          </p:spPr>
          <p:txBody>
            <a:bodyPr/>
            <a:lstStyle/>
            <a:p>
              <a:endParaRPr lang="ar-SA"/>
            </a:p>
          </p:txBody>
        </p:sp>
        <p:sp>
          <p:nvSpPr>
            <p:cNvPr id="8" name="TextBox 8"/>
            <p:cNvSpPr txBox="1"/>
            <p:nvPr/>
          </p:nvSpPr>
          <p:spPr>
            <a:xfrm>
              <a:off x="101600" y="-38100"/>
              <a:ext cx="1337108" cy="691533"/>
            </a:xfrm>
            <a:prstGeom prst="rect">
              <a:avLst/>
            </a:prstGeom>
          </p:spPr>
          <p:txBody>
            <a:bodyPr lIns="50800" tIns="50800" rIns="50800" bIns="50800" rtlCol="0" anchor="ctr"/>
            <a:lstStyle/>
            <a:p>
              <a:pPr algn="ctr">
                <a:lnSpc>
                  <a:spcPts val="2659"/>
                </a:lnSpc>
                <a:spcBef>
                  <a:spcPct val="0"/>
                </a:spcBef>
              </a:pPr>
              <a:endParaRPr/>
            </a:p>
          </p:txBody>
        </p:sp>
      </p:grpSp>
      <p:grpSp>
        <p:nvGrpSpPr>
          <p:cNvPr id="9" name="Group 9"/>
          <p:cNvGrpSpPr/>
          <p:nvPr/>
        </p:nvGrpSpPr>
        <p:grpSpPr>
          <a:xfrm>
            <a:off x="0" y="8107296"/>
            <a:ext cx="18998529" cy="1554646"/>
            <a:chOff x="0" y="0"/>
            <a:chExt cx="7449608" cy="609600"/>
          </a:xfrm>
        </p:grpSpPr>
        <p:sp>
          <p:nvSpPr>
            <p:cNvPr id="10" name="Freeform 10"/>
            <p:cNvSpPr/>
            <p:nvPr/>
          </p:nvSpPr>
          <p:spPr>
            <a:xfrm>
              <a:off x="0" y="0"/>
              <a:ext cx="7449608" cy="609600"/>
            </a:xfrm>
            <a:custGeom>
              <a:avLst/>
              <a:gdLst/>
              <a:ahLst/>
              <a:cxnLst/>
              <a:rect l="l" t="t" r="r" b="b"/>
              <a:pathLst>
                <a:path w="7449608" h="609600">
                  <a:moveTo>
                    <a:pt x="7246408" y="0"/>
                  </a:moveTo>
                  <a:lnTo>
                    <a:pt x="0" y="0"/>
                  </a:lnTo>
                  <a:lnTo>
                    <a:pt x="203200" y="609600"/>
                  </a:lnTo>
                  <a:lnTo>
                    <a:pt x="7449608" y="609600"/>
                  </a:lnTo>
                  <a:lnTo>
                    <a:pt x="7246408" y="0"/>
                  </a:lnTo>
                  <a:close/>
                </a:path>
              </a:pathLst>
            </a:custGeom>
            <a:solidFill>
              <a:srgbClr val="E9E1DB"/>
            </a:solidFill>
          </p:spPr>
          <p:txBody>
            <a:bodyPr/>
            <a:lstStyle/>
            <a:p>
              <a:endParaRPr lang="ar-SA"/>
            </a:p>
          </p:txBody>
        </p:sp>
        <p:sp>
          <p:nvSpPr>
            <p:cNvPr id="11" name="TextBox 11"/>
            <p:cNvSpPr txBox="1"/>
            <p:nvPr/>
          </p:nvSpPr>
          <p:spPr>
            <a:xfrm>
              <a:off x="101600" y="-38100"/>
              <a:ext cx="7246408" cy="647700"/>
            </a:xfrm>
            <a:prstGeom prst="rect">
              <a:avLst/>
            </a:prstGeom>
          </p:spPr>
          <p:txBody>
            <a:bodyPr lIns="50800" tIns="50800" rIns="50800" bIns="50800" rtlCol="0" anchor="ctr"/>
            <a:lstStyle/>
            <a:p>
              <a:pPr algn="ctr">
                <a:lnSpc>
                  <a:spcPts val="2659"/>
                </a:lnSpc>
                <a:spcBef>
                  <a:spcPct val="0"/>
                </a:spcBef>
              </a:pPr>
              <a:endParaRPr/>
            </a:p>
          </p:txBody>
        </p:sp>
      </p:grpSp>
      <p:sp>
        <p:nvSpPr>
          <p:cNvPr id="12" name="Freeform 12"/>
          <p:cNvSpPr/>
          <p:nvPr/>
        </p:nvSpPr>
        <p:spPr>
          <a:xfrm>
            <a:off x="1028700" y="3139704"/>
            <a:ext cx="11714874" cy="3461529"/>
          </a:xfrm>
          <a:custGeom>
            <a:avLst/>
            <a:gdLst/>
            <a:ahLst/>
            <a:cxnLst/>
            <a:rect l="l" t="t" r="r" b="b"/>
            <a:pathLst>
              <a:path w="11714874" h="3461529">
                <a:moveTo>
                  <a:pt x="0" y="0"/>
                </a:moveTo>
                <a:lnTo>
                  <a:pt x="11714874" y="0"/>
                </a:lnTo>
                <a:lnTo>
                  <a:pt x="11714874" y="3461529"/>
                </a:lnTo>
                <a:lnTo>
                  <a:pt x="0" y="3461529"/>
                </a:lnTo>
                <a:lnTo>
                  <a:pt x="0" y="0"/>
                </a:lnTo>
                <a:close/>
              </a:path>
            </a:pathLst>
          </a:custGeom>
          <a:blipFill>
            <a:blip r:embed="rId3"/>
            <a:stretch>
              <a:fillRect/>
            </a:stretch>
          </a:blipFill>
        </p:spPr>
        <p:txBody>
          <a:bodyPr/>
          <a:lstStyle/>
          <a:p>
            <a:endParaRPr lang="ar-SA"/>
          </a:p>
        </p:txBody>
      </p:sp>
      <p:sp>
        <p:nvSpPr>
          <p:cNvPr id="13" name="Freeform 13"/>
          <p:cNvSpPr/>
          <p:nvPr/>
        </p:nvSpPr>
        <p:spPr>
          <a:xfrm>
            <a:off x="12743574" y="3131960"/>
            <a:ext cx="3063350" cy="3469274"/>
          </a:xfrm>
          <a:custGeom>
            <a:avLst/>
            <a:gdLst/>
            <a:ahLst/>
            <a:cxnLst/>
            <a:rect l="l" t="t" r="r" b="b"/>
            <a:pathLst>
              <a:path w="3063350" h="3469274">
                <a:moveTo>
                  <a:pt x="0" y="0"/>
                </a:moveTo>
                <a:lnTo>
                  <a:pt x="3063350" y="0"/>
                </a:lnTo>
                <a:lnTo>
                  <a:pt x="3063350" y="3469273"/>
                </a:lnTo>
                <a:lnTo>
                  <a:pt x="0" y="3469273"/>
                </a:lnTo>
                <a:lnTo>
                  <a:pt x="0" y="0"/>
                </a:lnTo>
                <a:close/>
              </a:path>
            </a:pathLst>
          </a:custGeom>
          <a:blipFill>
            <a:blip r:embed="rId4"/>
            <a:stretch>
              <a:fillRect l="-5518"/>
            </a:stretch>
          </a:blipFill>
        </p:spPr>
        <p:txBody>
          <a:bodyPr/>
          <a:lstStyle/>
          <a:p>
            <a:endParaRPr lang="ar-SA"/>
          </a:p>
        </p:txBody>
      </p:sp>
      <p:sp>
        <p:nvSpPr>
          <p:cNvPr id="14" name="TextBox 14"/>
          <p:cNvSpPr txBox="1"/>
          <p:nvPr/>
        </p:nvSpPr>
        <p:spPr>
          <a:xfrm>
            <a:off x="605194" y="599546"/>
            <a:ext cx="12867180" cy="1166495"/>
          </a:xfrm>
          <a:prstGeom prst="rect">
            <a:avLst/>
          </a:prstGeom>
        </p:spPr>
        <p:txBody>
          <a:bodyPr lIns="0" tIns="0" rIns="0" bIns="0" rtlCol="0" anchor="t">
            <a:spAutoFit/>
          </a:bodyPr>
          <a:lstStyle/>
          <a:p>
            <a:pPr algn="just">
              <a:lnSpc>
                <a:spcPts val="4480"/>
              </a:lnSpc>
            </a:pPr>
            <a:r>
              <a:rPr lang="en-US" sz="3200">
                <a:solidFill>
                  <a:srgbClr val="E9E1DB"/>
                </a:solidFill>
                <a:latin typeface="Times New Roman"/>
                <a:ea typeface="Times New Roman"/>
                <a:cs typeface="Times New Roman"/>
                <a:sym typeface="Times New Roman"/>
              </a:rPr>
              <a:t>EVALUATING GENERATIVE CONTENT LINGUISTICALLY</a:t>
            </a:r>
          </a:p>
          <a:p>
            <a:pPr algn="just">
              <a:lnSpc>
                <a:spcPts val="4480"/>
              </a:lnSpc>
            </a:pPr>
            <a:r>
              <a:rPr lang="en-US" sz="3200">
                <a:solidFill>
                  <a:srgbClr val="E9E1DB"/>
                </a:solidFill>
                <a:latin typeface="Times New Roman"/>
                <a:ea typeface="Times New Roman"/>
                <a:cs typeface="Times New Roman"/>
                <a:sym typeface="Times New Roman"/>
              </a:rPr>
              <a:t> AND PEDAGOGICALLY</a:t>
            </a:r>
          </a:p>
        </p:txBody>
      </p:sp>
      <p:sp>
        <p:nvSpPr>
          <p:cNvPr id="15" name="TextBox 15"/>
          <p:cNvSpPr txBox="1"/>
          <p:nvPr/>
        </p:nvSpPr>
        <p:spPr>
          <a:xfrm>
            <a:off x="2325850" y="1874960"/>
            <a:ext cx="13636300" cy="1033781"/>
          </a:xfrm>
          <a:prstGeom prst="rect">
            <a:avLst/>
          </a:prstGeom>
        </p:spPr>
        <p:txBody>
          <a:bodyPr lIns="0" tIns="0" rIns="0" bIns="0" rtlCol="0" anchor="t">
            <a:spAutoFit/>
          </a:bodyPr>
          <a:lstStyle/>
          <a:p>
            <a:pPr algn="ctr">
              <a:lnSpc>
                <a:spcPts val="3919"/>
              </a:lnSpc>
              <a:spcBef>
                <a:spcPct val="0"/>
              </a:spcBef>
            </a:pPr>
            <a:r>
              <a:rPr lang="en-US" sz="2799">
                <a:solidFill>
                  <a:srgbClr val="E9E1DB"/>
                </a:solidFill>
                <a:latin typeface="Times New Roman"/>
                <a:ea typeface="Times New Roman"/>
                <a:cs typeface="Times New Roman"/>
                <a:sym typeface="Times New Roman"/>
              </a:rPr>
              <a:t> Review of failure cases: Analyze unsuccessful outputs and document the resulting commands.</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400235" y="-2280012"/>
            <a:ext cx="21938561" cy="13496146"/>
          </a:xfrm>
          <a:custGeom>
            <a:avLst/>
            <a:gdLst/>
            <a:ahLst/>
            <a:cxnLst/>
            <a:rect l="l" t="t" r="r" b="b"/>
            <a:pathLst>
              <a:path w="21938561" h="13496146">
                <a:moveTo>
                  <a:pt x="0" y="0"/>
                </a:moveTo>
                <a:lnTo>
                  <a:pt x="21938560" y="0"/>
                </a:lnTo>
                <a:lnTo>
                  <a:pt x="21938560" y="13496146"/>
                </a:lnTo>
                <a:lnTo>
                  <a:pt x="0" y="13496146"/>
                </a:lnTo>
                <a:lnTo>
                  <a:pt x="0" y="0"/>
                </a:lnTo>
                <a:close/>
              </a:path>
            </a:pathLst>
          </a:custGeom>
          <a:blipFill>
            <a:blip r:embed="rId2"/>
            <a:stretch>
              <a:fillRect l="-32641" t="-36451" r="-34370" b="-16258"/>
            </a:stretch>
          </a:blipFill>
        </p:spPr>
        <p:txBody>
          <a:bodyPr/>
          <a:lstStyle/>
          <a:p>
            <a:endParaRPr lang="ar-SA"/>
          </a:p>
        </p:txBody>
      </p:sp>
      <p:grpSp>
        <p:nvGrpSpPr>
          <p:cNvPr id="3" name="Group 3"/>
          <p:cNvGrpSpPr/>
          <p:nvPr/>
        </p:nvGrpSpPr>
        <p:grpSpPr>
          <a:xfrm rot="-2088381">
            <a:off x="-654014" y="5935649"/>
            <a:ext cx="7946576" cy="1601596"/>
            <a:chOff x="0" y="0"/>
            <a:chExt cx="3539030" cy="713275"/>
          </a:xfrm>
        </p:grpSpPr>
        <p:sp>
          <p:nvSpPr>
            <p:cNvPr id="4" name="Freeform 4"/>
            <p:cNvSpPr/>
            <p:nvPr/>
          </p:nvSpPr>
          <p:spPr>
            <a:xfrm>
              <a:off x="0" y="0"/>
              <a:ext cx="3539030" cy="713275"/>
            </a:xfrm>
            <a:custGeom>
              <a:avLst/>
              <a:gdLst/>
              <a:ahLst/>
              <a:cxnLst/>
              <a:rect l="l" t="t" r="r" b="b"/>
              <a:pathLst>
                <a:path w="3539030" h="713275">
                  <a:moveTo>
                    <a:pt x="203200" y="0"/>
                  </a:moveTo>
                  <a:lnTo>
                    <a:pt x="3539030" y="0"/>
                  </a:lnTo>
                  <a:lnTo>
                    <a:pt x="3335830" y="713275"/>
                  </a:lnTo>
                  <a:lnTo>
                    <a:pt x="0" y="713275"/>
                  </a:lnTo>
                  <a:lnTo>
                    <a:pt x="203200" y="0"/>
                  </a:lnTo>
                  <a:close/>
                </a:path>
              </a:pathLst>
            </a:custGeom>
            <a:solidFill>
              <a:srgbClr val="66574D"/>
            </a:solidFill>
          </p:spPr>
          <p:txBody>
            <a:bodyPr/>
            <a:lstStyle/>
            <a:p>
              <a:endParaRPr lang="ar-SA"/>
            </a:p>
          </p:txBody>
        </p:sp>
        <p:sp>
          <p:nvSpPr>
            <p:cNvPr id="5" name="TextBox 5"/>
            <p:cNvSpPr txBox="1"/>
            <p:nvPr/>
          </p:nvSpPr>
          <p:spPr>
            <a:xfrm>
              <a:off x="101600" y="-38100"/>
              <a:ext cx="3335830" cy="751375"/>
            </a:xfrm>
            <a:prstGeom prst="rect">
              <a:avLst/>
            </a:prstGeom>
          </p:spPr>
          <p:txBody>
            <a:bodyPr lIns="50800" tIns="50800" rIns="50800" bIns="50800" rtlCol="0" anchor="ctr"/>
            <a:lstStyle/>
            <a:p>
              <a:pPr algn="ctr">
                <a:lnSpc>
                  <a:spcPts val="2659"/>
                </a:lnSpc>
              </a:pPr>
              <a:endParaRPr/>
            </a:p>
          </p:txBody>
        </p:sp>
      </p:grpSp>
      <p:grpSp>
        <p:nvGrpSpPr>
          <p:cNvPr id="6" name="Group 6"/>
          <p:cNvGrpSpPr/>
          <p:nvPr/>
        </p:nvGrpSpPr>
        <p:grpSpPr>
          <a:xfrm>
            <a:off x="-1226391" y="419167"/>
            <a:ext cx="21419231" cy="9086516"/>
            <a:chOff x="0" y="0"/>
            <a:chExt cx="1540308" cy="653433"/>
          </a:xfrm>
        </p:grpSpPr>
        <p:sp>
          <p:nvSpPr>
            <p:cNvPr id="7" name="Freeform 7"/>
            <p:cNvSpPr/>
            <p:nvPr/>
          </p:nvSpPr>
          <p:spPr>
            <a:xfrm>
              <a:off x="0" y="0"/>
              <a:ext cx="1540308" cy="653433"/>
            </a:xfrm>
            <a:custGeom>
              <a:avLst/>
              <a:gdLst/>
              <a:ahLst/>
              <a:cxnLst/>
              <a:rect l="l" t="t" r="r" b="b"/>
              <a:pathLst>
                <a:path w="1540308" h="653433">
                  <a:moveTo>
                    <a:pt x="1337108" y="0"/>
                  </a:moveTo>
                  <a:lnTo>
                    <a:pt x="0" y="0"/>
                  </a:lnTo>
                  <a:lnTo>
                    <a:pt x="203200" y="653433"/>
                  </a:lnTo>
                  <a:lnTo>
                    <a:pt x="1540308" y="653433"/>
                  </a:lnTo>
                  <a:lnTo>
                    <a:pt x="1337108" y="0"/>
                  </a:lnTo>
                  <a:close/>
                </a:path>
              </a:pathLst>
            </a:custGeom>
            <a:solidFill>
              <a:srgbClr val="3D3735"/>
            </a:solidFill>
          </p:spPr>
          <p:txBody>
            <a:bodyPr/>
            <a:lstStyle/>
            <a:p>
              <a:endParaRPr lang="ar-SA"/>
            </a:p>
          </p:txBody>
        </p:sp>
        <p:sp>
          <p:nvSpPr>
            <p:cNvPr id="8" name="TextBox 8"/>
            <p:cNvSpPr txBox="1"/>
            <p:nvPr/>
          </p:nvSpPr>
          <p:spPr>
            <a:xfrm>
              <a:off x="101600" y="-38100"/>
              <a:ext cx="1337108" cy="691533"/>
            </a:xfrm>
            <a:prstGeom prst="rect">
              <a:avLst/>
            </a:prstGeom>
          </p:spPr>
          <p:txBody>
            <a:bodyPr lIns="50800" tIns="50800" rIns="50800" bIns="50800" rtlCol="0" anchor="ctr"/>
            <a:lstStyle/>
            <a:p>
              <a:pPr algn="ctr">
                <a:lnSpc>
                  <a:spcPts val="2659"/>
                </a:lnSpc>
                <a:spcBef>
                  <a:spcPct val="0"/>
                </a:spcBef>
              </a:pPr>
              <a:endParaRPr/>
            </a:p>
          </p:txBody>
        </p:sp>
      </p:grpSp>
      <p:grpSp>
        <p:nvGrpSpPr>
          <p:cNvPr id="9" name="Group 9"/>
          <p:cNvGrpSpPr/>
          <p:nvPr/>
        </p:nvGrpSpPr>
        <p:grpSpPr>
          <a:xfrm>
            <a:off x="0" y="8107296"/>
            <a:ext cx="18998529" cy="1554646"/>
            <a:chOff x="0" y="0"/>
            <a:chExt cx="7449608" cy="609600"/>
          </a:xfrm>
        </p:grpSpPr>
        <p:sp>
          <p:nvSpPr>
            <p:cNvPr id="10" name="Freeform 10"/>
            <p:cNvSpPr/>
            <p:nvPr/>
          </p:nvSpPr>
          <p:spPr>
            <a:xfrm>
              <a:off x="0" y="0"/>
              <a:ext cx="7449608" cy="609600"/>
            </a:xfrm>
            <a:custGeom>
              <a:avLst/>
              <a:gdLst/>
              <a:ahLst/>
              <a:cxnLst/>
              <a:rect l="l" t="t" r="r" b="b"/>
              <a:pathLst>
                <a:path w="7449608" h="609600">
                  <a:moveTo>
                    <a:pt x="7246408" y="0"/>
                  </a:moveTo>
                  <a:lnTo>
                    <a:pt x="0" y="0"/>
                  </a:lnTo>
                  <a:lnTo>
                    <a:pt x="203200" y="609600"/>
                  </a:lnTo>
                  <a:lnTo>
                    <a:pt x="7449608" y="609600"/>
                  </a:lnTo>
                  <a:lnTo>
                    <a:pt x="7246408" y="0"/>
                  </a:lnTo>
                  <a:close/>
                </a:path>
              </a:pathLst>
            </a:custGeom>
            <a:solidFill>
              <a:srgbClr val="E9E1DB"/>
            </a:solidFill>
          </p:spPr>
          <p:txBody>
            <a:bodyPr/>
            <a:lstStyle/>
            <a:p>
              <a:endParaRPr lang="ar-SA"/>
            </a:p>
          </p:txBody>
        </p:sp>
        <p:sp>
          <p:nvSpPr>
            <p:cNvPr id="11" name="TextBox 11"/>
            <p:cNvSpPr txBox="1"/>
            <p:nvPr/>
          </p:nvSpPr>
          <p:spPr>
            <a:xfrm>
              <a:off x="101600" y="-38100"/>
              <a:ext cx="7246408" cy="647700"/>
            </a:xfrm>
            <a:prstGeom prst="rect">
              <a:avLst/>
            </a:prstGeom>
          </p:spPr>
          <p:txBody>
            <a:bodyPr lIns="50800" tIns="50800" rIns="50800" bIns="50800" rtlCol="0" anchor="ctr"/>
            <a:lstStyle/>
            <a:p>
              <a:pPr algn="ctr">
                <a:lnSpc>
                  <a:spcPts val="2659"/>
                </a:lnSpc>
                <a:spcBef>
                  <a:spcPct val="0"/>
                </a:spcBef>
              </a:pPr>
              <a:endParaRPr/>
            </a:p>
          </p:txBody>
        </p:sp>
      </p:grpSp>
      <p:sp>
        <p:nvSpPr>
          <p:cNvPr id="12" name="TextBox 12"/>
          <p:cNvSpPr txBox="1"/>
          <p:nvPr/>
        </p:nvSpPr>
        <p:spPr>
          <a:xfrm>
            <a:off x="1028700" y="904875"/>
            <a:ext cx="12867180" cy="1166495"/>
          </a:xfrm>
          <a:prstGeom prst="rect">
            <a:avLst/>
          </a:prstGeom>
        </p:spPr>
        <p:txBody>
          <a:bodyPr lIns="0" tIns="0" rIns="0" bIns="0" rtlCol="0" anchor="t">
            <a:spAutoFit/>
          </a:bodyPr>
          <a:lstStyle/>
          <a:p>
            <a:pPr algn="just">
              <a:lnSpc>
                <a:spcPts val="4480"/>
              </a:lnSpc>
            </a:pPr>
            <a:r>
              <a:rPr lang="en-US" sz="3200">
                <a:solidFill>
                  <a:srgbClr val="E9E1DB"/>
                </a:solidFill>
                <a:latin typeface="Times New Roman"/>
                <a:ea typeface="Times New Roman"/>
                <a:cs typeface="Times New Roman"/>
                <a:sym typeface="Times New Roman"/>
              </a:rPr>
              <a:t>BUILDING INTERACTIVE INTERFACES TO USE ARTIFICIAL INTELLIGENCE IN COURSES DEVELOPMENT</a:t>
            </a:r>
          </a:p>
        </p:txBody>
      </p:sp>
      <p:sp>
        <p:nvSpPr>
          <p:cNvPr id="13" name="TextBox 13"/>
          <p:cNvSpPr txBox="1"/>
          <p:nvPr/>
        </p:nvSpPr>
        <p:spPr>
          <a:xfrm>
            <a:off x="2325850" y="2204190"/>
            <a:ext cx="13636300" cy="588011"/>
          </a:xfrm>
          <a:prstGeom prst="rect">
            <a:avLst/>
          </a:prstGeom>
        </p:spPr>
        <p:txBody>
          <a:bodyPr lIns="0" tIns="0" rIns="0" bIns="0" rtlCol="0" anchor="t">
            <a:spAutoFit/>
          </a:bodyPr>
          <a:lstStyle/>
          <a:p>
            <a:pPr algn="ctr">
              <a:lnSpc>
                <a:spcPts val="4339"/>
              </a:lnSpc>
              <a:spcBef>
                <a:spcPct val="0"/>
              </a:spcBef>
            </a:pPr>
            <a:r>
              <a:rPr lang="en-US" sz="3099" b="1">
                <a:solidFill>
                  <a:srgbClr val="E9E1DB"/>
                </a:solidFill>
                <a:latin typeface="Times New Roman Bold"/>
                <a:ea typeface="Times New Roman Bold"/>
                <a:cs typeface="Times New Roman Bold"/>
                <a:sym typeface="Times New Roman Bold"/>
              </a:rPr>
              <a:t>Creating a simple tool to generate vocabulary</a:t>
            </a:r>
          </a:p>
        </p:txBody>
      </p:sp>
      <p:sp>
        <p:nvSpPr>
          <p:cNvPr id="14" name="TextBox 14"/>
          <p:cNvSpPr txBox="1"/>
          <p:nvPr/>
        </p:nvSpPr>
        <p:spPr>
          <a:xfrm>
            <a:off x="1670189" y="5530303"/>
            <a:ext cx="13827600" cy="1529081"/>
          </a:xfrm>
          <a:prstGeom prst="rect">
            <a:avLst/>
          </a:prstGeom>
        </p:spPr>
        <p:txBody>
          <a:bodyPr lIns="0" tIns="0" rIns="0" bIns="0" rtlCol="0" anchor="t">
            <a:spAutoFit/>
          </a:bodyPr>
          <a:lstStyle/>
          <a:p>
            <a:pPr algn="l">
              <a:lnSpc>
                <a:spcPts val="3919"/>
              </a:lnSpc>
              <a:spcBef>
                <a:spcPct val="0"/>
              </a:spcBef>
            </a:pPr>
            <a:r>
              <a:rPr lang="en-US" sz="2799">
                <a:solidFill>
                  <a:srgbClr val="E9E1DB"/>
                </a:solidFill>
                <a:latin typeface="Times New Roman"/>
                <a:ea typeface="Times New Roman"/>
                <a:cs typeface="Times New Roman"/>
                <a:sym typeface="Times New Roman"/>
              </a:rPr>
              <a:t>Purpose:</a:t>
            </a:r>
          </a:p>
          <a:p>
            <a:pPr algn="l">
              <a:lnSpc>
                <a:spcPts val="3919"/>
              </a:lnSpc>
              <a:spcBef>
                <a:spcPct val="0"/>
              </a:spcBef>
            </a:pPr>
            <a:r>
              <a:rPr lang="en-US" sz="2799">
                <a:solidFill>
                  <a:srgbClr val="E9E1DB"/>
                </a:solidFill>
                <a:latin typeface="Times New Roman"/>
                <a:ea typeface="Times New Roman"/>
                <a:cs typeface="Times New Roman"/>
                <a:sym typeface="Times New Roman"/>
              </a:rPr>
              <a:t>Pedagogical vocabulary selection often requires balancing  (common words learners will encounter) with challenge (less frequent, academically useful terms).</a:t>
            </a:r>
          </a:p>
        </p:txBody>
      </p:sp>
      <p:sp>
        <p:nvSpPr>
          <p:cNvPr id="15" name="TextBox 15"/>
          <p:cNvSpPr txBox="1"/>
          <p:nvPr/>
        </p:nvSpPr>
        <p:spPr>
          <a:xfrm>
            <a:off x="1670189" y="3161030"/>
            <a:ext cx="14469089" cy="1982470"/>
          </a:xfrm>
          <a:prstGeom prst="rect">
            <a:avLst/>
          </a:prstGeom>
        </p:spPr>
        <p:txBody>
          <a:bodyPr lIns="0" tIns="0" rIns="0" bIns="0" rtlCol="0" anchor="t">
            <a:spAutoFit/>
          </a:bodyPr>
          <a:lstStyle/>
          <a:p>
            <a:pPr algn="l">
              <a:lnSpc>
                <a:spcPts val="3079"/>
              </a:lnSpc>
              <a:spcBef>
                <a:spcPct val="0"/>
              </a:spcBef>
            </a:pPr>
            <a:r>
              <a:rPr lang="en-US" sz="2199">
                <a:solidFill>
                  <a:srgbClr val="E9E1DB"/>
                </a:solidFill>
                <a:latin typeface="Times New Roman"/>
                <a:ea typeface="Times New Roman"/>
                <a:cs typeface="Times New Roman"/>
                <a:sym typeface="Times New Roman"/>
              </a:rPr>
              <a:t>Practical implementation:</a:t>
            </a:r>
          </a:p>
          <a:p>
            <a:pPr algn="l">
              <a:lnSpc>
                <a:spcPts val="3079"/>
              </a:lnSpc>
              <a:spcBef>
                <a:spcPct val="0"/>
              </a:spcBef>
            </a:pPr>
            <a:r>
              <a:rPr lang="en-US" sz="2199">
                <a:solidFill>
                  <a:srgbClr val="E9E1DB"/>
                </a:solidFill>
                <a:latin typeface="Times New Roman"/>
                <a:ea typeface="Times New Roman"/>
                <a:cs typeface="Times New Roman"/>
                <a:sym typeface="Times New Roman"/>
              </a:rPr>
              <a:t>This application is a lightweight web service based on Flask for vocabulary generation. It integrates corpus-derived frequency estimates (expressed on the human-interpretable Zipf scale) with lexical-semantic information from WordNet to return words filtered by frequency “level” and part of speech, together with definitions, synonyms, and example sentences. The system exposes both a browser interface and a JSON API for programmatic access.</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400235" y="-2280012"/>
            <a:ext cx="21938561" cy="13496146"/>
          </a:xfrm>
          <a:custGeom>
            <a:avLst/>
            <a:gdLst/>
            <a:ahLst/>
            <a:cxnLst/>
            <a:rect l="l" t="t" r="r" b="b"/>
            <a:pathLst>
              <a:path w="21938561" h="13496146">
                <a:moveTo>
                  <a:pt x="0" y="0"/>
                </a:moveTo>
                <a:lnTo>
                  <a:pt x="21938560" y="0"/>
                </a:lnTo>
                <a:lnTo>
                  <a:pt x="21938560" y="13496146"/>
                </a:lnTo>
                <a:lnTo>
                  <a:pt x="0" y="13496146"/>
                </a:lnTo>
                <a:lnTo>
                  <a:pt x="0" y="0"/>
                </a:lnTo>
                <a:close/>
              </a:path>
            </a:pathLst>
          </a:custGeom>
          <a:blipFill>
            <a:blip r:embed="rId2"/>
            <a:stretch>
              <a:fillRect l="-32641" t="-36451" r="-34370" b="-16258"/>
            </a:stretch>
          </a:blipFill>
        </p:spPr>
        <p:txBody>
          <a:bodyPr/>
          <a:lstStyle/>
          <a:p>
            <a:endParaRPr lang="ar-SA"/>
          </a:p>
        </p:txBody>
      </p:sp>
      <p:grpSp>
        <p:nvGrpSpPr>
          <p:cNvPr id="3" name="Group 3"/>
          <p:cNvGrpSpPr/>
          <p:nvPr/>
        </p:nvGrpSpPr>
        <p:grpSpPr>
          <a:xfrm rot="-2088381">
            <a:off x="-654014" y="5935649"/>
            <a:ext cx="7946576" cy="1601596"/>
            <a:chOff x="0" y="0"/>
            <a:chExt cx="3539030" cy="713275"/>
          </a:xfrm>
        </p:grpSpPr>
        <p:sp>
          <p:nvSpPr>
            <p:cNvPr id="4" name="Freeform 4"/>
            <p:cNvSpPr/>
            <p:nvPr/>
          </p:nvSpPr>
          <p:spPr>
            <a:xfrm>
              <a:off x="0" y="0"/>
              <a:ext cx="3539030" cy="713275"/>
            </a:xfrm>
            <a:custGeom>
              <a:avLst/>
              <a:gdLst/>
              <a:ahLst/>
              <a:cxnLst/>
              <a:rect l="l" t="t" r="r" b="b"/>
              <a:pathLst>
                <a:path w="3539030" h="713275">
                  <a:moveTo>
                    <a:pt x="203200" y="0"/>
                  </a:moveTo>
                  <a:lnTo>
                    <a:pt x="3539030" y="0"/>
                  </a:lnTo>
                  <a:lnTo>
                    <a:pt x="3335830" y="713275"/>
                  </a:lnTo>
                  <a:lnTo>
                    <a:pt x="0" y="713275"/>
                  </a:lnTo>
                  <a:lnTo>
                    <a:pt x="203200" y="0"/>
                  </a:lnTo>
                  <a:close/>
                </a:path>
              </a:pathLst>
            </a:custGeom>
            <a:solidFill>
              <a:srgbClr val="66574D"/>
            </a:solidFill>
          </p:spPr>
          <p:txBody>
            <a:bodyPr/>
            <a:lstStyle/>
            <a:p>
              <a:endParaRPr lang="ar-SA"/>
            </a:p>
          </p:txBody>
        </p:sp>
        <p:sp>
          <p:nvSpPr>
            <p:cNvPr id="5" name="TextBox 5"/>
            <p:cNvSpPr txBox="1"/>
            <p:nvPr/>
          </p:nvSpPr>
          <p:spPr>
            <a:xfrm>
              <a:off x="101600" y="-38100"/>
              <a:ext cx="3335830" cy="751375"/>
            </a:xfrm>
            <a:prstGeom prst="rect">
              <a:avLst/>
            </a:prstGeom>
          </p:spPr>
          <p:txBody>
            <a:bodyPr lIns="50800" tIns="50800" rIns="50800" bIns="50800" rtlCol="0" anchor="ctr"/>
            <a:lstStyle/>
            <a:p>
              <a:pPr algn="ctr">
                <a:lnSpc>
                  <a:spcPts val="2659"/>
                </a:lnSpc>
              </a:pPr>
              <a:endParaRPr/>
            </a:p>
          </p:txBody>
        </p:sp>
      </p:grpSp>
      <p:grpSp>
        <p:nvGrpSpPr>
          <p:cNvPr id="6" name="Group 6"/>
          <p:cNvGrpSpPr/>
          <p:nvPr/>
        </p:nvGrpSpPr>
        <p:grpSpPr>
          <a:xfrm>
            <a:off x="-1226391" y="419167"/>
            <a:ext cx="21419231" cy="9086516"/>
            <a:chOff x="0" y="0"/>
            <a:chExt cx="1540308" cy="653433"/>
          </a:xfrm>
        </p:grpSpPr>
        <p:sp>
          <p:nvSpPr>
            <p:cNvPr id="7" name="Freeform 7"/>
            <p:cNvSpPr/>
            <p:nvPr/>
          </p:nvSpPr>
          <p:spPr>
            <a:xfrm>
              <a:off x="0" y="0"/>
              <a:ext cx="1540308" cy="653433"/>
            </a:xfrm>
            <a:custGeom>
              <a:avLst/>
              <a:gdLst/>
              <a:ahLst/>
              <a:cxnLst/>
              <a:rect l="l" t="t" r="r" b="b"/>
              <a:pathLst>
                <a:path w="1540308" h="653433">
                  <a:moveTo>
                    <a:pt x="1337108" y="0"/>
                  </a:moveTo>
                  <a:lnTo>
                    <a:pt x="0" y="0"/>
                  </a:lnTo>
                  <a:lnTo>
                    <a:pt x="203200" y="653433"/>
                  </a:lnTo>
                  <a:lnTo>
                    <a:pt x="1540308" y="653433"/>
                  </a:lnTo>
                  <a:lnTo>
                    <a:pt x="1337108" y="0"/>
                  </a:lnTo>
                  <a:close/>
                </a:path>
              </a:pathLst>
            </a:custGeom>
            <a:solidFill>
              <a:srgbClr val="3D3735"/>
            </a:solidFill>
          </p:spPr>
          <p:txBody>
            <a:bodyPr/>
            <a:lstStyle/>
            <a:p>
              <a:endParaRPr lang="ar-SA"/>
            </a:p>
          </p:txBody>
        </p:sp>
        <p:sp>
          <p:nvSpPr>
            <p:cNvPr id="8" name="TextBox 8"/>
            <p:cNvSpPr txBox="1"/>
            <p:nvPr/>
          </p:nvSpPr>
          <p:spPr>
            <a:xfrm>
              <a:off x="101600" y="-38100"/>
              <a:ext cx="1337108" cy="691533"/>
            </a:xfrm>
            <a:prstGeom prst="rect">
              <a:avLst/>
            </a:prstGeom>
          </p:spPr>
          <p:txBody>
            <a:bodyPr lIns="50800" tIns="50800" rIns="50800" bIns="50800" rtlCol="0" anchor="ctr"/>
            <a:lstStyle/>
            <a:p>
              <a:pPr algn="ctr">
                <a:lnSpc>
                  <a:spcPts val="2659"/>
                </a:lnSpc>
                <a:spcBef>
                  <a:spcPct val="0"/>
                </a:spcBef>
              </a:pPr>
              <a:endParaRPr/>
            </a:p>
          </p:txBody>
        </p:sp>
      </p:grpSp>
      <p:grpSp>
        <p:nvGrpSpPr>
          <p:cNvPr id="9" name="Group 9"/>
          <p:cNvGrpSpPr/>
          <p:nvPr/>
        </p:nvGrpSpPr>
        <p:grpSpPr>
          <a:xfrm>
            <a:off x="0" y="8107296"/>
            <a:ext cx="18998529" cy="1554646"/>
            <a:chOff x="0" y="0"/>
            <a:chExt cx="7449608" cy="609600"/>
          </a:xfrm>
        </p:grpSpPr>
        <p:sp>
          <p:nvSpPr>
            <p:cNvPr id="10" name="Freeform 10"/>
            <p:cNvSpPr/>
            <p:nvPr/>
          </p:nvSpPr>
          <p:spPr>
            <a:xfrm>
              <a:off x="0" y="0"/>
              <a:ext cx="7449608" cy="609600"/>
            </a:xfrm>
            <a:custGeom>
              <a:avLst/>
              <a:gdLst/>
              <a:ahLst/>
              <a:cxnLst/>
              <a:rect l="l" t="t" r="r" b="b"/>
              <a:pathLst>
                <a:path w="7449608" h="609600">
                  <a:moveTo>
                    <a:pt x="7246408" y="0"/>
                  </a:moveTo>
                  <a:lnTo>
                    <a:pt x="0" y="0"/>
                  </a:lnTo>
                  <a:lnTo>
                    <a:pt x="203200" y="609600"/>
                  </a:lnTo>
                  <a:lnTo>
                    <a:pt x="7449608" y="609600"/>
                  </a:lnTo>
                  <a:lnTo>
                    <a:pt x="7246408" y="0"/>
                  </a:lnTo>
                  <a:close/>
                </a:path>
              </a:pathLst>
            </a:custGeom>
            <a:solidFill>
              <a:srgbClr val="E9E1DB"/>
            </a:solidFill>
          </p:spPr>
          <p:txBody>
            <a:bodyPr/>
            <a:lstStyle/>
            <a:p>
              <a:endParaRPr lang="ar-SA"/>
            </a:p>
          </p:txBody>
        </p:sp>
        <p:sp>
          <p:nvSpPr>
            <p:cNvPr id="11" name="TextBox 11"/>
            <p:cNvSpPr txBox="1"/>
            <p:nvPr/>
          </p:nvSpPr>
          <p:spPr>
            <a:xfrm>
              <a:off x="101600" y="-38100"/>
              <a:ext cx="7246408" cy="647700"/>
            </a:xfrm>
            <a:prstGeom prst="rect">
              <a:avLst/>
            </a:prstGeom>
          </p:spPr>
          <p:txBody>
            <a:bodyPr lIns="50800" tIns="50800" rIns="50800" bIns="50800" rtlCol="0" anchor="ctr"/>
            <a:lstStyle/>
            <a:p>
              <a:pPr algn="ctr">
                <a:lnSpc>
                  <a:spcPts val="2659"/>
                </a:lnSpc>
                <a:spcBef>
                  <a:spcPct val="0"/>
                </a:spcBef>
              </a:pPr>
              <a:endParaRPr/>
            </a:p>
          </p:txBody>
        </p:sp>
      </p:grpSp>
      <p:sp>
        <p:nvSpPr>
          <p:cNvPr id="12" name="Freeform 12"/>
          <p:cNvSpPr/>
          <p:nvPr/>
        </p:nvSpPr>
        <p:spPr>
          <a:xfrm>
            <a:off x="5094758" y="3049376"/>
            <a:ext cx="8776933" cy="4794400"/>
          </a:xfrm>
          <a:custGeom>
            <a:avLst/>
            <a:gdLst/>
            <a:ahLst/>
            <a:cxnLst/>
            <a:rect l="l" t="t" r="r" b="b"/>
            <a:pathLst>
              <a:path w="8776933" h="4794400">
                <a:moveTo>
                  <a:pt x="0" y="0"/>
                </a:moveTo>
                <a:lnTo>
                  <a:pt x="8776933" y="0"/>
                </a:lnTo>
                <a:lnTo>
                  <a:pt x="8776933" y="4794400"/>
                </a:lnTo>
                <a:lnTo>
                  <a:pt x="0" y="4794400"/>
                </a:lnTo>
                <a:lnTo>
                  <a:pt x="0" y="0"/>
                </a:lnTo>
                <a:close/>
              </a:path>
            </a:pathLst>
          </a:custGeom>
          <a:blipFill>
            <a:blip r:embed="rId3"/>
            <a:stretch>
              <a:fillRect/>
            </a:stretch>
          </a:blipFill>
        </p:spPr>
        <p:txBody>
          <a:bodyPr/>
          <a:lstStyle/>
          <a:p>
            <a:endParaRPr lang="ar-SA"/>
          </a:p>
        </p:txBody>
      </p:sp>
      <p:sp>
        <p:nvSpPr>
          <p:cNvPr id="13" name="TextBox 13"/>
          <p:cNvSpPr txBox="1"/>
          <p:nvPr/>
        </p:nvSpPr>
        <p:spPr>
          <a:xfrm>
            <a:off x="1028700" y="904875"/>
            <a:ext cx="12867180" cy="1166495"/>
          </a:xfrm>
          <a:prstGeom prst="rect">
            <a:avLst/>
          </a:prstGeom>
        </p:spPr>
        <p:txBody>
          <a:bodyPr lIns="0" tIns="0" rIns="0" bIns="0" rtlCol="0" anchor="t">
            <a:spAutoFit/>
          </a:bodyPr>
          <a:lstStyle/>
          <a:p>
            <a:pPr algn="just">
              <a:lnSpc>
                <a:spcPts val="4480"/>
              </a:lnSpc>
            </a:pPr>
            <a:r>
              <a:rPr lang="en-US" sz="3200">
                <a:solidFill>
                  <a:srgbClr val="E9E1DB"/>
                </a:solidFill>
                <a:latin typeface="Times New Roman"/>
                <a:ea typeface="Times New Roman"/>
                <a:cs typeface="Times New Roman"/>
                <a:sym typeface="Times New Roman"/>
              </a:rPr>
              <a:t>BUILDING INTERACTIVE INTERFACES TO USE ARTIFICIAL INTELLIGENCE IN COURSES DEVELOPMENT</a:t>
            </a:r>
          </a:p>
        </p:txBody>
      </p:sp>
      <p:sp>
        <p:nvSpPr>
          <p:cNvPr id="14" name="TextBox 14"/>
          <p:cNvSpPr txBox="1"/>
          <p:nvPr/>
        </p:nvSpPr>
        <p:spPr>
          <a:xfrm>
            <a:off x="2325850" y="2204190"/>
            <a:ext cx="13636300" cy="588011"/>
          </a:xfrm>
          <a:prstGeom prst="rect">
            <a:avLst/>
          </a:prstGeom>
        </p:spPr>
        <p:txBody>
          <a:bodyPr lIns="0" tIns="0" rIns="0" bIns="0" rtlCol="0" anchor="t">
            <a:spAutoFit/>
          </a:bodyPr>
          <a:lstStyle/>
          <a:p>
            <a:pPr algn="ctr">
              <a:lnSpc>
                <a:spcPts val="4339"/>
              </a:lnSpc>
              <a:spcBef>
                <a:spcPct val="0"/>
              </a:spcBef>
            </a:pPr>
            <a:r>
              <a:rPr lang="en-US" sz="3099" b="1">
                <a:solidFill>
                  <a:srgbClr val="E9E1DB"/>
                </a:solidFill>
                <a:latin typeface="Times New Roman Bold"/>
                <a:ea typeface="Times New Roman Bold"/>
                <a:cs typeface="Times New Roman Bold"/>
                <a:sym typeface="Times New Roman Bold"/>
              </a:rPr>
              <a:t>Creating a simple tool to generate vocabulary</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400235" y="-2280012"/>
            <a:ext cx="21938561" cy="13496146"/>
          </a:xfrm>
          <a:custGeom>
            <a:avLst/>
            <a:gdLst/>
            <a:ahLst/>
            <a:cxnLst/>
            <a:rect l="l" t="t" r="r" b="b"/>
            <a:pathLst>
              <a:path w="21938561" h="13496146">
                <a:moveTo>
                  <a:pt x="0" y="0"/>
                </a:moveTo>
                <a:lnTo>
                  <a:pt x="21938560" y="0"/>
                </a:lnTo>
                <a:lnTo>
                  <a:pt x="21938560" y="13496146"/>
                </a:lnTo>
                <a:lnTo>
                  <a:pt x="0" y="13496146"/>
                </a:lnTo>
                <a:lnTo>
                  <a:pt x="0" y="0"/>
                </a:lnTo>
                <a:close/>
              </a:path>
            </a:pathLst>
          </a:custGeom>
          <a:blipFill>
            <a:blip r:embed="rId2"/>
            <a:stretch>
              <a:fillRect l="-32641" t="-36451" r="-34370" b="-16258"/>
            </a:stretch>
          </a:blipFill>
        </p:spPr>
        <p:txBody>
          <a:bodyPr/>
          <a:lstStyle/>
          <a:p>
            <a:endParaRPr lang="ar-SA"/>
          </a:p>
        </p:txBody>
      </p:sp>
      <p:grpSp>
        <p:nvGrpSpPr>
          <p:cNvPr id="3" name="Group 3"/>
          <p:cNvGrpSpPr/>
          <p:nvPr/>
        </p:nvGrpSpPr>
        <p:grpSpPr>
          <a:xfrm rot="-2088381">
            <a:off x="-654014" y="5935649"/>
            <a:ext cx="7946576" cy="1601596"/>
            <a:chOff x="0" y="0"/>
            <a:chExt cx="3539030" cy="713275"/>
          </a:xfrm>
        </p:grpSpPr>
        <p:sp>
          <p:nvSpPr>
            <p:cNvPr id="4" name="Freeform 4"/>
            <p:cNvSpPr/>
            <p:nvPr/>
          </p:nvSpPr>
          <p:spPr>
            <a:xfrm>
              <a:off x="0" y="0"/>
              <a:ext cx="3539030" cy="713275"/>
            </a:xfrm>
            <a:custGeom>
              <a:avLst/>
              <a:gdLst/>
              <a:ahLst/>
              <a:cxnLst/>
              <a:rect l="l" t="t" r="r" b="b"/>
              <a:pathLst>
                <a:path w="3539030" h="713275">
                  <a:moveTo>
                    <a:pt x="203200" y="0"/>
                  </a:moveTo>
                  <a:lnTo>
                    <a:pt x="3539030" y="0"/>
                  </a:lnTo>
                  <a:lnTo>
                    <a:pt x="3335830" y="713275"/>
                  </a:lnTo>
                  <a:lnTo>
                    <a:pt x="0" y="713275"/>
                  </a:lnTo>
                  <a:lnTo>
                    <a:pt x="203200" y="0"/>
                  </a:lnTo>
                  <a:close/>
                </a:path>
              </a:pathLst>
            </a:custGeom>
            <a:solidFill>
              <a:srgbClr val="66574D"/>
            </a:solidFill>
          </p:spPr>
          <p:txBody>
            <a:bodyPr/>
            <a:lstStyle/>
            <a:p>
              <a:endParaRPr lang="ar-SA"/>
            </a:p>
          </p:txBody>
        </p:sp>
        <p:sp>
          <p:nvSpPr>
            <p:cNvPr id="5" name="TextBox 5"/>
            <p:cNvSpPr txBox="1"/>
            <p:nvPr/>
          </p:nvSpPr>
          <p:spPr>
            <a:xfrm>
              <a:off x="101600" y="-38100"/>
              <a:ext cx="3335830" cy="751375"/>
            </a:xfrm>
            <a:prstGeom prst="rect">
              <a:avLst/>
            </a:prstGeom>
          </p:spPr>
          <p:txBody>
            <a:bodyPr lIns="50800" tIns="50800" rIns="50800" bIns="50800" rtlCol="0" anchor="ctr"/>
            <a:lstStyle/>
            <a:p>
              <a:pPr algn="ctr">
                <a:lnSpc>
                  <a:spcPts val="2659"/>
                </a:lnSpc>
              </a:pPr>
              <a:endParaRPr/>
            </a:p>
          </p:txBody>
        </p:sp>
      </p:grpSp>
      <p:grpSp>
        <p:nvGrpSpPr>
          <p:cNvPr id="6" name="Group 6"/>
          <p:cNvGrpSpPr/>
          <p:nvPr/>
        </p:nvGrpSpPr>
        <p:grpSpPr>
          <a:xfrm>
            <a:off x="-1226391" y="419167"/>
            <a:ext cx="21419231" cy="9086516"/>
            <a:chOff x="0" y="0"/>
            <a:chExt cx="1540308" cy="653433"/>
          </a:xfrm>
        </p:grpSpPr>
        <p:sp>
          <p:nvSpPr>
            <p:cNvPr id="7" name="Freeform 7"/>
            <p:cNvSpPr/>
            <p:nvPr/>
          </p:nvSpPr>
          <p:spPr>
            <a:xfrm>
              <a:off x="0" y="0"/>
              <a:ext cx="1540308" cy="653433"/>
            </a:xfrm>
            <a:custGeom>
              <a:avLst/>
              <a:gdLst/>
              <a:ahLst/>
              <a:cxnLst/>
              <a:rect l="l" t="t" r="r" b="b"/>
              <a:pathLst>
                <a:path w="1540308" h="653433">
                  <a:moveTo>
                    <a:pt x="1337108" y="0"/>
                  </a:moveTo>
                  <a:lnTo>
                    <a:pt x="0" y="0"/>
                  </a:lnTo>
                  <a:lnTo>
                    <a:pt x="203200" y="653433"/>
                  </a:lnTo>
                  <a:lnTo>
                    <a:pt x="1540308" y="653433"/>
                  </a:lnTo>
                  <a:lnTo>
                    <a:pt x="1337108" y="0"/>
                  </a:lnTo>
                  <a:close/>
                </a:path>
              </a:pathLst>
            </a:custGeom>
            <a:solidFill>
              <a:srgbClr val="3D3735"/>
            </a:solidFill>
          </p:spPr>
          <p:txBody>
            <a:bodyPr/>
            <a:lstStyle/>
            <a:p>
              <a:endParaRPr lang="ar-SA"/>
            </a:p>
          </p:txBody>
        </p:sp>
        <p:sp>
          <p:nvSpPr>
            <p:cNvPr id="8" name="TextBox 8"/>
            <p:cNvSpPr txBox="1"/>
            <p:nvPr/>
          </p:nvSpPr>
          <p:spPr>
            <a:xfrm>
              <a:off x="101600" y="-38100"/>
              <a:ext cx="1337108" cy="691533"/>
            </a:xfrm>
            <a:prstGeom prst="rect">
              <a:avLst/>
            </a:prstGeom>
          </p:spPr>
          <p:txBody>
            <a:bodyPr lIns="50800" tIns="50800" rIns="50800" bIns="50800" rtlCol="0" anchor="ctr"/>
            <a:lstStyle/>
            <a:p>
              <a:pPr algn="ctr">
                <a:lnSpc>
                  <a:spcPts val="2659"/>
                </a:lnSpc>
                <a:spcBef>
                  <a:spcPct val="0"/>
                </a:spcBef>
              </a:pPr>
              <a:endParaRPr/>
            </a:p>
          </p:txBody>
        </p:sp>
      </p:grpSp>
      <p:grpSp>
        <p:nvGrpSpPr>
          <p:cNvPr id="9" name="Group 9"/>
          <p:cNvGrpSpPr/>
          <p:nvPr/>
        </p:nvGrpSpPr>
        <p:grpSpPr>
          <a:xfrm>
            <a:off x="0" y="8107296"/>
            <a:ext cx="18998529" cy="1554646"/>
            <a:chOff x="0" y="0"/>
            <a:chExt cx="7449608" cy="609600"/>
          </a:xfrm>
        </p:grpSpPr>
        <p:sp>
          <p:nvSpPr>
            <p:cNvPr id="10" name="Freeform 10"/>
            <p:cNvSpPr/>
            <p:nvPr/>
          </p:nvSpPr>
          <p:spPr>
            <a:xfrm>
              <a:off x="0" y="0"/>
              <a:ext cx="7449608" cy="609600"/>
            </a:xfrm>
            <a:custGeom>
              <a:avLst/>
              <a:gdLst/>
              <a:ahLst/>
              <a:cxnLst/>
              <a:rect l="l" t="t" r="r" b="b"/>
              <a:pathLst>
                <a:path w="7449608" h="609600">
                  <a:moveTo>
                    <a:pt x="7246408" y="0"/>
                  </a:moveTo>
                  <a:lnTo>
                    <a:pt x="0" y="0"/>
                  </a:lnTo>
                  <a:lnTo>
                    <a:pt x="203200" y="609600"/>
                  </a:lnTo>
                  <a:lnTo>
                    <a:pt x="7449608" y="609600"/>
                  </a:lnTo>
                  <a:lnTo>
                    <a:pt x="7246408" y="0"/>
                  </a:lnTo>
                  <a:close/>
                </a:path>
              </a:pathLst>
            </a:custGeom>
            <a:solidFill>
              <a:srgbClr val="E9E1DB"/>
            </a:solidFill>
          </p:spPr>
          <p:txBody>
            <a:bodyPr/>
            <a:lstStyle/>
            <a:p>
              <a:endParaRPr lang="ar-SA"/>
            </a:p>
          </p:txBody>
        </p:sp>
        <p:sp>
          <p:nvSpPr>
            <p:cNvPr id="11" name="TextBox 11"/>
            <p:cNvSpPr txBox="1"/>
            <p:nvPr/>
          </p:nvSpPr>
          <p:spPr>
            <a:xfrm>
              <a:off x="101600" y="-38100"/>
              <a:ext cx="7246408" cy="647700"/>
            </a:xfrm>
            <a:prstGeom prst="rect">
              <a:avLst/>
            </a:prstGeom>
          </p:spPr>
          <p:txBody>
            <a:bodyPr lIns="50800" tIns="50800" rIns="50800" bIns="50800" rtlCol="0" anchor="ctr"/>
            <a:lstStyle/>
            <a:p>
              <a:pPr algn="ctr">
                <a:lnSpc>
                  <a:spcPts val="2659"/>
                </a:lnSpc>
                <a:spcBef>
                  <a:spcPct val="0"/>
                </a:spcBef>
              </a:pPr>
              <a:endParaRPr/>
            </a:p>
          </p:txBody>
        </p:sp>
      </p:grpSp>
      <p:sp>
        <p:nvSpPr>
          <p:cNvPr id="12" name="Freeform 12"/>
          <p:cNvSpPr/>
          <p:nvPr/>
        </p:nvSpPr>
        <p:spPr>
          <a:xfrm>
            <a:off x="1388155" y="4177273"/>
            <a:ext cx="11301259" cy="2559173"/>
          </a:xfrm>
          <a:custGeom>
            <a:avLst/>
            <a:gdLst/>
            <a:ahLst/>
            <a:cxnLst/>
            <a:rect l="l" t="t" r="r" b="b"/>
            <a:pathLst>
              <a:path w="11301259" h="2559173">
                <a:moveTo>
                  <a:pt x="0" y="0"/>
                </a:moveTo>
                <a:lnTo>
                  <a:pt x="11301259" y="0"/>
                </a:lnTo>
                <a:lnTo>
                  <a:pt x="11301259" y="2559174"/>
                </a:lnTo>
                <a:lnTo>
                  <a:pt x="0" y="2559174"/>
                </a:lnTo>
                <a:lnTo>
                  <a:pt x="0" y="0"/>
                </a:lnTo>
                <a:close/>
              </a:path>
            </a:pathLst>
          </a:custGeom>
          <a:blipFill>
            <a:blip r:embed="rId3"/>
            <a:stretch>
              <a:fillRect t="-38551"/>
            </a:stretch>
          </a:blipFill>
        </p:spPr>
        <p:txBody>
          <a:bodyPr/>
          <a:lstStyle/>
          <a:p>
            <a:endParaRPr lang="ar-SA"/>
          </a:p>
        </p:txBody>
      </p:sp>
      <p:sp>
        <p:nvSpPr>
          <p:cNvPr id="13" name="Freeform 13"/>
          <p:cNvSpPr/>
          <p:nvPr/>
        </p:nvSpPr>
        <p:spPr>
          <a:xfrm>
            <a:off x="12878833" y="4552640"/>
            <a:ext cx="5015543" cy="2191779"/>
          </a:xfrm>
          <a:custGeom>
            <a:avLst/>
            <a:gdLst/>
            <a:ahLst/>
            <a:cxnLst/>
            <a:rect l="l" t="t" r="r" b="b"/>
            <a:pathLst>
              <a:path w="5015543" h="2191779">
                <a:moveTo>
                  <a:pt x="0" y="0"/>
                </a:moveTo>
                <a:lnTo>
                  <a:pt x="5015543" y="0"/>
                </a:lnTo>
                <a:lnTo>
                  <a:pt x="5015543" y="2191779"/>
                </a:lnTo>
                <a:lnTo>
                  <a:pt x="0" y="2191779"/>
                </a:lnTo>
                <a:lnTo>
                  <a:pt x="0" y="0"/>
                </a:lnTo>
                <a:close/>
              </a:path>
            </a:pathLst>
          </a:custGeom>
          <a:blipFill>
            <a:blip r:embed="rId4"/>
            <a:stretch>
              <a:fillRect/>
            </a:stretch>
          </a:blipFill>
        </p:spPr>
        <p:txBody>
          <a:bodyPr/>
          <a:lstStyle/>
          <a:p>
            <a:endParaRPr lang="ar-SA"/>
          </a:p>
        </p:txBody>
      </p:sp>
      <p:sp>
        <p:nvSpPr>
          <p:cNvPr id="14" name="TextBox 14"/>
          <p:cNvSpPr txBox="1"/>
          <p:nvPr/>
        </p:nvSpPr>
        <p:spPr>
          <a:xfrm>
            <a:off x="1028700" y="904875"/>
            <a:ext cx="16230600" cy="1166495"/>
          </a:xfrm>
          <a:prstGeom prst="rect">
            <a:avLst/>
          </a:prstGeom>
        </p:spPr>
        <p:txBody>
          <a:bodyPr lIns="0" tIns="0" rIns="0" bIns="0" rtlCol="0" anchor="t">
            <a:spAutoFit/>
          </a:bodyPr>
          <a:lstStyle/>
          <a:p>
            <a:pPr algn="just">
              <a:lnSpc>
                <a:spcPts val="4480"/>
              </a:lnSpc>
            </a:pPr>
            <a:r>
              <a:rPr lang="en-US" sz="3200">
                <a:solidFill>
                  <a:srgbClr val="E9E1DB"/>
                </a:solidFill>
                <a:latin typeface="Times New Roman"/>
                <a:ea typeface="Times New Roman"/>
                <a:cs typeface="Times New Roman"/>
                <a:sym typeface="Times New Roman"/>
              </a:rPr>
              <a:t>ADVANCED SETTINGS FOR THE MODEL &amp; FORMATTING AND EXPORTING OUTPUTS: </a:t>
            </a:r>
          </a:p>
        </p:txBody>
      </p:sp>
      <p:sp>
        <p:nvSpPr>
          <p:cNvPr id="15" name="TextBox 15"/>
          <p:cNvSpPr txBox="1"/>
          <p:nvPr/>
        </p:nvSpPr>
        <p:spPr>
          <a:xfrm>
            <a:off x="1028700" y="2559208"/>
            <a:ext cx="13636300" cy="630556"/>
          </a:xfrm>
          <a:prstGeom prst="rect">
            <a:avLst/>
          </a:prstGeom>
        </p:spPr>
        <p:txBody>
          <a:bodyPr lIns="0" tIns="0" rIns="0" bIns="0" rtlCol="0" anchor="t">
            <a:spAutoFit/>
          </a:bodyPr>
          <a:lstStyle/>
          <a:p>
            <a:pPr algn="l">
              <a:lnSpc>
                <a:spcPts val="4619"/>
              </a:lnSpc>
              <a:spcBef>
                <a:spcPct val="0"/>
              </a:spcBef>
            </a:pPr>
            <a:r>
              <a:rPr lang="en-US" sz="3299">
                <a:solidFill>
                  <a:srgbClr val="E9E1DB"/>
                </a:solidFill>
                <a:latin typeface="Times New Roman"/>
                <a:ea typeface="Times New Roman"/>
                <a:cs typeface="Times New Roman"/>
                <a:sym typeface="Times New Roman"/>
              </a:rPr>
              <a:t>Adjusting temperature, length, and models </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400235" y="-2280012"/>
            <a:ext cx="21938561" cy="13496146"/>
          </a:xfrm>
          <a:custGeom>
            <a:avLst/>
            <a:gdLst/>
            <a:ahLst/>
            <a:cxnLst/>
            <a:rect l="l" t="t" r="r" b="b"/>
            <a:pathLst>
              <a:path w="21938561" h="13496146">
                <a:moveTo>
                  <a:pt x="0" y="0"/>
                </a:moveTo>
                <a:lnTo>
                  <a:pt x="21938560" y="0"/>
                </a:lnTo>
                <a:lnTo>
                  <a:pt x="21938560" y="13496146"/>
                </a:lnTo>
                <a:lnTo>
                  <a:pt x="0" y="13496146"/>
                </a:lnTo>
                <a:lnTo>
                  <a:pt x="0" y="0"/>
                </a:lnTo>
                <a:close/>
              </a:path>
            </a:pathLst>
          </a:custGeom>
          <a:blipFill>
            <a:blip r:embed="rId2"/>
            <a:stretch>
              <a:fillRect l="-32641" t="-36451" r="-34370" b="-16258"/>
            </a:stretch>
          </a:blipFill>
        </p:spPr>
        <p:txBody>
          <a:bodyPr/>
          <a:lstStyle/>
          <a:p>
            <a:endParaRPr lang="ar-SA"/>
          </a:p>
        </p:txBody>
      </p:sp>
      <p:grpSp>
        <p:nvGrpSpPr>
          <p:cNvPr id="3" name="Group 3"/>
          <p:cNvGrpSpPr/>
          <p:nvPr/>
        </p:nvGrpSpPr>
        <p:grpSpPr>
          <a:xfrm rot="-2088381">
            <a:off x="-654014" y="5935649"/>
            <a:ext cx="7946576" cy="1601596"/>
            <a:chOff x="0" y="0"/>
            <a:chExt cx="3539030" cy="713275"/>
          </a:xfrm>
        </p:grpSpPr>
        <p:sp>
          <p:nvSpPr>
            <p:cNvPr id="4" name="Freeform 4"/>
            <p:cNvSpPr/>
            <p:nvPr/>
          </p:nvSpPr>
          <p:spPr>
            <a:xfrm>
              <a:off x="0" y="0"/>
              <a:ext cx="3539030" cy="713275"/>
            </a:xfrm>
            <a:custGeom>
              <a:avLst/>
              <a:gdLst/>
              <a:ahLst/>
              <a:cxnLst/>
              <a:rect l="l" t="t" r="r" b="b"/>
              <a:pathLst>
                <a:path w="3539030" h="713275">
                  <a:moveTo>
                    <a:pt x="203200" y="0"/>
                  </a:moveTo>
                  <a:lnTo>
                    <a:pt x="3539030" y="0"/>
                  </a:lnTo>
                  <a:lnTo>
                    <a:pt x="3335830" y="713275"/>
                  </a:lnTo>
                  <a:lnTo>
                    <a:pt x="0" y="713275"/>
                  </a:lnTo>
                  <a:lnTo>
                    <a:pt x="203200" y="0"/>
                  </a:lnTo>
                  <a:close/>
                </a:path>
              </a:pathLst>
            </a:custGeom>
            <a:solidFill>
              <a:srgbClr val="66574D"/>
            </a:solidFill>
          </p:spPr>
          <p:txBody>
            <a:bodyPr/>
            <a:lstStyle/>
            <a:p>
              <a:endParaRPr lang="ar-SA"/>
            </a:p>
          </p:txBody>
        </p:sp>
        <p:sp>
          <p:nvSpPr>
            <p:cNvPr id="5" name="TextBox 5"/>
            <p:cNvSpPr txBox="1"/>
            <p:nvPr/>
          </p:nvSpPr>
          <p:spPr>
            <a:xfrm>
              <a:off x="101600" y="-38100"/>
              <a:ext cx="3335830" cy="751375"/>
            </a:xfrm>
            <a:prstGeom prst="rect">
              <a:avLst/>
            </a:prstGeom>
          </p:spPr>
          <p:txBody>
            <a:bodyPr lIns="50800" tIns="50800" rIns="50800" bIns="50800" rtlCol="0" anchor="ctr"/>
            <a:lstStyle/>
            <a:p>
              <a:pPr algn="ctr">
                <a:lnSpc>
                  <a:spcPts val="2659"/>
                </a:lnSpc>
              </a:pPr>
              <a:endParaRPr/>
            </a:p>
          </p:txBody>
        </p:sp>
      </p:grpSp>
      <p:grpSp>
        <p:nvGrpSpPr>
          <p:cNvPr id="6" name="Group 6"/>
          <p:cNvGrpSpPr/>
          <p:nvPr/>
        </p:nvGrpSpPr>
        <p:grpSpPr>
          <a:xfrm>
            <a:off x="-1226391" y="419167"/>
            <a:ext cx="21419231" cy="9086516"/>
            <a:chOff x="0" y="0"/>
            <a:chExt cx="1540308" cy="653433"/>
          </a:xfrm>
        </p:grpSpPr>
        <p:sp>
          <p:nvSpPr>
            <p:cNvPr id="7" name="Freeform 7"/>
            <p:cNvSpPr/>
            <p:nvPr/>
          </p:nvSpPr>
          <p:spPr>
            <a:xfrm>
              <a:off x="0" y="0"/>
              <a:ext cx="1540308" cy="653433"/>
            </a:xfrm>
            <a:custGeom>
              <a:avLst/>
              <a:gdLst/>
              <a:ahLst/>
              <a:cxnLst/>
              <a:rect l="l" t="t" r="r" b="b"/>
              <a:pathLst>
                <a:path w="1540308" h="653433">
                  <a:moveTo>
                    <a:pt x="1337108" y="0"/>
                  </a:moveTo>
                  <a:lnTo>
                    <a:pt x="0" y="0"/>
                  </a:lnTo>
                  <a:lnTo>
                    <a:pt x="203200" y="653433"/>
                  </a:lnTo>
                  <a:lnTo>
                    <a:pt x="1540308" y="653433"/>
                  </a:lnTo>
                  <a:lnTo>
                    <a:pt x="1337108" y="0"/>
                  </a:lnTo>
                  <a:close/>
                </a:path>
              </a:pathLst>
            </a:custGeom>
            <a:solidFill>
              <a:srgbClr val="3D3735"/>
            </a:solidFill>
          </p:spPr>
          <p:txBody>
            <a:bodyPr/>
            <a:lstStyle/>
            <a:p>
              <a:endParaRPr lang="ar-SA"/>
            </a:p>
          </p:txBody>
        </p:sp>
        <p:sp>
          <p:nvSpPr>
            <p:cNvPr id="8" name="TextBox 8"/>
            <p:cNvSpPr txBox="1"/>
            <p:nvPr/>
          </p:nvSpPr>
          <p:spPr>
            <a:xfrm>
              <a:off x="101600" y="-47625"/>
              <a:ext cx="1337108" cy="701058"/>
            </a:xfrm>
            <a:prstGeom prst="rect">
              <a:avLst/>
            </a:prstGeom>
          </p:spPr>
          <p:txBody>
            <a:bodyPr lIns="50800" tIns="50800" rIns="50800" bIns="50800" rtlCol="0" anchor="ctr"/>
            <a:lstStyle/>
            <a:p>
              <a:pPr algn="ctr">
                <a:lnSpc>
                  <a:spcPts val="2939"/>
                </a:lnSpc>
                <a:spcBef>
                  <a:spcPct val="0"/>
                </a:spcBef>
              </a:pPr>
              <a:endParaRPr/>
            </a:p>
          </p:txBody>
        </p:sp>
      </p:grpSp>
      <p:grpSp>
        <p:nvGrpSpPr>
          <p:cNvPr id="9" name="Group 9"/>
          <p:cNvGrpSpPr/>
          <p:nvPr/>
        </p:nvGrpSpPr>
        <p:grpSpPr>
          <a:xfrm>
            <a:off x="0" y="8107296"/>
            <a:ext cx="18998529" cy="1554646"/>
            <a:chOff x="0" y="0"/>
            <a:chExt cx="7449608" cy="609600"/>
          </a:xfrm>
        </p:grpSpPr>
        <p:sp>
          <p:nvSpPr>
            <p:cNvPr id="10" name="Freeform 10"/>
            <p:cNvSpPr/>
            <p:nvPr/>
          </p:nvSpPr>
          <p:spPr>
            <a:xfrm>
              <a:off x="0" y="0"/>
              <a:ext cx="7449608" cy="609600"/>
            </a:xfrm>
            <a:custGeom>
              <a:avLst/>
              <a:gdLst/>
              <a:ahLst/>
              <a:cxnLst/>
              <a:rect l="l" t="t" r="r" b="b"/>
              <a:pathLst>
                <a:path w="7449608" h="609600">
                  <a:moveTo>
                    <a:pt x="7246408" y="0"/>
                  </a:moveTo>
                  <a:lnTo>
                    <a:pt x="0" y="0"/>
                  </a:lnTo>
                  <a:lnTo>
                    <a:pt x="203200" y="609600"/>
                  </a:lnTo>
                  <a:lnTo>
                    <a:pt x="7449608" y="609600"/>
                  </a:lnTo>
                  <a:lnTo>
                    <a:pt x="7246408" y="0"/>
                  </a:lnTo>
                  <a:close/>
                </a:path>
              </a:pathLst>
            </a:custGeom>
            <a:solidFill>
              <a:srgbClr val="E9E1DB"/>
            </a:solidFill>
          </p:spPr>
          <p:txBody>
            <a:bodyPr/>
            <a:lstStyle/>
            <a:p>
              <a:endParaRPr lang="ar-SA"/>
            </a:p>
          </p:txBody>
        </p:sp>
        <p:sp>
          <p:nvSpPr>
            <p:cNvPr id="11" name="TextBox 11"/>
            <p:cNvSpPr txBox="1"/>
            <p:nvPr/>
          </p:nvSpPr>
          <p:spPr>
            <a:xfrm>
              <a:off x="101600" y="-38100"/>
              <a:ext cx="7246408" cy="647700"/>
            </a:xfrm>
            <a:prstGeom prst="rect">
              <a:avLst/>
            </a:prstGeom>
          </p:spPr>
          <p:txBody>
            <a:bodyPr lIns="50800" tIns="50800" rIns="50800" bIns="50800" rtlCol="0" anchor="ctr"/>
            <a:lstStyle/>
            <a:p>
              <a:pPr algn="ctr">
                <a:lnSpc>
                  <a:spcPts val="2659"/>
                </a:lnSpc>
                <a:spcBef>
                  <a:spcPct val="0"/>
                </a:spcBef>
              </a:pPr>
              <a:endParaRPr/>
            </a:p>
          </p:txBody>
        </p:sp>
      </p:grpSp>
      <p:sp>
        <p:nvSpPr>
          <p:cNvPr id="12" name="TextBox 12"/>
          <p:cNvSpPr txBox="1"/>
          <p:nvPr/>
        </p:nvSpPr>
        <p:spPr>
          <a:xfrm>
            <a:off x="1028700" y="904875"/>
            <a:ext cx="15952011" cy="1166495"/>
          </a:xfrm>
          <a:prstGeom prst="rect">
            <a:avLst/>
          </a:prstGeom>
        </p:spPr>
        <p:txBody>
          <a:bodyPr lIns="0" tIns="0" rIns="0" bIns="0" rtlCol="0" anchor="t">
            <a:spAutoFit/>
          </a:bodyPr>
          <a:lstStyle/>
          <a:p>
            <a:pPr algn="just">
              <a:lnSpc>
                <a:spcPts val="4480"/>
              </a:lnSpc>
            </a:pPr>
            <a:r>
              <a:rPr lang="en-US" sz="3200">
                <a:solidFill>
                  <a:srgbClr val="E9E1DB"/>
                </a:solidFill>
                <a:latin typeface="Times New Roman"/>
                <a:ea typeface="Times New Roman"/>
                <a:cs typeface="Times New Roman"/>
                <a:sym typeface="Times New Roman"/>
              </a:rPr>
              <a:t>ADVANCED SETTINGS FOR THE MODEL &amp; FORMATTING AND EXPORTING OUTPUTS: </a:t>
            </a:r>
          </a:p>
        </p:txBody>
      </p:sp>
      <p:sp>
        <p:nvSpPr>
          <p:cNvPr id="13" name="TextBox 13"/>
          <p:cNvSpPr txBox="1"/>
          <p:nvPr/>
        </p:nvSpPr>
        <p:spPr>
          <a:xfrm>
            <a:off x="1028700" y="2427900"/>
            <a:ext cx="15043416" cy="1131464"/>
          </a:xfrm>
          <a:prstGeom prst="rect">
            <a:avLst/>
          </a:prstGeom>
        </p:spPr>
        <p:txBody>
          <a:bodyPr lIns="0" tIns="0" rIns="0" bIns="0" rtlCol="0" anchor="t">
            <a:spAutoFit/>
          </a:bodyPr>
          <a:lstStyle/>
          <a:p>
            <a:pPr algn="l">
              <a:lnSpc>
                <a:spcPts val="4619"/>
              </a:lnSpc>
              <a:spcBef>
                <a:spcPct val="0"/>
              </a:spcBef>
            </a:pPr>
            <a:r>
              <a:rPr lang="en-US" sz="3299" dirty="0">
                <a:solidFill>
                  <a:srgbClr val="E9E1DB"/>
                </a:solidFill>
                <a:latin typeface="Times New Roman"/>
                <a:ea typeface="Times New Roman"/>
                <a:cs typeface="Times New Roman"/>
                <a:sym typeface="Times New Roman"/>
              </a:rPr>
              <a:t>Use python-pptx and python-docx in generated content, create a presentation, or an automated tutorial.</a:t>
            </a:r>
          </a:p>
        </p:txBody>
      </p:sp>
      <p:sp>
        <p:nvSpPr>
          <p:cNvPr id="14" name="TextBox 14"/>
          <p:cNvSpPr txBox="1"/>
          <p:nvPr/>
        </p:nvSpPr>
        <p:spPr>
          <a:xfrm>
            <a:off x="2096687" y="4363286"/>
            <a:ext cx="14773075" cy="2781936"/>
          </a:xfrm>
          <a:prstGeom prst="rect">
            <a:avLst/>
          </a:prstGeom>
        </p:spPr>
        <p:txBody>
          <a:bodyPr lIns="0" tIns="0" rIns="0" bIns="0" rtlCol="0" anchor="t">
            <a:spAutoFit/>
          </a:bodyPr>
          <a:lstStyle/>
          <a:p>
            <a:pPr algn="just">
              <a:lnSpc>
                <a:spcPts val="3639"/>
              </a:lnSpc>
              <a:spcBef>
                <a:spcPct val="0"/>
              </a:spcBef>
            </a:pPr>
            <a:r>
              <a:rPr lang="en-US" sz="2599">
                <a:solidFill>
                  <a:srgbClr val="E9E1DB"/>
                </a:solidFill>
                <a:latin typeface="Times New Roman"/>
                <a:ea typeface="Times New Roman"/>
                <a:cs typeface="Times New Roman"/>
                <a:sym typeface="Times New Roman"/>
              </a:rPr>
              <a:t>PPTX and DOCX files are based on Open XML and can be generated programmatically without installing Microsoft Office, using the following Python libraries:</a:t>
            </a:r>
          </a:p>
          <a:p>
            <a:pPr algn="just">
              <a:lnSpc>
                <a:spcPts val="3639"/>
              </a:lnSpc>
              <a:spcBef>
                <a:spcPct val="0"/>
              </a:spcBef>
            </a:pPr>
            <a:endParaRPr lang="en-US" sz="2599">
              <a:solidFill>
                <a:srgbClr val="E9E1DB"/>
              </a:solidFill>
              <a:latin typeface="Times New Roman"/>
              <a:ea typeface="Times New Roman"/>
              <a:cs typeface="Times New Roman"/>
              <a:sym typeface="Times New Roman"/>
            </a:endParaRPr>
          </a:p>
          <a:p>
            <a:pPr algn="just">
              <a:lnSpc>
                <a:spcPts val="3639"/>
              </a:lnSpc>
              <a:spcBef>
                <a:spcPct val="0"/>
              </a:spcBef>
            </a:pPr>
            <a:r>
              <a:rPr lang="en-US" sz="2599">
                <a:solidFill>
                  <a:srgbClr val="E9E1DB"/>
                </a:solidFill>
                <a:latin typeface="Times New Roman"/>
                <a:ea typeface="Times New Roman"/>
                <a:cs typeface="Times New Roman"/>
                <a:sym typeface="Times New Roman"/>
              </a:rPr>
              <a:t>•</a:t>
            </a:r>
            <a:r>
              <a:rPr lang="en-US" sz="2599" b="1">
                <a:solidFill>
                  <a:srgbClr val="E9E1DB"/>
                </a:solidFill>
                <a:latin typeface="Times New Roman Bold"/>
                <a:ea typeface="Times New Roman Bold"/>
                <a:cs typeface="Times New Roman Bold"/>
                <a:sym typeface="Times New Roman Bold"/>
              </a:rPr>
              <a:t> python-pptx:</a:t>
            </a:r>
            <a:r>
              <a:rPr lang="en-US" sz="2599">
                <a:solidFill>
                  <a:srgbClr val="E9E1DB"/>
                </a:solidFill>
                <a:latin typeface="Times New Roman"/>
                <a:ea typeface="Times New Roman"/>
                <a:cs typeface="Times New Roman"/>
                <a:sym typeface="Times New Roman"/>
              </a:rPr>
              <a:t> For creating dynamic PowerPoint presentations (titles, bullet points, lesson slides, etc.).</a:t>
            </a:r>
          </a:p>
          <a:p>
            <a:pPr algn="just">
              <a:lnSpc>
                <a:spcPts val="3639"/>
              </a:lnSpc>
              <a:spcBef>
                <a:spcPct val="0"/>
              </a:spcBef>
            </a:pPr>
            <a:endParaRPr lang="en-US" sz="2599">
              <a:solidFill>
                <a:srgbClr val="E9E1DB"/>
              </a:solidFill>
              <a:latin typeface="Times New Roman"/>
              <a:ea typeface="Times New Roman"/>
              <a:cs typeface="Times New Roman"/>
              <a:sym typeface="Times New Roman"/>
            </a:endParaRPr>
          </a:p>
          <a:p>
            <a:pPr algn="just">
              <a:lnSpc>
                <a:spcPts val="3639"/>
              </a:lnSpc>
              <a:spcBef>
                <a:spcPct val="0"/>
              </a:spcBef>
            </a:pPr>
            <a:r>
              <a:rPr lang="en-US" sz="2599">
                <a:solidFill>
                  <a:srgbClr val="E9E1DB"/>
                </a:solidFill>
                <a:latin typeface="Times New Roman"/>
                <a:ea typeface="Times New Roman"/>
                <a:cs typeface="Times New Roman"/>
                <a:sym typeface="Times New Roman"/>
              </a:rPr>
              <a:t>• </a:t>
            </a:r>
            <a:r>
              <a:rPr lang="en-US" sz="2599" b="1">
                <a:solidFill>
                  <a:srgbClr val="E9E1DB"/>
                </a:solidFill>
                <a:latin typeface="Times New Roman Bold"/>
                <a:ea typeface="Times New Roman Bold"/>
                <a:cs typeface="Times New Roman Bold"/>
                <a:sym typeface="Times New Roman Bold"/>
              </a:rPr>
              <a:t>python-docx: </a:t>
            </a:r>
            <a:r>
              <a:rPr lang="en-US" sz="2599">
                <a:solidFill>
                  <a:srgbClr val="E9E1DB"/>
                </a:solidFill>
                <a:latin typeface="Times New Roman"/>
                <a:ea typeface="Times New Roman"/>
                <a:cs typeface="Times New Roman"/>
                <a:sym typeface="Times New Roman"/>
              </a:rPr>
              <a:t>For generating structured Word documents (titles, tables, paragraphs, etc.).</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400235" y="-2280012"/>
            <a:ext cx="21938561" cy="13496146"/>
          </a:xfrm>
          <a:custGeom>
            <a:avLst/>
            <a:gdLst/>
            <a:ahLst/>
            <a:cxnLst/>
            <a:rect l="l" t="t" r="r" b="b"/>
            <a:pathLst>
              <a:path w="21938561" h="13496146">
                <a:moveTo>
                  <a:pt x="0" y="0"/>
                </a:moveTo>
                <a:lnTo>
                  <a:pt x="21938560" y="0"/>
                </a:lnTo>
                <a:lnTo>
                  <a:pt x="21938560" y="13496146"/>
                </a:lnTo>
                <a:lnTo>
                  <a:pt x="0" y="13496146"/>
                </a:lnTo>
                <a:lnTo>
                  <a:pt x="0" y="0"/>
                </a:lnTo>
                <a:close/>
              </a:path>
            </a:pathLst>
          </a:custGeom>
          <a:blipFill>
            <a:blip r:embed="rId2"/>
            <a:stretch>
              <a:fillRect l="-32641" t="-36451" r="-34370" b="-16258"/>
            </a:stretch>
          </a:blipFill>
        </p:spPr>
        <p:txBody>
          <a:bodyPr/>
          <a:lstStyle/>
          <a:p>
            <a:endParaRPr lang="ar-SA"/>
          </a:p>
        </p:txBody>
      </p:sp>
      <p:grpSp>
        <p:nvGrpSpPr>
          <p:cNvPr id="3" name="Group 3"/>
          <p:cNvGrpSpPr/>
          <p:nvPr/>
        </p:nvGrpSpPr>
        <p:grpSpPr>
          <a:xfrm rot="-2088381">
            <a:off x="-654014" y="5935649"/>
            <a:ext cx="7946576" cy="1601596"/>
            <a:chOff x="0" y="0"/>
            <a:chExt cx="3539030" cy="713275"/>
          </a:xfrm>
        </p:grpSpPr>
        <p:sp>
          <p:nvSpPr>
            <p:cNvPr id="4" name="Freeform 4"/>
            <p:cNvSpPr/>
            <p:nvPr/>
          </p:nvSpPr>
          <p:spPr>
            <a:xfrm>
              <a:off x="0" y="0"/>
              <a:ext cx="3539030" cy="713275"/>
            </a:xfrm>
            <a:custGeom>
              <a:avLst/>
              <a:gdLst/>
              <a:ahLst/>
              <a:cxnLst/>
              <a:rect l="l" t="t" r="r" b="b"/>
              <a:pathLst>
                <a:path w="3539030" h="713275">
                  <a:moveTo>
                    <a:pt x="203200" y="0"/>
                  </a:moveTo>
                  <a:lnTo>
                    <a:pt x="3539030" y="0"/>
                  </a:lnTo>
                  <a:lnTo>
                    <a:pt x="3335830" y="713275"/>
                  </a:lnTo>
                  <a:lnTo>
                    <a:pt x="0" y="713275"/>
                  </a:lnTo>
                  <a:lnTo>
                    <a:pt x="203200" y="0"/>
                  </a:lnTo>
                  <a:close/>
                </a:path>
              </a:pathLst>
            </a:custGeom>
            <a:solidFill>
              <a:srgbClr val="66574D"/>
            </a:solidFill>
          </p:spPr>
          <p:txBody>
            <a:bodyPr/>
            <a:lstStyle/>
            <a:p>
              <a:endParaRPr lang="ar-SA"/>
            </a:p>
          </p:txBody>
        </p:sp>
        <p:sp>
          <p:nvSpPr>
            <p:cNvPr id="5" name="TextBox 5"/>
            <p:cNvSpPr txBox="1"/>
            <p:nvPr/>
          </p:nvSpPr>
          <p:spPr>
            <a:xfrm>
              <a:off x="101600" y="-38100"/>
              <a:ext cx="3335830" cy="751375"/>
            </a:xfrm>
            <a:prstGeom prst="rect">
              <a:avLst/>
            </a:prstGeom>
          </p:spPr>
          <p:txBody>
            <a:bodyPr lIns="50800" tIns="50800" rIns="50800" bIns="50800" rtlCol="0" anchor="ctr"/>
            <a:lstStyle/>
            <a:p>
              <a:pPr algn="ctr">
                <a:lnSpc>
                  <a:spcPts val="2659"/>
                </a:lnSpc>
              </a:pPr>
              <a:endParaRPr/>
            </a:p>
          </p:txBody>
        </p:sp>
      </p:grpSp>
      <p:grpSp>
        <p:nvGrpSpPr>
          <p:cNvPr id="6" name="Group 6"/>
          <p:cNvGrpSpPr/>
          <p:nvPr/>
        </p:nvGrpSpPr>
        <p:grpSpPr>
          <a:xfrm>
            <a:off x="-1226391" y="419167"/>
            <a:ext cx="21419231" cy="9086516"/>
            <a:chOff x="0" y="0"/>
            <a:chExt cx="1540308" cy="653433"/>
          </a:xfrm>
        </p:grpSpPr>
        <p:sp>
          <p:nvSpPr>
            <p:cNvPr id="7" name="Freeform 7"/>
            <p:cNvSpPr/>
            <p:nvPr/>
          </p:nvSpPr>
          <p:spPr>
            <a:xfrm>
              <a:off x="0" y="0"/>
              <a:ext cx="1540308" cy="653433"/>
            </a:xfrm>
            <a:custGeom>
              <a:avLst/>
              <a:gdLst/>
              <a:ahLst/>
              <a:cxnLst/>
              <a:rect l="l" t="t" r="r" b="b"/>
              <a:pathLst>
                <a:path w="1540308" h="653433">
                  <a:moveTo>
                    <a:pt x="1337108" y="0"/>
                  </a:moveTo>
                  <a:lnTo>
                    <a:pt x="0" y="0"/>
                  </a:lnTo>
                  <a:lnTo>
                    <a:pt x="203200" y="653433"/>
                  </a:lnTo>
                  <a:lnTo>
                    <a:pt x="1540308" y="653433"/>
                  </a:lnTo>
                  <a:lnTo>
                    <a:pt x="1337108" y="0"/>
                  </a:lnTo>
                  <a:close/>
                </a:path>
              </a:pathLst>
            </a:custGeom>
            <a:solidFill>
              <a:srgbClr val="3D3735"/>
            </a:solidFill>
          </p:spPr>
          <p:txBody>
            <a:bodyPr/>
            <a:lstStyle/>
            <a:p>
              <a:endParaRPr lang="ar-SA"/>
            </a:p>
          </p:txBody>
        </p:sp>
        <p:sp>
          <p:nvSpPr>
            <p:cNvPr id="8" name="TextBox 8"/>
            <p:cNvSpPr txBox="1"/>
            <p:nvPr/>
          </p:nvSpPr>
          <p:spPr>
            <a:xfrm>
              <a:off x="101600" y="-38100"/>
              <a:ext cx="1337108" cy="691533"/>
            </a:xfrm>
            <a:prstGeom prst="rect">
              <a:avLst/>
            </a:prstGeom>
          </p:spPr>
          <p:txBody>
            <a:bodyPr lIns="50800" tIns="50800" rIns="50800" bIns="50800" rtlCol="0" anchor="ctr"/>
            <a:lstStyle/>
            <a:p>
              <a:pPr algn="ctr">
                <a:lnSpc>
                  <a:spcPts val="2659"/>
                </a:lnSpc>
                <a:spcBef>
                  <a:spcPct val="0"/>
                </a:spcBef>
              </a:pPr>
              <a:endParaRPr/>
            </a:p>
          </p:txBody>
        </p:sp>
      </p:grpSp>
      <p:grpSp>
        <p:nvGrpSpPr>
          <p:cNvPr id="9" name="Group 9"/>
          <p:cNvGrpSpPr/>
          <p:nvPr/>
        </p:nvGrpSpPr>
        <p:grpSpPr>
          <a:xfrm>
            <a:off x="0" y="8107296"/>
            <a:ext cx="18998529" cy="1554646"/>
            <a:chOff x="0" y="0"/>
            <a:chExt cx="7449608" cy="609600"/>
          </a:xfrm>
        </p:grpSpPr>
        <p:sp>
          <p:nvSpPr>
            <p:cNvPr id="10" name="Freeform 10"/>
            <p:cNvSpPr/>
            <p:nvPr/>
          </p:nvSpPr>
          <p:spPr>
            <a:xfrm>
              <a:off x="0" y="0"/>
              <a:ext cx="7449608" cy="609600"/>
            </a:xfrm>
            <a:custGeom>
              <a:avLst/>
              <a:gdLst/>
              <a:ahLst/>
              <a:cxnLst/>
              <a:rect l="l" t="t" r="r" b="b"/>
              <a:pathLst>
                <a:path w="7449608" h="609600">
                  <a:moveTo>
                    <a:pt x="7246408" y="0"/>
                  </a:moveTo>
                  <a:lnTo>
                    <a:pt x="0" y="0"/>
                  </a:lnTo>
                  <a:lnTo>
                    <a:pt x="203200" y="609600"/>
                  </a:lnTo>
                  <a:lnTo>
                    <a:pt x="7449608" y="609600"/>
                  </a:lnTo>
                  <a:lnTo>
                    <a:pt x="7246408" y="0"/>
                  </a:lnTo>
                  <a:close/>
                </a:path>
              </a:pathLst>
            </a:custGeom>
            <a:solidFill>
              <a:srgbClr val="E9E1DB"/>
            </a:solidFill>
          </p:spPr>
          <p:txBody>
            <a:bodyPr/>
            <a:lstStyle/>
            <a:p>
              <a:endParaRPr lang="ar-SA"/>
            </a:p>
          </p:txBody>
        </p:sp>
        <p:sp>
          <p:nvSpPr>
            <p:cNvPr id="11" name="TextBox 11"/>
            <p:cNvSpPr txBox="1"/>
            <p:nvPr/>
          </p:nvSpPr>
          <p:spPr>
            <a:xfrm>
              <a:off x="101600" y="-38100"/>
              <a:ext cx="7246408" cy="647700"/>
            </a:xfrm>
            <a:prstGeom prst="rect">
              <a:avLst/>
            </a:prstGeom>
          </p:spPr>
          <p:txBody>
            <a:bodyPr lIns="50800" tIns="50800" rIns="50800" bIns="50800" rtlCol="0" anchor="ctr"/>
            <a:lstStyle/>
            <a:p>
              <a:pPr algn="ctr">
                <a:lnSpc>
                  <a:spcPts val="2659"/>
                </a:lnSpc>
                <a:spcBef>
                  <a:spcPct val="0"/>
                </a:spcBef>
              </a:pPr>
              <a:endParaRPr/>
            </a:p>
          </p:txBody>
        </p:sp>
      </p:grpSp>
      <p:sp>
        <p:nvSpPr>
          <p:cNvPr id="12" name="TextBox 12"/>
          <p:cNvSpPr txBox="1"/>
          <p:nvPr/>
        </p:nvSpPr>
        <p:spPr>
          <a:xfrm>
            <a:off x="1028700" y="904875"/>
            <a:ext cx="15176990" cy="604520"/>
          </a:xfrm>
          <a:prstGeom prst="rect">
            <a:avLst/>
          </a:prstGeom>
        </p:spPr>
        <p:txBody>
          <a:bodyPr lIns="0" tIns="0" rIns="0" bIns="0" rtlCol="0" anchor="t">
            <a:spAutoFit/>
          </a:bodyPr>
          <a:lstStyle/>
          <a:p>
            <a:pPr algn="just">
              <a:lnSpc>
                <a:spcPts val="4480"/>
              </a:lnSpc>
            </a:pPr>
            <a:r>
              <a:rPr lang="en-US" sz="3200">
                <a:solidFill>
                  <a:srgbClr val="E9E1DB"/>
                </a:solidFill>
                <a:latin typeface="Times New Roman"/>
                <a:ea typeface="Times New Roman"/>
                <a:cs typeface="Times New Roman"/>
                <a:sym typeface="Times New Roman"/>
              </a:rPr>
              <a:t>FINAL PROJECT - AI-POWERED EDUCATIONAL COURSE GENERATOR</a:t>
            </a:r>
          </a:p>
        </p:txBody>
      </p:sp>
      <p:sp>
        <p:nvSpPr>
          <p:cNvPr id="13" name="TextBox 13"/>
          <p:cNvSpPr txBox="1"/>
          <p:nvPr/>
        </p:nvSpPr>
        <p:spPr>
          <a:xfrm>
            <a:off x="2325850" y="2054554"/>
            <a:ext cx="13636300" cy="588011"/>
          </a:xfrm>
          <a:prstGeom prst="rect">
            <a:avLst/>
          </a:prstGeom>
        </p:spPr>
        <p:txBody>
          <a:bodyPr lIns="0" tIns="0" rIns="0" bIns="0" rtlCol="0" anchor="t">
            <a:spAutoFit/>
          </a:bodyPr>
          <a:lstStyle/>
          <a:p>
            <a:pPr algn="l" rtl="1">
              <a:lnSpc>
                <a:spcPts val="4339"/>
              </a:lnSpc>
              <a:spcBef>
                <a:spcPct val="0"/>
              </a:spcBef>
            </a:pPr>
            <a:r>
              <a:rPr lang="en-US" sz="3099">
                <a:solidFill>
                  <a:srgbClr val="E9E1DB"/>
                </a:solidFill>
                <a:latin typeface="Times New Roman"/>
                <a:ea typeface="Times New Roman"/>
                <a:cs typeface="Times New Roman"/>
                <a:sym typeface="Times New Roman"/>
              </a:rPr>
              <a:t>Overview - Project idea</a:t>
            </a:r>
          </a:p>
        </p:txBody>
      </p:sp>
      <p:sp>
        <p:nvSpPr>
          <p:cNvPr id="14" name="TextBox 14"/>
          <p:cNvSpPr txBox="1"/>
          <p:nvPr/>
        </p:nvSpPr>
        <p:spPr>
          <a:xfrm>
            <a:off x="2325850" y="5486400"/>
            <a:ext cx="13636300" cy="588011"/>
          </a:xfrm>
          <a:prstGeom prst="rect">
            <a:avLst/>
          </a:prstGeom>
        </p:spPr>
        <p:txBody>
          <a:bodyPr lIns="0" tIns="0" rIns="0" bIns="0" rtlCol="0" anchor="t">
            <a:spAutoFit/>
          </a:bodyPr>
          <a:lstStyle/>
          <a:p>
            <a:pPr algn="l" rtl="1">
              <a:lnSpc>
                <a:spcPts val="4339"/>
              </a:lnSpc>
              <a:spcBef>
                <a:spcPct val="0"/>
              </a:spcBef>
            </a:pPr>
            <a:r>
              <a:rPr lang="en-US" sz="3099">
                <a:solidFill>
                  <a:srgbClr val="E9E1DB"/>
                </a:solidFill>
                <a:latin typeface="Times New Roman"/>
                <a:ea typeface="Times New Roman"/>
                <a:cs typeface="Times New Roman"/>
                <a:sym typeface="Times New Roman"/>
              </a:rPr>
              <a:t>Purpose</a:t>
            </a:r>
          </a:p>
        </p:txBody>
      </p:sp>
      <p:sp>
        <p:nvSpPr>
          <p:cNvPr id="15" name="TextBox 15"/>
          <p:cNvSpPr txBox="1"/>
          <p:nvPr/>
        </p:nvSpPr>
        <p:spPr>
          <a:xfrm>
            <a:off x="2325850" y="6445886"/>
            <a:ext cx="12706865" cy="872490"/>
          </a:xfrm>
          <a:prstGeom prst="rect">
            <a:avLst/>
          </a:prstGeom>
        </p:spPr>
        <p:txBody>
          <a:bodyPr lIns="0" tIns="0" rIns="0" bIns="0" rtlCol="0" anchor="t">
            <a:spAutoFit/>
          </a:bodyPr>
          <a:lstStyle/>
          <a:p>
            <a:pPr algn="l">
              <a:lnSpc>
                <a:spcPts val="3359"/>
              </a:lnSpc>
              <a:spcBef>
                <a:spcPct val="0"/>
              </a:spcBef>
            </a:pPr>
            <a:r>
              <a:rPr lang="en-US" sz="2399">
                <a:solidFill>
                  <a:srgbClr val="E9E1DB"/>
                </a:solidFill>
                <a:latin typeface="Times New Roman"/>
                <a:ea typeface="Times New Roman"/>
                <a:cs typeface="Times New Roman"/>
                <a:sym typeface="Times New Roman"/>
              </a:rPr>
              <a:t>Create an app that can automatically generate complete educational courses based on user input in just a few minutes.</a:t>
            </a:r>
          </a:p>
        </p:txBody>
      </p:sp>
      <p:sp>
        <p:nvSpPr>
          <p:cNvPr id="16" name="TextBox 16"/>
          <p:cNvSpPr txBox="1"/>
          <p:nvPr/>
        </p:nvSpPr>
        <p:spPr>
          <a:xfrm>
            <a:off x="2325850" y="3013710"/>
            <a:ext cx="14399459" cy="2129790"/>
          </a:xfrm>
          <a:prstGeom prst="rect">
            <a:avLst/>
          </a:prstGeom>
        </p:spPr>
        <p:txBody>
          <a:bodyPr lIns="0" tIns="0" rIns="0" bIns="0" rtlCol="0" anchor="t">
            <a:spAutoFit/>
          </a:bodyPr>
          <a:lstStyle/>
          <a:p>
            <a:pPr algn="l">
              <a:lnSpc>
                <a:spcPts val="3359"/>
              </a:lnSpc>
              <a:spcBef>
                <a:spcPct val="0"/>
              </a:spcBef>
            </a:pPr>
            <a:r>
              <a:rPr lang="en-US" sz="2399">
                <a:solidFill>
                  <a:srgbClr val="E9E1DB"/>
                </a:solidFill>
                <a:latin typeface="Times New Roman"/>
                <a:ea typeface="Times New Roman"/>
                <a:cs typeface="Times New Roman"/>
                <a:sym typeface="Times New Roman"/>
              </a:rPr>
              <a:t>A web application with a professional and user-friendly interface transforms a brief request into a comprehensive educational course. The system receives user requests: subject, academic level, language (Arabic or English), duration in minutes, and number of chapters. It then generates a plan of chapters and lessons, with clear content and learning objectives, generates multiple-choice questions, saves the course in a database, and finally, exports a PowerPoint (PPTX) presentation ready for download.</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400235" y="-2280012"/>
            <a:ext cx="21938561" cy="13496146"/>
          </a:xfrm>
          <a:custGeom>
            <a:avLst/>
            <a:gdLst/>
            <a:ahLst/>
            <a:cxnLst/>
            <a:rect l="l" t="t" r="r" b="b"/>
            <a:pathLst>
              <a:path w="21938561" h="13496146">
                <a:moveTo>
                  <a:pt x="0" y="0"/>
                </a:moveTo>
                <a:lnTo>
                  <a:pt x="21938560" y="0"/>
                </a:lnTo>
                <a:lnTo>
                  <a:pt x="21938560" y="13496146"/>
                </a:lnTo>
                <a:lnTo>
                  <a:pt x="0" y="13496146"/>
                </a:lnTo>
                <a:lnTo>
                  <a:pt x="0" y="0"/>
                </a:lnTo>
                <a:close/>
              </a:path>
            </a:pathLst>
          </a:custGeom>
          <a:blipFill>
            <a:blip r:embed="rId2"/>
            <a:stretch>
              <a:fillRect l="-32641" t="-36451" r="-34370" b="-16258"/>
            </a:stretch>
          </a:blipFill>
        </p:spPr>
        <p:txBody>
          <a:bodyPr/>
          <a:lstStyle/>
          <a:p>
            <a:endParaRPr lang="ar-SA"/>
          </a:p>
        </p:txBody>
      </p:sp>
      <p:grpSp>
        <p:nvGrpSpPr>
          <p:cNvPr id="3" name="Group 3"/>
          <p:cNvGrpSpPr/>
          <p:nvPr/>
        </p:nvGrpSpPr>
        <p:grpSpPr>
          <a:xfrm rot="-2088381">
            <a:off x="-654014" y="5935649"/>
            <a:ext cx="7946576" cy="1601596"/>
            <a:chOff x="0" y="0"/>
            <a:chExt cx="3539030" cy="713275"/>
          </a:xfrm>
        </p:grpSpPr>
        <p:sp>
          <p:nvSpPr>
            <p:cNvPr id="4" name="Freeform 4"/>
            <p:cNvSpPr/>
            <p:nvPr/>
          </p:nvSpPr>
          <p:spPr>
            <a:xfrm>
              <a:off x="0" y="0"/>
              <a:ext cx="3539030" cy="713275"/>
            </a:xfrm>
            <a:custGeom>
              <a:avLst/>
              <a:gdLst/>
              <a:ahLst/>
              <a:cxnLst/>
              <a:rect l="l" t="t" r="r" b="b"/>
              <a:pathLst>
                <a:path w="3539030" h="713275">
                  <a:moveTo>
                    <a:pt x="203200" y="0"/>
                  </a:moveTo>
                  <a:lnTo>
                    <a:pt x="3539030" y="0"/>
                  </a:lnTo>
                  <a:lnTo>
                    <a:pt x="3335830" y="713275"/>
                  </a:lnTo>
                  <a:lnTo>
                    <a:pt x="0" y="713275"/>
                  </a:lnTo>
                  <a:lnTo>
                    <a:pt x="203200" y="0"/>
                  </a:lnTo>
                  <a:close/>
                </a:path>
              </a:pathLst>
            </a:custGeom>
            <a:solidFill>
              <a:srgbClr val="66574D"/>
            </a:solidFill>
          </p:spPr>
          <p:txBody>
            <a:bodyPr/>
            <a:lstStyle/>
            <a:p>
              <a:endParaRPr lang="ar-SA"/>
            </a:p>
          </p:txBody>
        </p:sp>
        <p:sp>
          <p:nvSpPr>
            <p:cNvPr id="5" name="TextBox 5"/>
            <p:cNvSpPr txBox="1"/>
            <p:nvPr/>
          </p:nvSpPr>
          <p:spPr>
            <a:xfrm>
              <a:off x="101600" y="-38100"/>
              <a:ext cx="3335830" cy="751375"/>
            </a:xfrm>
            <a:prstGeom prst="rect">
              <a:avLst/>
            </a:prstGeom>
          </p:spPr>
          <p:txBody>
            <a:bodyPr lIns="50800" tIns="50800" rIns="50800" bIns="50800" rtlCol="0" anchor="ctr"/>
            <a:lstStyle/>
            <a:p>
              <a:pPr algn="ctr">
                <a:lnSpc>
                  <a:spcPts val="2659"/>
                </a:lnSpc>
              </a:pPr>
              <a:endParaRPr/>
            </a:p>
          </p:txBody>
        </p:sp>
      </p:grpSp>
      <p:grpSp>
        <p:nvGrpSpPr>
          <p:cNvPr id="6" name="Group 6"/>
          <p:cNvGrpSpPr/>
          <p:nvPr/>
        </p:nvGrpSpPr>
        <p:grpSpPr>
          <a:xfrm>
            <a:off x="-1226391" y="419167"/>
            <a:ext cx="21419231" cy="9086516"/>
            <a:chOff x="0" y="0"/>
            <a:chExt cx="1540308" cy="653433"/>
          </a:xfrm>
        </p:grpSpPr>
        <p:sp>
          <p:nvSpPr>
            <p:cNvPr id="7" name="Freeform 7"/>
            <p:cNvSpPr/>
            <p:nvPr/>
          </p:nvSpPr>
          <p:spPr>
            <a:xfrm>
              <a:off x="0" y="0"/>
              <a:ext cx="1540308" cy="653433"/>
            </a:xfrm>
            <a:custGeom>
              <a:avLst/>
              <a:gdLst/>
              <a:ahLst/>
              <a:cxnLst/>
              <a:rect l="l" t="t" r="r" b="b"/>
              <a:pathLst>
                <a:path w="1540308" h="653433">
                  <a:moveTo>
                    <a:pt x="1337108" y="0"/>
                  </a:moveTo>
                  <a:lnTo>
                    <a:pt x="0" y="0"/>
                  </a:lnTo>
                  <a:lnTo>
                    <a:pt x="203200" y="653433"/>
                  </a:lnTo>
                  <a:lnTo>
                    <a:pt x="1540308" y="653433"/>
                  </a:lnTo>
                  <a:lnTo>
                    <a:pt x="1337108" y="0"/>
                  </a:lnTo>
                  <a:close/>
                </a:path>
              </a:pathLst>
            </a:custGeom>
            <a:solidFill>
              <a:srgbClr val="3D3735"/>
            </a:solidFill>
          </p:spPr>
          <p:txBody>
            <a:bodyPr/>
            <a:lstStyle/>
            <a:p>
              <a:endParaRPr lang="ar-SA"/>
            </a:p>
          </p:txBody>
        </p:sp>
        <p:sp>
          <p:nvSpPr>
            <p:cNvPr id="8" name="TextBox 8"/>
            <p:cNvSpPr txBox="1"/>
            <p:nvPr/>
          </p:nvSpPr>
          <p:spPr>
            <a:xfrm>
              <a:off x="101600" y="-38100"/>
              <a:ext cx="1337108" cy="691533"/>
            </a:xfrm>
            <a:prstGeom prst="rect">
              <a:avLst/>
            </a:prstGeom>
          </p:spPr>
          <p:txBody>
            <a:bodyPr lIns="50800" tIns="50800" rIns="50800" bIns="50800" rtlCol="0" anchor="ctr"/>
            <a:lstStyle/>
            <a:p>
              <a:pPr algn="ctr">
                <a:lnSpc>
                  <a:spcPts val="2659"/>
                </a:lnSpc>
                <a:spcBef>
                  <a:spcPct val="0"/>
                </a:spcBef>
              </a:pPr>
              <a:endParaRPr/>
            </a:p>
          </p:txBody>
        </p:sp>
      </p:grpSp>
      <p:grpSp>
        <p:nvGrpSpPr>
          <p:cNvPr id="9" name="Group 9"/>
          <p:cNvGrpSpPr/>
          <p:nvPr/>
        </p:nvGrpSpPr>
        <p:grpSpPr>
          <a:xfrm>
            <a:off x="0" y="8107296"/>
            <a:ext cx="18998529" cy="1554646"/>
            <a:chOff x="0" y="0"/>
            <a:chExt cx="7449608" cy="609600"/>
          </a:xfrm>
        </p:grpSpPr>
        <p:sp>
          <p:nvSpPr>
            <p:cNvPr id="10" name="Freeform 10"/>
            <p:cNvSpPr/>
            <p:nvPr/>
          </p:nvSpPr>
          <p:spPr>
            <a:xfrm>
              <a:off x="0" y="0"/>
              <a:ext cx="7449608" cy="609600"/>
            </a:xfrm>
            <a:custGeom>
              <a:avLst/>
              <a:gdLst/>
              <a:ahLst/>
              <a:cxnLst/>
              <a:rect l="l" t="t" r="r" b="b"/>
              <a:pathLst>
                <a:path w="7449608" h="609600">
                  <a:moveTo>
                    <a:pt x="7246408" y="0"/>
                  </a:moveTo>
                  <a:lnTo>
                    <a:pt x="0" y="0"/>
                  </a:lnTo>
                  <a:lnTo>
                    <a:pt x="203200" y="609600"/>
                  </a:lnTo>
                  <a:lnTo>
                    <a:pt x="7449608" y="609600"/>
                  </a:lnTo>
                  <a:lnTo>
                    <a:pt x="7246408" y="0"/>
                  </a:lnTo>
                  <a:close/>
                </a:path>
              </a:pathLst>
            </a:custGeom>
            <a:solidFill>
              <a:srgbClr val="E9E1DB"/>
            </a:solidFill>
          </p:spPr>
          <p:txBody>
            <a:bodyPr/>
            <a:lstStyle/>
            <a:p>
              <a:endParaRPr lang="ar-SA"/>
            </a:p>
          </p:txBody>
        </p:sp>
        <p:sp>
          <p:nvSpPr>
            <p:cNvPr id="11" name="TextBox 11"/>
            <p:cNvSpPr txBox="1"/>
            <p:nvPr/>
          </p:nvSpPr>
          <p:spPr>
            <a:xfrm>
              <a:off x="101600" y="-38100"/>
              <a:ext cx="7246408" cy="647700"/>
            </a:xfrm>
            <a:prstGeom prst="rect">
              <a:avLst/>
            </a:prstGeom>
          </p:spPr>
          <p:txBody>
            <a:bodyPr lIns="50800" tIns="50800" rIns="50800" bIns="50800" rtlCol="0" anchor="ctr"/>
            <a:lstStyle/>
            <a:p>
              <a:pPr algn="ctr">
                <a:lnSpc>
                  <a:spcPts val="2659"/>
                </a:lnSpc>
                <a:spcBef>
                  <a:spcPct val="0"/>
                </a:spcBef>
              </a:pPr>
              <a:endParaRPr/>
            </a:p>
          </p:txBody>
        </p:sp>
      </p:grpSp>
      <p:sp>
        <p:nvSpPr>
          <p:cNvPr id="12" name="TextBox 12"/>
          <p:cNvSpPr txBox="1"/>
          <p:nvPr/>
        </p:nvSpPr>
        <p:spPr>
          <a:xfrm>
            <a:off x="1028700" y="904875"/>
            <a:ext cx="15176990" cy="604520"/>
          </a:xfrm>
          <a:prstGeom prst="rect">
            <a:avLst/>
          </a:prstGeom>
        </p:spPr>
        <p:txBody>
          <a:bodyPr lIns="0" tIns="0" rIns="0" bIns="0" rtlCol="0" anchor="t">
            <a:spAutoFit/>
          </a:bodyPr>
          <a:lstStyle/>
          <a:p>
            <a:pPr algn="just">
              <a:lnSpc>
                <a:spcPts val="4480"/>
              </a:lnSpc>
            </a:pPr>
            <a:r>
              <a:rPr lang="en-US" sz="3200">
                <a:solidFill>
                  <a:srgbClr val="E9E1DB"/>
                </a:solidFill>
                <a:latin typeface="Times New Roman"/>
                <a:ea typeface="Times New Roman"/>
                <a:cs typeface="Times New Roman"/>
                <a:sym typeface="Times New Roman"/>
              </a:rPr>
              <a:t>FINAL PROJECT - AI-POWERED EDUCATIONAL COURSE GENERATOR</a:t>
            </a:r>
          </a:p>
        </p:txBody>
      </p:sp>
      <p:sp>
        <p:nvSpPr>
          <p:cNvPr id="13" name="TextBox 13"/>
          <p:cNvSpPr txBox="1"/>
          <p:nvPr/>
        </p:nvSpPr>
        <p:spPr>
          <a:xfrm>
            <a:off x="2325850" y="1938744"/>
            <a:ext cx="13636300" cy="604521"/>
          </a:xfrm>
          <a:prstGeom prst="rect">
            <a:avLst/>
          </a:prstGeom>
        </p:spPr>
        <p:txBody>
          <a:bodyPr lIns="0" tIns="0" rIns="0" bIns="0" rtlCol="0" anchor="t">
            <a:spAutoFit/>
          </a:bodyPr>
          <a:lstStyle/>
          <a:p>
            <a:pPr algn="l" rtl="1">
              <a:lnSpc>
                <a:spcPts val="4479"/>
              </a:lnSpc>
              <a:spcBef>
                <a:spcPct val="0"/>
              </a:spcBef>
            </a:pPr>
            <a:r>
              <a:rPr lang="en-US" sz="3199">
                <a:solidFill>
                  <a:srgbClr val="E9E1DB"/>
                </a:solidFill>
                <a:latin typeface="Times New Roman"/>
                <a:ea typeface="Times New Roman"/>
                <a:cs typeface="Times New Roman"/>
                <a:sym typeface="Times New Roman"/>
              </a:rPr>
              <a:t>Key features</a:t>
            </a:r>
          </a:p>
        </p:txBody>
      </p:sp>
      <p:sp>
        <p:nvSpPr>
          <p:cNvPr id="14" name="TextBox 14"/>
          <p:cNvSpPr txBox="1"/>
          <p:nvPr/>
        </p:nvSpPr>
        <p:spPr>
          <a:xfrm>
            <a:off x="3319274" y="2851955"/>
            <a:ext cx="9256699" cy="4851400"/>
          </a:xfrm>
          <a:prstGeom prst="rect">
            <a:avLst/>
          </a:prstGeom>
        </p:spPr>
        <p:txBody>
          <a:bodyPr lIns="0" tIns="0" rIns="0" bIns="0" rtlCol="0" anchor="t">
            <a:spAutoFit/>
          </a:bodyPr>
          <a:lstStyle/>
          <a:p>
            <a:pPr marL="539746" lvl="1" indent="-269873" algn="l">
              <a:lnSpc>
                <a:spcPts val="3499"/>
              </a:lnSpc>
              <a:buFont typeface="Arial"/>
              <a:buChar char="•"/>
            </a:pPr>
            <a:r>
              <a:rPr lang="en-US" sz="2499">
                <a:solidFill>
                  <a:srgbClr val="E9E1DB"/>
                </a:solidFill>
                <a:latin typeface="Times New Roman"/>
                <a:ea typeface="Times New Roman"/>
                <a:cs typeface="Times New Roman"/>
                <a:sym typeface="Times New Roman"/>
              </a:rPr>
              <a:t>Flexible Input Form</a:t>
            </a:r>
          </a:p>
          <a:p>
            <a:pPr algn="l">
              <a:lnSpc>
                <a:spcPts val="3499"/>
              </a:lnSpc>
            </a:pPr>
            <a:endParaRPr lang="en-US" sz="2499">
              <a:solidFill>
                <a:srgbClr val="E9E1DB"/>
              </a:solidFill>
              <a:latin typeface="Times New Roman"/>
              <a:ea typeface="Times New Roman"/>
              <a:cs typeface="Times New Roman"/>
              <a:sym typeface="Times New Roman"/>
            </a:endParaRPr>
          </a:p>
          <a:p>
            <a:pPr marL="539746" lvl="1" indent="-269873" algn="l">
              <a:lnSpc>
                <a:spcPts val="3499"/>
              </a:lnSpc>
              <a:buFont typeface="Arial"/>
              <a:buChar char="•"/>
            </a:pPr>
            <a:r>
              <a:rPr lang="en-US" sz="2499">
                <a:solidFill>
                  <a:srgbClr val="E9E1DB"/>
                </a:solidFill>
                <a:latin typeface="Times New Roman"/>
                <a:ea typeface="Times New Roman"/>
                <a:cs typeface="Times New Roman"/>
                <a:sym typeface="Times New Roman"/>
              </a:rPr>
              <a:t>Comprehensive AI Content Generation</a:t>
            </a:r>
          </a:p>
          <a:p>
            <a:pPr algn="l">
              <a:lnSpc>
                <a:spcPts val="3499"/>
              </a:lnSpc>
            </a:pPr>
            <a:endParaRPr lang="en-US" sz="2499">
              <a:solidFill>
                <a:srgbClr val="E9E1DB"/>
              </a:solidFill>
              <a:latin typeface="Times New Roman"/>
              <a:ea typeface="Times New Roman"/>
              <a:cs typeface="Times New Roman"/>
              <a:sym typeface="Times New Roman"/>
            </a:endParaRPr>
          </a:p>
          <a:p>
            <a:pPr marL="539746" lvl="1" indent="-269873" algn="l">
              <a:lnSpc>
                <a:spcPts val="3499"/>
              </a:lnSpc>
              <a:buFont typeface="Arial"/>
              <a:buChar char="•"/>
            </a:pPr>
            <a:r>
              <a:rPr lang="en-US" sz="2499">
                <a:solidFill>
                  <a:srgbClr val="E9E1DB"/>
                </a:solidFill>
                <a:latin typeface="Times New Roman"/>
                <a:ea typeface="Times New Roman"/>
                <a:cs typeface="Times New Roman"/>
                <a:sym typeface="Times New Roman"/>
              </a:rPr>
              <a:t>Structured Data Storage</a:t>
            </a:r>
          </a:p>
          <a:p>
            <a:pPr algn="l">
              <a:lnSpc>
                <a:spcPts val="3499"/>
              </a:lnSpc>
            </a:pPr>
            <a:endParaRPr lang="en-US" sz="2499">
              <a:solidFill>
                <a:srgbClr val="E9E1DB"/>
              </a:solidFill>
              <a:latin typeface="Times New Roman"/>
              <a:ea typeface="Times New Roman"/>
              <a:cs typeface="Times New Roman"/>
              <a:sym typeface="Times New Roman"/>
            </a:endParaRPr>
          </a:p>
          <a:p>
            <a:pPr marL="539746" lvl="1" indent="-269873" algn="l">
              <a:lnSpc>
                <a:spcPts val="3499"/>
              </a:lnSpc>
              <a:buFont typeface="Arial"/>
              <a:buChar char="•"/>
            </a:pPr>
            <a:r>
              <a:rPr lang="en-US" sz="2499">
                <a:solidFill>
                  <a:srgbClr val="E9E1DB"/>
                </a:solidFill>
                <a:latin typeface="Times New Roman"/>
                <a:ea typeface="Times New Roman"/>
                <a:cs typeface="Times New Roman"/>
                <a:sym typeface="Times New Roman"/>
              </a:rPr>
              <a:t> User-Friendly interface &amp; support bilingual </a:t>
            </a:r>
          </a:p>
          <a:p>
            <a:pPr algn="l">
              <a:lnSpc>
                <a:spcPts val="3499"/>
              </a:lnSpc>
            </a:pPr>
            <a:endParaRPr lang="en-US" sz="2499">
              <a:solidFill>
                <a:srgbClr val="E9E1DB"/>
              </a:solidFill>
              <a:latin typeface="Times New Roman"/>
              <a:ea typeface="Times New Roman"/>
              <a:cs typeface="Times New Roman"/>
              <a:sym typeface="Times New Roman"/>
            </a:endParaRPr>
          </a:p>
          <a:p>
            <a:pPr marL="539746" lvl="1" indent="-269873" algn="l">
              <a:lnSpc>
                <a:spcPts val="3499"/>
              </a:lnSpc>
              <a:buFont typeface="Arial"/>
              <a:buChar char="•"/>
            </a:pPr>
            <a:r>
              <a:rPr lang="en-US" sz="2499">
                <a:solidFill>
                  <a:srgbClr val="E9E1DB"/>
                </a:solidFill>
                <a:latin typeface="Times New Roman"/>
                <a:ea typeface="Times New Roman"/>
                <a:cs typeface="Times New Roman"/>
                <a:sym typeface="Times New Roman"/>
              </a:rPr>
              <a:t>Export generated content to PowerPoint</a:t>
            </a:r>
          </a:p>
          <a:p>
            <a:pPr algn="l">
              <a:lnSpc>
                <a:spcPts val="3499"/>
              </a:lnSpc>
            </a:pPr>
            <a:endParaRPr lang="en-US" sz="2499">
              <a:solidFill>
                <a:srgbClr val="E9E1DB"/>
              </a:solidFill>
              <a:latin typeface="Times New Roman"/>
              <a:ea typeface="Times New Roman"/>
              <a:cs typeface="Times New Roman"/>
              <a:sym typeface="Times New Roman"/>
            </a:endParaRPr>
          </a:p>
          <a:p>
            <a:pPr marL="539746" lvl="1" indent="-269873" algn="l">
              <a:lnSpc>
                <a:spcPts val="3499"/>
              </a:lnSpc>
              <a:buFont typeface="Arial"/>
              <a:buChar char="•"/>
            </a:pPr>
            <a:r>
              <a:rPr lang="en-US" sz="2499">
                <a:solidFill>
                  <a:srgbClr val="E9E1DB"/>
                </a:solidFill>
                <a:latin typeface="Times New Roman"/>
                <a:ea typeface="Times New Roman"/>
                <a:cs typeface="Times New Roman"/>
                <a:sym typeface="Times New Roman"/>
              </a:rPr>
              <a:t>Pedagogical Alignment </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400235" y="-2280012"/>
            <a:ext cx="21938561" cy="13496146"/>
          </a:xfrm>
          <a:custGeom>
            <a:avLst/>
            <a:gdLst/>
            <a:ahLst/>
            <a:cxnLst/>
            <a:rect l="l" t="t" r="r" b="b"/>
            <a:pathLst>
              <a:path w="21938561" h="13496146">
                <a:moveTo>
                  <a:pt x="0" y="0"/>
                </a:moveTo>
                <a:lnTo>
                  <a:pt x="21938560" y="0"/>
                </a:lnTo>
                <a:lnTo>
                  <a:pt x="21938560" y="13496146"/>
                </a:lnTo>
                <a:lnTo>
                  <a:pt x="0" y="13496146"/>
                </a:lnTo>
                <a:lnTo>
                  <a:pt x="0" y="0"/>
                </a:lnTo>
                <a:close/>
              </a:path>
            </a:pathLst>
          </a:custGeom>
          <a:blipFill>
            <a:blip r:embed="rId2"/>
            <a:stretch>
              <a:fillRect l="-32641" t="-36451" r="-34370" b="-16258"/>
            </a:stretch>
          </a:blipFill>
        </p:spPr>
        <p:txBody>
          <a:bodyPr/>
          <a:lstStyle/>
          <a:p>
            <a:endParaRPr lang="ar-SA"/>
          </a:p>
        </p:txBody>
      </p:sp>
      <p:grpSp>
        <p:nvGrpSpPr>
          <p:cNvPr id="3" name="Group 3"/>
          <p:cNvGrpSpPr/>
          <p:nvPr/>
        </p:nvGrpSpPr>
        <p:grpSpPr>
          <a:xfrm rot="-2088381">
            <a:off x="-654014" y="5935649"/>
            <a:ext cx="7946576" cy="1601596"/>
            <a:chOff x="0" y="0"/>
            <a:chExt cx="3539030" cy="713275"/>
          </a:xfrm>
        </p:grpSpPr>
        <p:sp>
          <p:nvSpPr>
            <p:cNvPr id="4" name="Freeform 4"/>
            <p:cNvSpPr/>
            <p:nvPr/>
          </p:nvSpPr>
          <p:spPr>
            <a:xfrm>
              <a:off x="0" y="0"/>
              <a:ext cx="3539030" cy="713275"/>
            </a:xfrm>
            <a:custGeom>
              <a:avLst/>
              <a:gdLst/>
              <a:ahLst/>
              <a:cxnLst/>
              <a:rect l="l" t="t" r="r" b="b"/>
              <a:pathLst>
                <a:path w="3539030" h="713275">
                  <a:moveTo>
                    <a:pt x="203200" y="0"/>
                  </a:moveTo>
                  <a:lnTo>
                    <a:pt x="3539030" y="0"/>
                  </a:lnTo>
                  <a:lnTo>
                    <a:pt x="3335830" y="713275"/>
                  </a:lnTo>
                  <a:lnTo>
                    <a:pt x="0" y="713275"/>
                  </a:lnTo>
                  <a:lnTo>
                    <a:pt x="203200" y="0"/>
                  </a:lnTo>
                  <a:close/>
                </a:path>
              </a:pathLst>
            </a:custGeom>
            <a:solidFill>
              <a:srgbClr val="66574D"/>
            </a:solidFill>
          </p:spPr>
          <p:txBody>
            <a:bodyPr/>
            <a:lstStyle/>
            <a:p>
              <a:endParaRPr lang="ar-SA"/>
            </a:p>
          </p:txBody>
        </p:sp>
        <p:sp>
          <p:nvSpPr>
            <p:cNvPr id="5" name="TextBox 5"/>
            <p:cNvSpPr txBox="1"/>
            <p:nvPr/>
          </p:nvSpPr>
          <p:spPr>
            <a:xfrm>
              <a:off x="101600" y="-38100"/>
              <a:ext cx="3335830" cy="751375"/>
            </a:xfrm>
            <a:prstGeom prst="rect">
              <a:avLst/>
            </a:prstGeom>
          </p:spPr>
          <p:txBody>
            <a:bodyPr lIns="50800" tIns="50800" rIns="50800" bIns="50800" rtlCol="0" anchor="ctr"/>
            <a:lstStyle/>
            <a:p>
              <a:pPr algn="ctr">
                <a:lnSpc>
                  <a:spcPts val="2659"/>
                </a:lnSpc>
              </a:pPr>
              <a:endParaRPr/>
            </a:p>
          </p:txBody>
        </p:sp>
      </p:grpSp>
      <p:grpSp>
        <p:nvGrpSpPr>
          <p:cNvPr id="6" name="Group 6"/>
          <p:cNvGrpSpPr/>
          <p:nvPr/>
        </p:nvGrpSpPr>
        <p:grpSpPr>
          <a:xfrm>
            <a:off x="-1226391" y="419167"/>
            <a:ext cx="21419231" cy="9086516"/>
            <a:chOff x="0" y="0"/>
            <a:chExt cx="1540308" cy="653433"/>
          </a:xfrm>
        </p:grpSpPr>
        <p:sp>
          <p:nvSpPr>
            <p:cNvPr id="7" name="Freeform 7"/>
            <p:cNvSpPr/>
            <p:nvPr/>
          </p:nvSpPr>
          <p:spPr>
            <a:xfrm>
              <a:off x="0" y="0"/>
              <a:ext cx="1540308" cy="653433"/>
            </a:xfrm>
            <a:custGeom>
              <a:avLst/>
              <a:gdLst/>
              <a:ahLst/>
              <a:cxnLst/>
              <a:rect l="l" t="t" r="r" b="b"/>
              <a:pathLst>
                <a:path w="1540308" h="653433">
                  <a:moveTo>
                    <a:pt x="1337108" y="0"/>
                  </a:moveTo>
                  <a:lnTo>
                    <a:pt x="0" y="0"/>
                  </a:lnTo>
                  <a:lnTo>
                    <a:pt x="203200" y="653433"/>
                  </a:lnTo>
                  <a:lnTo>
                    <a:pt x="1540308" y="653433"/>
                  </a:lnTo>
                  <a:lnTo>
                    <a:pt x="1337108" y="0"/>
                  </a:lnTo>
                  <a:close/>
                </a:path>
              </a:pathLst>
            </a:custGeom>
            <a:solidFill>
              <a:srgbClr val="3D3735"/>
            </a:solidFill>
          </p:spPr>
          <p:txBody>
            <a:bodyPr/>
            <a:lstStyle/>
            <a:p>
              <a:endParaRPr lang="ar-SA"/>
            </a:p>
          </p:txBody>
        </p:sp>
        <p:sp>
          <p:nvSpPr>
            <p:cNvPr id="8" name="TextBox 8"/>
            <p:cNvSpPr txBox="1"/>
            <p:nvPr/>
          </p:nvSpPr>
          <p:spPr>
            <a:xfrm>
              <a:off x="101600" y="-38100"/>
              <a:ext cx="1337108" cy="691533"/>
            </a:xfrm>
            <a:prstGeom prst="rect">
              <a:avLst/>
            </a:prstGeom>
          </p:spPr>
          <p:txBody>
            <a:bodyPr lIns="50800" tIns="50800" rIns="50800" bIns="50800" rtlCol="0" anchor="ctr"/>
            <a:lstStyle/>
            <a:p>
              <a:pPr algn="ctr">
                <a:lnSpc>
                  <a:spcPts val="2659"/>
                </a:lnSpc>
                <a:spcBef>
                  <a:spcPct val="0"/>
                </a:spcBef>
              </a:pPr>
              <a:endParaRPr/>
            </a:p>
          </p:txBody>
        </p:sp>
      </p:grpSp>
      <p:grpSp>
        <p:nvGrpSpPr>
          <p:cNvPr id="9" name="Group 9"/>
          <p:cNvGrpSpPr/>
          <p:nvPr/>
        </p:nvGrpSpPr>
        <p:grpSpPr>
          <a:xfrm>
            <a:off x="0" y="8107296"/>
            <a:ext cx="18998529" cy="1554646"/>
            <a:chOff x="0" y="0"/>
            <a:chExt cx="7449608" cy="609600"/>
          </a:xfrm>
        </p:grpSpPr>
        <p:sp>
          <p:nvSpPr>
            <p:cNvPr id="10" name="Freeform 10"/>
            <p:cNvSpPr/>
            <p:nvPr/>
          </p:nvSpPr>
          <p:spPr>
            <a:xfrm>
              <a:off x="0" y="0"/>
              <a:ext cx="7449608" cy="609600"/>
            </a:xfrm>
            <a:custGeom>
              <a:avLst/>
              <a:gdLst/>
              <a:ahLst/>
              <a:cxnLst/>
              <a:rect l="l" t="t" r="r" b="b"/>
              <a:pathLst>
                <a:path w="7449608" h="609600">
                  <a:moveTo>
                    <a:pt x="7246408" y="0"/>
                  </a:moveTo>
                  <a:lnTo>
                    <a:pt x="0" y="0"/>
                  </a:lnTo>
                  <a:lnTo>
                    <a:pt x="203200" y="609600"/>
                  </a:lnTo>
                  <a:lnTo>
                    <a:pt x="7449608" y="609600"/>
                  </a:lnTo>
                  <a:lnTo>
                    <a:pt x="7246408" y="0"/>
                  </a:lnTo>
                  <a:close/>
                </a:path>
              </a:pathLst>
            </a:custGeom>
            <a:solidFill>
              <a:srgbClr val="E9E1DB"/>
            </a:solidFill>
          </p:spPr>
          <p:txBody>
            <a:bodyPr/>
            <a:lstStyle/>
            <a:p>
              <a:endParaRPr lang="ar-SA"/>
            </a:p>
          </p:txBody>
        </p:sp>
        <p:sp>
          <p:nvSpPr>
            <p:cNvPr id="11" name="TextBox 11"/>
            <p:cNvSpPr txBox="1"/>
            <p:nvPr/>
          </p:nvSpPr>
          <p:spPr>
            <a:xfrm>
              <a:off x="101600" y="-38100"/>
              <a:ext cx="7246408" cy="647700"/>
            </a:xfrm>
            <a:prstGeom prst="rect">
              <a:avLst/>
            </a:prstGeom>
          </p:spPr>
          <p:txBody>
            <a:bodyPr lIns="50800" tIns="50800" rIns="50800" bIns="50800" rtlCol="0" anchor="ctr"/>
            <a:lstStyle/>
            <a:p>
              <a:pPr algn="ctr">
                <a:lnSpc>
                  <a:spcPts val="2659"/>
                </a:lnSpc>
                <a:spcBef>
                  <a:spcPct val="0"/>
                </a:spcBef>
              </a:pPr>
              <a:endParaRPr/>
            </a:p>
          </p:txBody>
        </p:sp>
      </p:grpSp>
      <p:sp>
        <p:nvSpPr>
          <p:cNvPr id="12" name="Freeform 12"/>
          <p:cNvSpPr/>
          <p:nvPr/>
        </p:nvSpPr>
        <p:spPr>
          <a:xfrm>
            <a:off x="12332440" y="2792466"/>
            <a:ext cx="2294921" cy="978214"/>
          </a:xfrm>
          <a:custGeom>
            <a:avLst/>
            <a:gdLst/>
            <a:ahLst/>
            <a:cxnLst/>
            <a:rect l="l" t="t" r="r" b="b"/>
            <a:pathLst>
              <a:path w="2294921" h="978214">
                <a:moveTo>
                  <a:pt x="0" y="0"/>
                </a:moveTo>
                <a:lnTo>
                  <a:pt x="2294922" y="0"/>
                </a:lnTo>
                <a:lnTo>
                  <a:pt x="2294922" y="978214"/>
                </a:lnTo>
                <a:lnTo>
                  <a:pt x="0" y="978214"/>
                </a:lnTo>
                <a:lnTo>
                  <a:pt x="0" y="0"/>
                </a:lnTo>
                <a:close/>
              </a:path>
            </a:pathLst>
          </a:custGeom>
          <a:blipFill>
            <a:blip r:embed="rId3"/>
            <a:stretch>
              <a:fillRect/>
            </a:stretch>
          </a:blipFill>
        </p:spPr>
        <p:txBody>
          <a:bodyPr/>
          <a:lstStyle/>
          <a:p>
            <a:endParaRPr lang="ar-SA"/>
          </a:p>
        </p:txBody>
      </p:sp>
      <p:sp>
        <p:nvSpPr>
          <p:cNvPr id="13" name="Freeform 13"/>
          <p:cNvSpPr/>
          <p:nvPr/>
        </p:nvSpPr>
        <p:spPr>
          <a:xfrm>
            <a:off x="12399938" y="4374752"/>
            <a:ext cx="2227424" cy="1175346"/>
          </a:xfrm>
          <a:custGeom>
            <a:avLst/>
            <a:gdLst/>
            <a:ahLst/>
            <a:cxnLst/>
            <a:rect l="l" t="t" r="r" b="b"/>
            <a:pathLst>
              <a:path w="2227424" h="1175346">
                <a:moveTo>
                  <a:pt x="0" y="0"/>
                </a:moveTo>
                <a:lnTo>
                  <a:pt x="2227424" y="0"/>
                </a:lnTo>
                <a:lnTo>
                  <a:pt x="2227424" y="1175346"/>
                </a:lnTo>
                <a:lnTo>
                  <a:pt x="0" y="1175346"/>
                </a:lnTo>
                <a:lnTo>
                  <a:pt x="0" y="0"/>
                </a:lnTo>
                <a:close/>
              </a:path>
            </a:pathLst>
          </a:custGeom>
          <a:blipFill>
            <a:blip r:embed="rId4"/>
            <a:stretch>
              <a:fillRect t="-7858" r="-1770" b="-2237"/>
            </a:stretch>
          </a:blipFill>
        </p:spPr>
        <p:txBody>
          <a:bodyPr/>
          <a:lstStyle/>
          <a:p>
            <a:endParaRPr lang="ar-SA"/>
          </a:p>
        </p:txBody>
      </p:sp>
      <p:sp>
        <p:nvSpPr>
          <p:cNvPr id="14" name="Freeform 14"/>
          <p:cNvSpPr/>
          <p:nvPr/>
        </p:nvSpPr>
        <p:spPr>
          <a:xfrm>
            <a:off x="12399938" y="6150173"/>
            <a:ext cx="2294921" cy="1006545"/>
          </a:xfrm>
          <a:custGeom>
            <a:avLst/>
            <a:gdLst/>
            <a:ahLst/>
            <a:cxnLst/>
            <a:rect l="l" t="t" r="r" b="b"/>
            <a:pathLst>
              <a:path w="2294921" h="1006545">
                <a:moveTo>
                  <a:pt x="0" y="0"/>
                </a:moveTo>
                <a:lnTo>
                  <a:pt x="2294921" y="0"/>
                </a:lnTo>
                <a:lnTo>
                  <a:pt x="2294921" y="1006544"/>
                </a:lnTo>
                <a:lnTo>
                  <a:pt x="0" y="1006544"/>
                </a:lnTo>
                <a:lnTo>
                  <a:pt x="0" y="0"/>
                </a:lnTo>
                <a:close/>
              </a:path>
            </a:pathLst>
          </a:custGeom>
          <a:blipFill>
            <a:blip r:embed="rId5"/>
            <a:stretch>
              <a:fillRect/>
            </a:stretch>
          </a:blipFill>
        </p:spPr>
        <p:txBody>
          <a:bodyPr/>
          <a:lstStyle/>
          <a:p>
            <a:endParaRPr lang="ar-SA"/>
          </a:p>
        </p:txBody>
      </p:sp>
      <p:sp>
        <p:nvSpPr>
          <p:cNvPr id="15" name="TextBox 15"/>
          <p:cNvSpPr txBox="1"/>
          <p:nvPr/>
        </p:nvSpPr>
        <p:spPr>
          <a:xfrm>
            <a:off x="1028700" y="904875"/>
            <a:ext cx="15176990" cy="604520"/>
          </a:xfrm>
          <a:prstGeom prst="rect">
            <a:avLst/>
          </a:prstGeom>
        </p:spPr>
        <p:txBody>
          <a:bodyPr lIns="0" tIns="0" rIns="0" bIns="0" rtlCol="0" anchor="t">
            <a:spAutoFit/>
          </a:bodyPr>
          <a:lstStyle/>
          <a:p>
            <a:pPr algn="just">
              <a:lnSpc>
                <a:spcPts val="4480"/>
              </a:lnSpc>
            </a:pPr>
            <a:r>
              <a:rPr lang="en-US" sz="3200">
                <a:solidFill>
                  <a:srgbClr val="E9E1DB"/>
                </a:solidFill>
                <a:latin typeface="Times New Roman"/>
                <a:ea typeface="Times New Roman"/>
                <a:cs typeface="Times New Roman"/>
                <a:sym typeface="Times New Roman"/>
              </a:rPr>
              <a:t>FINAL PROJECT - AI-POWERED EDUCATIONAL COURSE GENERATOR</a:t>
            </a:r>
          </a:p>
        </p:txBody>
      </p:sp>
      <p:sp>
        <p:nvSpPr>
          <p:cNvPr id="16" name="TextBox 16"/>
          <p:cNvSpPr txBox="1"/>
          <p:nvPr/>
        </p:nvSpPr>
        <p:spPr>
          <a:xfrm>
            <a:off x="2325850" y="1794880"/>
            <a:ext cx="13636300" cy="588011"/>
          </a:xfrm>
          <a:prstGeom prst="rect">
            <a:avLst/>
          </a:prstGeom>
        </p:spPr>
        <p:txBody>
          <a:bodyPr lIns="0" tIns="0" rIns="0" bIns="0" rtlCol="0" anchor="t">
            <a:spAutoFit/>
          </a:bodyPr>
          <a:lstStyle/>
          <a:p>
            <a:pPr algn="l" rtl="1">
              <a:lnSpc>
                <a:spcPts val="4339"/>
              </a:lnSpc>
              <a:spcBef>
                <a:spcPct val="0"/>
              </a:spcBef>
            </a:pPr>
            <a:r>
              <a:rPr lang="ar-EG" sz="3099">
                <a:solidFill>
                  <a:srgbClr val="E9E1DB"/>
                </a:solidFill>
                <a:latin typeface="Times New Roman"/>
                <a:ea typeface="Times New Roman"/>
                <a:cs typeface="Times New Roman"/>
                <a:sym typeface="Times New Roman"/>
                <a:rtl/>
              </a:rPr>
              <a:t>  </a:t>
            </a:r>
            <a:r>
              <a:rPr lang="en-US" sz="3099">
                <a:solidFill>
                  <a:srgbClr val="E9E1DB"/>
                </a:solidFill>
                <a:latin typeface="Times New Roman"/>
                <a:ea typeface="Times New Roman"/>
                <a:cs typeface="Times New Roman"/>
                <a:sym typeface="Times New Roman"/>
              </a:rPr>
              <a:t>Implementation &amp; Tools</a:t>
            </a:r>
          </a:p>
        </p:txBody>
      </p:sp>
      <p:sp>
        <p:nvSpPr>
          <p:cNvPr id="17" name="TextBox 17"/>
          <p:cNvSpPr txBox="1"/>
          <p:nvPr/>
        </p:nvSpPr>
        <p:spPr>
          <a:xfrm>
            <a:off x="3513283" y="2924492"/>
            <a:ext cx="5103912" cy="4361815"/>
          </a:xfrm>
          <a:prstGeom prst="rect">
            <a:avLst/>
          </a:prstGeom>
        </p:spPr>
        <p:txBody>
          <a:bodyPr lIns="0" tIns="0" rIns="0" bIns="0" rtlCol="0" anchor="t">
            <a:spAutoFit/>
          </a:bodyPr>
          <a:lstStyle/>
          <a:p>
            <a:pPr marL="410209" lvl="1" indent="-205105" algn="l">
              <a:lnSpc>
                <a:spcPts val="2659"/>
              </a:lnSpc>
              <a:buFont typeface="Arial"/>
              <a:buChar char="•"/>
            </a:pPr>
            <a:r>
              <a:rPr lang="en-US" sz="1899">
                <a:solidFill>
                  <a:srgbClr val="E9E1DB"/>
                </a:solidFill>
                <a:latin typeface="Times New Roman"/>
                <a:ea typeface="Times New Roman"/>
                <a:cs typeface="Times New Roman"/>
                <a:sym typeface="Times New Roman"/>
              </a:rPr>
              <a:t>Bootstrapped the application </a:t>
            </a:r>
          </a:p>
          <a:p>
            <a:pPr algn="l">
              <a:lnSpc>
                <a:spcPts val="2659"/>
              </a:lnSpc>
            </a:pPr>
            <a:endParaRPr lang="en-US" sz="1899">
              <a:solidFill>
                <a:srgbClr val="E9E1DB"/>
              </a:solidFill>
              <a:latin typeface="Times New Roman"/>
              <a:ea typeface="Times New Roman"/>
              <a:cs typeface="Times New Roman"/>
              <a:sym typeface="Times New Roman"/>
            </a:endParaRPr>
          </a:p>
          <a:p>
            <a:pPr marL="410209" lvl="1" indent="-205105" algn="l">
              <a:lnSpc>
                <a:spcPts val="2659"/>
              </a:lnSpc>
              <a:buFont typeface="Arial"/>
              <a:buChar char="•"/>
            </a:pPr>
            <a:r>
              <a:rPr lang="en-US" sz="1899">
                <a:solidFill>
                  <a:srgbClr val="E9E1DB"/>
                </a:solidFill>
                <a:latin typeface="Times New Roman"/>
                <a:ea typeface="Times New Roman"/>
                <a:cs typeface="Times New Roman"/>
                <a:sym typeface="Times New Roman"/>
              </a:rPr>
              <a:t>Validation &amp; generation via OpenAI</a:t>
            </a:r>
          </a:p>
          <a:p>
            <a:pPr algn="l">
              <a:lnSpc>
                <a:spcPts val="2659"/>
              </a:lnSpc>
            </a:pPr>
            <a:endParaRPr lang="en-US" sz="1899">
              <a:solidFill>
                <a:srgbClr val="E9E1DB"/>
              </a:solidFill>
              <a:latin typeface="Times New Roman"/>
              <a:ea typeface="Times New Roman"/>
              <a:cs typeface="Times New Roman"/>
              <a:sym typeface="Times New Roman"/>
            </a:endParaRPr>
          </a:p>
          <a:p>
            <a:pPr marL="410209" lvl="1" indent="-205105" algn="l">
              <a:lnSpc>
                <a:spcPts val="2659"/>
              </a:lnSpc>
              <a:buFont typeface="Arial"/>
              <a:buChar char="•"/>
            </a:pPr>
            <a:r>
              <a:rPr lang="en-US" sz="1899">
                <a:solidFill>
                  <a:srgbClr val="E9E1DB"/>
                </a:solidFill>
                <a:latin typeface="Times New Roman"/>
                <a:ea typeface="Times New Roman"/>
                <a:cs typeface="Times New Roman"/>
                <a:sym typeface="Times New Roman"/>
              </a:rPr>
              <a:t>Structured outputs and two-phase generation:</a:t>
            </a:r>
          </a:p>
          <a:p>
            <a:pPr algn="l">
              <a:lnSpc>
                <a:spcPts val="2659"/>
              </a:lnSpc>
            </a:pPr>
            <a:endParaRPr lang="en-US" sz="1899">
              <a:solidFill>
                <a:srgbClr val="E9E1DB"/>
              </a:solidFill>
              <a:latin typeface="Times New Roman"/>
              <a:ea typeface="Times New Roman"/>
              <a:cs typeface="Times New Roman"/>
              <a:sym typeface="Times New Roman"/>
            </a:endParaRPr>
          </a:p>
          <a:p>
            <a:pPr marL="410209" lvl="1" indent="-205105" algn="l">
              <a:lnSpc>
                <a:spcPts val="2659"/>
              </a:lnSpc>
              <a:buFont typeface="Arial"/>
              <a:buChar char="•"/>
            </a:pPr>
            <a:r>
              <a:rPr lang="en-US" sz="1899">
                <a:solidFill>
                  <a:srgbClr val="E9E1DB"/>
                </a:solidFill>
                <a:latin typeface="Times New Roman"/>
                <a:ea typeface="Times New Roman"/>
                <a:cs typeface="Times New Roman"/>
                <a:sym typeface="Times New Roman"/>
              </a:rPr>
              <a:t>Quiz rules (pre-defined before generation)</a:t>
            </a:r>
          </a:p>
          <a:p>
            <a:pPr algn="l">
              <a:lnSpc>
                <a:spcPts val="2659"/>
              </a:lnSpc>
            </a:pPr>
            <a:endParaRPr lang="en-US" sz="1899">
              <a:solidFill>
                <a:srgbClr val="E9E1DB"/>
              </a:solidFill>
              <a:latin typeface="Times New Roman"/>
              <a:ea typeface="Times New Roman"/>
              <a:cs typeface="Times New Roman"/>
              <a:sym typeface="Times New Roman"/>
            </a:endParaRPr>
          </a:p>
          <a:p>
            <a:pPr marL="410209" lvl="1" indent="-205105" algn="l">
              <a:lnSpc>
                <a:spcPts val="2659"/>
              </a:lnSpc>
              <a:buFont typeface="Arial"/>
              <a:buChar char="•"/>
            </a:pPr>
            <a:r>
              <a:rPr lang="en-US" sz="1899">
                <a:solidFill>
                  <a:srgbClr val="E9E1DB"/>
                </a:solidFill>
                <a:latin typeface="Times New Roman"/>
                <a:ea typeface="Times New Roman"/>
                <a:cs typeface="Times New Roman"/>
                <a:sym typeface="Times New Roman"/>
              </a:rPr>
              <a:t>Data storage</a:t>
            </a:r>
          </a:p>
          <a:p>
            <a:pPr algn="l">
              <a:lnSpc>
                <a:spcPts val="2659"/>
              </a:lnSpc>
            </a:pPr>
            <a:endParaRPr lang="en-US" sz="1899">
              <a:solidFill>
                <a:srgbClr val="E9E1DB"/>
              </a:solidFill>
              <a:latin typeface="Times New Roman"/>
              <a:ea typeface="Times New Roman"/>
              <a:cs typeface="Times New Roman"/>
              <a:sym typeface="Times New Roman"/>
            </a:endParaRPr>
          </a:p>
          <a:p>
            <a:pPr marL="410209" lvl="1" indent="-205105" algn="l">
              <a:lnSpc>
                <a:spcPts val="2659"/>
              </a:lnSpc>
              <a:buFont typeface="Arial"/>
              <a:buChar char="•"/>
            </a:pPr>
            <a:r>
              <a:rPr lang="en-US" sz="1899">
                <a:solidFill>
                  <a:srgbClr val="E9E1DB"/>
                </a:solidFill>
                <a:latin typeface="Times New Roman"/>
                <a:ea typeface="Times New Roman"/>
                <a:cs typeface="Times New Roman"/>
                <a:sym typeface="Times New Roman"/>
              </a:rPr>
              <a:t>Display &amp; user interaction</a:t>
            </a:r>
          </a:p>
          <a:p>
            <a:pPr algn="l">
              <a:lnSpc>
                <a:spcPts val="2659"/>
              </a:lnSpc>
            </a:pPr>
            <a:endParaRPr lang="en-US" sz="1899">
              <a:solidFill>
                <a:srgbClr val="E9E1DB"/>
              </a:solidFill>
              <a:latin typeface="Times New Roman"/>
              <a:ea typeface="Times New Roman"/>
              <a:cs typeface="Times New Roman"/>
              <a:sym typeface="Times New Roman"/>
            </a:endParaRPr>
          </a:p>
          <a:p>
            <a:pPr marL="410209" lvl="1" indent="-205105" algn="l">
              <a:lnSpc>
                <a:spcPts val="2659"/>
              </a:lnSpc>
              <a:buFont typeface="Arial"/>
              <a:buChar char="•"/>
            </a:pPr>
            <a:r>
              <a:rPr lang="en-US" sz="1899">
                <a:solidFill>
                  <a:srgbClr val="E9E1DB"/>
                </a:solidFill>
                <a:latin typeface="Times New Roman"/>
                <a:ea typeface="Times New Roman"/>
                <a:cs typeface="Times New Roman"/>
                <a:sym typeface="Times New Roman"/>
              </a:rPr>
              <a:t>Export</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3096974" y="-517551"/>
            <a:ext cx="24870044" cy="11356573"/>
            <a:chOff x="0" y="0"/>
            <a:chExt cx="1788464" cy="816678"/>
          </a:xfrm>
        </p:grpSpPr>
        <p:sp>
          <p:nvSpPr>
            <p:cNvPr id="3" name="Freeform 3"/>
            <p:cNvSpPr/>
            <p:nvPr/>
          </p:nvSpPr>
          <p:spPr>
            <a:xfrm>
              <a:off x="0" y="0"/>
              <a:ext cx="1788464" cy="816678"/>
            </a:xfrm>
            <a:custGeom>
              <a:avLst/>
              <a:gdLst/>
              <a:ahLst/>
              <a:cxnLst/>
              <a:rect l="l" t="t" r="r" b="b"/>
              <a:pathLst>
                <a:path w="1788464" h="816678">
                  <a:moveTo>
                    <a:pt x="1585264" y="0"/>
                  </a:moveTo>
                  <a:lnTo>
                    <a:pt x="0" y="0"/>
                  </a:lnTo>
                  <a:lnTo>
                    <a:pt x="203200" y="816678"/>
                  </a:lnTo>
                  <a:lnTo>
                    <a:pt x="1788464" y="816678"/>
                  </a:lnTo>
                  <a:lnTo>
                    <a:pt x="1585264" y="0"/>
                  </a:lnTo>
                  <a:close/>
                </a:path>
              </a:pathLst>
            </a:custGeom>
            <a:solidFill>
              <a:srgbClr val="3D3735"/>
            </a:solidFill>
          </p:spPr>
          <p:txBody>
            <a:bodyPr/>
            <a:lstStyle/>
            <a:p>
              <a:endParaRPr lang="ar-SA"/>
            </a:p>
          </p:txBody>
        </p:sp>
        <p:sp>
          <p:nvSpPr>
            <p:cNvPr id="4" name="TextBox 4"/>
            <p:cNvSpPr txBox="1"/>
            <p:nvPr/>
          </p:nvSpPr>
          <p:spPr>
            <a:xfrm>
              <a:off x="101600" y="-38100"/>
              <a:ext cx="1585264" cy="854778"/>
            </a:xfrm>
            <a:prstGeom prst="rect">
              <a:avLst/>
            </a:prstGeom>
          </p:spPr>
          <p:txBody>
            <a:bodyPr lIns="50800" tIns="50800" rIns="50800" bIns="50800" rtlCol="0" anchor="ctr"/>
            <a:lstStyle/>
            <a:p>
              <a:pPr algn="ctr">
                <a:lnSpc>
                  <a:spcPts val="2659"/>
                </a:lnSpc>
                <a:spcBef>
                  <a:spcPct val="0"/>
                </a:spcBef>
              </a:pPr>
              <a:endParaRPr/>
            </a:p>
          </p:txBody>
        </p:sp>
      </p:grpSp>
      <p:sp>
        <p:nvSpPr>
          <p:cNvPr id="5" name="Freeform 5"/>
          <p:cNvSpPr/>
          <p:nvPr/>
        </p:nvSpPr>
        <p:spPr>
          <a:xfrm>
            <a:off x="1383965" y="1994499"/>
            <a:ext cx="7760035" cy="3462916"/>
          </a:xfrm>
          <a:custGeom>
            <a:avLst/>
            <a:gdLst/>
            <a:ahLst/>
            <a:cxnLst/>
            <a:rect l="l" t="t" r="r" b="b"/>
            <a:pathLst>
              <a:path w="7760035" h="3462916">
                <a:moveTo>
                  <a:pt x="0" y="0"/>
                </a:moveTo>
                <a:lnTo>
                  <a:pt x="7760035" y="0"/>
                </a:lnTo>
                <a:lnTo>
                  <a:pt x="7760035" y="3462915"/>
                </a:lnTo>
                <a:lnTo>
                  <a:pt x="0" y="3462915"/>
                </a:lnTo>
                <a:lnTo>
                  <a:pt x="0" y="0"/>
                </a:lnTo>
                <a:close/>
              </a:path>
            </a:pathLst>
          </a:custGeom>
          <a:blipFill>
            <a:blip r:embed="rId2"/>
            <a:stretch>
              <a:fillRect/>
            </a:stretch>
          </a:blipFill>
        </p:spPr>
        <p:txBody>
          <a:bodyPr/>
          <a:lstStyle/>
          <a:p>
            <a:endParaRPr lang="ar-SA"/>
          </a:p>
        </p:txBody>
      </p:sp>
      <p:sp>
        <p:nvSpPr>
          <p:cNvPr id="6" name="Freeform 6"/>
          <p:cNvSpPr/>
          <p:nvPr/>
        </p:nvSpPr>
        <p:spPr>
          <a:xfrm>
            <a:off x="9499265" y="1946551"/>
            <a:ext cx="7979234" cy="3510863"/>
          </a:xfrm>
          <a:custGeom>
            <a:avLst/>
            <a:gdLst/>
            <a:ahLst/>
            <a:cxnLst/>
            <a:rect l="l" t="t" r="r" b="b"/>
            <a:pathLst>
              <a:path w="7979234" h="3510863">
                <a:moveTo>
                  <a:pt x="0" y="0"/>
                </a:moveTo>
                <a:lnTo>
                  <a:pt x="7979233" y="0"/>
                </a:lnTo>
                <a:lnTo>
                  <a:pt x="7979233" y="3510863"/>
                </a:lnTo>
                <a:lnTo>
                  <a:pt x="0" y="3510863"/>
                </a:lnTo>
                <a:lnTo>
                  <a:pt x="0" y="0"/>
                </a:lnTo>
                <a:close/>
              </a:path>
            </a:pathLst>
          </a:custGeom>
          <a:blipFill>
            <a:blip r:embed="rId3"/>
            <a:stretch>
              <a:fillRect/>
            </a:stretch>
          </a:blipFill>
        </p:spPr>
        <p:txBody>
          <a:bodyPr/>
          <a:lstStyle/>
          <a:p>
            <a:endParaRPr lang="ar-SA"/>
          </a:p>
        </p:txBody>
      </p:sp>
      <p:sp>
        <p:nvSpPr>
          <p:cNvPr id="7" name="Freeform 7"/>
          <p:cNvSpPr/>
          <p:nvPr/>
        </p:nvSpPr>
        <p:spPr>
          <a:xfrm>
            <a:off x="1334134" y="5821959"/>
            <a:ext cx="7809866" cy="3436341"/>
          </a:xfrm>
          <a:custGeom>
            <a:avLst/>
            <a:gdLst/>
            <a:ahLst/>
            <a:cxnLst/>
            <a:rect l="l" t="t" r="r" b="b"/>
            <a:pathLst>
              <a:path w="7809866" h="3436341">
                <a:moveTo>
                  <a:pt x="0" y="0"/>
                </a:moveTo>
                <a:lnTo>
                  <a:pt x="7809866" y="0"/>
                </a:lnTo>
                <a:lnTo>
                  <a:pt x="7809866" y="3436341"/>
                </a:lnTo>
                <a:lnTo>
                  <a:pt x="0" y="3436341"/>
                </a:lnTo>
                <a:lnTo>
                  <a:pt x="0" y="0"/>
                </a:lnTo>
                <a:close/>
              </a:path>
            </a:pathLst>
          </a:custGeom>
          <a:blipFill>
            <a:blip r:embed="rId4"/>
            <a:stretch>
              <a:fillRect/>
            </a:stretch>
          </a:blipFill>
        </p:spPr>
        <p:txBody>
          <a:bodyPr/>
          <a:lstStyle/>
          <a:p>
            <a:endParaRPr lang="ar-SA"/>
          </a:p>
        </p:txBody>
      </p:sp>
      <p:sp>
        <p:nvSpPr>
          <p:cNvPr id="8" name="Freeform 8"/>
          <p:cNvSpPr/>
          <p:nvPr/>
        </p:nvSpPr>
        <p:spPr>
          <a:xfrm>
            <a:off x="9499265" y="5821959"/>
            <a:ext cx="7743867" cy="3436341"/>
          </a:xfrm>
          <a:custGeom>
            <a:avLst/>
            <a:gdLst/>
            <a:ahLst/>
            <a:cxnLst/>
            <a:rect l="l" t="t" r="r" b="b"/>
            <a:pathLst>
              <a:path w="7743867" h="3436341">
                <a:moveTo>
                  <a:pt x="0" y="0"/>
                </a:moveTo>
                <a:lnTo>
                  <a:pt x="7743867" y="0"/>
                </a:lnTo>
                <a:lnTo>
                  <a:pt x="7743867" y="3436341"/>
                </a:lnTo>
                <a:lnTo>
                  <a:pt x="0" y="3436341"/>
                </a:lnTo>
                <a:lnTo>
                  <a:pt x="0" y="0"/>
                </a:lnTo>
                <a:close/>
              </a:path>
            </a:pathLst>
          </a:custGeom>
          <a:blipFill>
            <a:blip r:embed="rId5"/>
            <a:stretch>
              <a:fillRect/>
            </a:stretch>
          </a:blipFill>
        </p:spPr>
        <p:txBody>
          <a:bodyPr/>
          <a:lstStyle/>
          <a:p>
            <a:endParaRPr lang="ar-SA"/>
          </a:p>
        </p:txBody>
      </p:sp>
      <p:sp>
        <p:nvSpPr>
          <p:cNvPr id="9" name="TextBox 9"/>
          <p:cNvSpPr txBox="1"/>
          <p:nvPr/>
        </p:nvSpPr>
        <p:spPr>
          <a:xfrm>
            <a:off x="1028700" y="424180"/>
            <a:ext cx="15176990" cy="604520"/>
          </a:xfrm>
          <a:prstGeom prst="rect">
            <a:avLst/>
          </a:prstGeom>
        </p:spPr>
        <p:txBody>
          <a:bodyPr lIns="0" tIns="0" rIns="0" bIns="0" rtlCol="0" anchor="t">
            <a:spAutoFit/>
          </a:bodyPr>
          <a:lstStyle/>
          <a:p>
            <a:pPr algn="just">
              <a:lnSpc>
                <a:spcPts val="4480"/>
              </a:lnSpc>
            </a:pPr>
            <a:r>
              <a:rPr lang="en-US" sz="3200">
                <a:solidFill>
                  <a:srgbClr val="E9E1DB"/>
                </a:solidFill>
                <a:latin typeface="Times New Roman"/>
                <a:ea typeface="Times New Roman"/>
                <a:cs typeface="Times New Roman"/>
                <a:sym typeface="Times New Roman"/>
              </a:rPr>
              <a:t>FINAL PROJECT - AI-POWERED EDUCATIONAL COURSE GENERATOR</a:t>
            </a:r>
          </a:p>
        </p:txBody>
      </p:sp>
      <p:sp>
        <p:nvSpPr>
          <p:cNvPr id="10" name="TextBox 10"/>
          <p:cNvSpPr txBox="1"/>
          <p:nvPr/>
        </p:nvSpPr>
        <p:spPr>
          <a:xfrm>
            <a:off x="7038784" y="1124915"/>
            <a:ext cx="13636300" cy="663576"/>
          </a:xfrm>
          <a:prstGeom prst="rect">
            <a:avLst/>
          </a:prstGeom>
        </p:spPr>
        <p:txBody>
          <a:bodyPr lIns="0" tIns="0" rIns="0" bIns="0" rtlCol="0" anchor="t">
            <a:spAutoFit/>
          </a:bodyPr>
          <a:lstStyle/>
          <a:p>
            <a:pPr algn="just">
              <a:lnSpc>
                <a:spcPts val="4899"/>
              </a:lnSpc>
              <a:spcBef>
                <a:spcPct val="0"/>
              </a:spcBef>
            </a:pPr>
            <a:r>
              <a:rPr lang="en-US" sz="3499" b="1">
                <a:solidFill>
                  <a:srgbClr val="E9E1DB"/>
                </a:solidFill>
                <a:latin typeface="Times New Roman Bold"/>
                <a:ea typeface="Times New Roman Bold"/>
                <a:cs typeface="Times New Roman Bold"/>
                <a:sym typeface="Times New Roman Bold"/>
              </a:rPr>
              <a:t>user interface</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400235" y="-2280012"/>
            <a:ext cx="21938561" cy="13496146"/>
          </a:xfrm>
          <a:custGeom>
            <a:avLst/>
            <a:gdLst/>
            <a:ahLst/>
            <a:cxnLst/>
            <a:rect l="l" t="t" r="r" b="b"/>
            <a:pathLst>
              <a:path w="21938561" h="13496146">
                <a:moveTo>
                  <a:pt x="0" y="0"/>
                </a:moveTo>
                <a:lnTo>
                  <a:pt x="21938560" y="0"/>
                </a:lnTo>
                <a:lnTo>
                  <a:pt x="21938560" y="13496146"/>
                </a:lnTo>
                <a:lnTo>
                  <a:pt x="0" y="13496146"/>
                </a:lnTo>
                <a:lnTo>
                  <a:pt x="0" y="0"/>
                </a:lnTo>
                <a:close/>
              </a:path>
            </a:pathLst>
          </a:custGeom>
          <a:blipFill>
            <a:blip r:embed="rId2"/>
            <a:stretch>
              <a:fillRect l="-32641" t="-36451" r="-34370" b="-16258"/>
            </a:stretch>
          </a:blipFill>
        </p:spPr>
        <p:txBody>
          <a:bodyPr/>
          <a:lstStyle/>
          <a:p>
            <a:endParaRPr lang="ar-SA"/>
          </a:p>
        </p:txBody>
      </p:sp>
      <p:grpSp>
        <p:nvGrpSpPr>
          <p:cNvPr id="3" name="Group 3"/>
          <p:cNvGrpSpPr/>
          <p:nvPr/>
        </p:nvGrpSpPr>
        <p:grpSpPr>
          <a:xfrm rot="-2088381">
            <a:off x="-654014" y="5935649"/>
            <a:ext cx="7946576" cy="1601596"/>
            <a:chOff x="0" y="0"/>
            <a:chExt cx="3539030" cy="713275"/>
          </a:xfrm>
        </p:grpSpPr>
        <p:sp>
          <p:nvSpPr>
            <p:cNvPr id="4" name="Freeform 4"/>
            <p:cNvSpPr/>
            <p:nvPr/>
          </p:nvSpPr>
          <p:spPr>
            <a:xfrm>
              <a:off x="0" y="0"/>
              <a:ext cx="3539030" cy="713275"/>
            </a:xfrm>
            <a:custGeom>
              <a:avLst/>
              <a:gdLst/>
              <a:ahLst/>
              <a:cxnLst/>
              <a:rect l="l" t="t" r="r" b="b"/>
              <a:pathLst>
                <a:path w="3539030" h="713275">
                  <a:moveTo>
                    <a:pt x="203200" y="0"/>
                  </a:moveTo>
                  <a:lnTo>
                    <a:pt x="3539030" y="0"/>
                  </a:lnTo>
                  <a:lnTo>
                    <a:pt x="3335830" y="713275"/>
                  </a:lnTo>
                  <a:lnTo>
                    <a:pt x="0" y="713275"/>
                  </a:lnTo>
                  <a:lnTo>
                    <a:pt x="203200" y="0"/>
                  </a:lnTo>
                  <a:close/>
                </a:path>
              </a:pathLst>
            </a:custGeom>
            <a:solidFill>
              <a:srgbClr val="66574D"/>
            </a:solidFill>
          </p:spPr>
          <p:txBody>
            <a:bodyPr/>
            <a:lstStyle/>
            <a:p>
              <a:endParaRPr lang="ar-SA"/>
            </a:p>
          </p:txBody>
        </p:sp>
        <p:sp>
          <p:nvSpPr>
            <p:cNvPr id="5" name="TextBox 5"/>
            <p:cNvSpPr txBox="1"/>
            <p:nvPr/>
          </p:nvSpPr>
          <p:spPr>
            <a:xfrm>
              <a:off x="101600" y="-38100"/>
              <a:ext cx="3335830" cy="751375"/>
            </a:xfrm>
            <a:prstGeom prst="rect">
              <a:avLst/>
            </a:prstGeom>
          </p:spPr>
          <p:txBody>
            <a:bodyPr lIns="50800" tIns="50800" rIns="50800" bIns="50800" rtlCol="0" anchor="ctr"/>
            <a:lstStyle/>
            <a:p>
              <a:pPr algn="ctr">
                <a:lnSpc>
                  <a:spcPts val="2659"/>
                </a:lnSpc>
              </a:pPr>
              <a:endParaRPr/>
            </a:p>
          </p:txBody>
        </p:sp>
      </p:grpSp>
      <p:grpSp>
        <p:nvGrpSpPr>
          <p:cNvPr id="6" name="Group 6"/>
          <p:cNvGrpSpPr/>
          <p:nvPr/>
        </p:nvGrpSpPr>
        <p:grpSpPr>
          <a:xfrm>
            <a:off x="-1226391" y="419167"/>
            <a:ext cx="21419231" cy="9086516"/>
            <a:chOff x="0" y="0"/>
            <a:chExt cx="1540308" cy="653433"/>
          </a:xfrm>
        </p:grpSpPr>
        <p:sp>
          <p:nvSpPr>
            <p:cNvPr id="7" name="Freeform 7"/>
            <p:cNvSpPr/>
            <p:nvPr/>
          </p:nvSpPr>
          <p:spPr>
            <a:xfrm>
              <a:off x="0" y="0"/>
              <a:ext cx="1540308" cy="653433"/>
            </a:xfrm>
            <a:custGeom>
              <a:avLst/>
              <a:gdLst/>
              <a:ahLst/>
              <a:cxnLst/>
              <a:rect l="l" t="t" r="r" b="b"/>
              <a:pathLst>
                <a:path w="1540308" h="653433">
                  <a:moveTo>
                    <a:pt x="1337108" y="0"/>
                  </a:moveTo>
                  <a:lnTo>
                    <a:pt x="0" y="0"/>
                  </a:lnTo>
                  <a:lnTo>
                    <a:pt x="203200" y="653433"/>
                  </a:lnTo>
                  <a:lnTo>
                    <a:pt x="1540308" y="653433"/>
                  </a:lnTo>
                  <a:lnTo>
                    <a:pt x="1337108" y="0"/>
                  </a:lnTo>
                  <a:close/>
                </a:path>
              </a:pathLst>
            </a:custGeom>
            <a:solidFill>
              <a:srgbClr val="3D3735"/>
            </a:solidFill>
          </p:spPr>
          <p:txBody>
            <a:bodyPr/>
            <a:lstStyle/>
            <a:p>
              <a:endParaRPr lang="ar-SA"/>
            </a:p>
          </p:txBody>
        </p:sp>
        <p:sp>
          <p:nvSpPr>
            <p:cNvPr id="8" name="TextBox 8"/>
            <p:cNvSpPr txBox="1"/>
            <p:nvPr/>
          </p:nvSpPr>
          <p:spPr>
            <a:xfrm>
              <a:off x="101600" y="-38100"/>
              <a:ext cx="1337108" cy="691533"/>
            </a:xfrm>
            <a:prstGeom prst="rect">
              <a:avLst/>
            </a:prstGeom>
          </p:spPr>
          <p:txBody>
            <a:bodyPr lIns="50800" tIns="50800" rIns="50800" bIns="50800" rtlCol="0" anchor="ctr"/>
            <a:lstStyle/>
            <a:p>
              <a:pPr algn="ctr">
                <a:lnSpc>
                  <a:spcPts val="2659"/>
                </a:lnSpc>
                <a:spcBef>
                  <a:spcPct val="0"/>
                </a:spcBef>
              </a:pPr>
              <a:endParaRPr/>
            </a:p>
          </p:txBody>
        </p:sp>
      </p:grpSp>
      <p:grpSp>
        <p:nvGrpSpPr>
          <p:cNvPr id="9" name="Group 9"/>
          <p:cNvGrpSpPr/>
          <p:nvPr/>
        </p:nvGrpSpPr>
        <p:grpSpPr>
          <a:xfrm>
            <a:off x="0" y="8107296"/>
            <a:ext cx="18998529" cy="1554646"/>
            <a:chOff x="0" y="0"/>
            <a:chExt cx="7449608" cy="609600"/>
          </a:xfrm>
        </p:grpSpPr>
        <p:sp>
          <p:nvSpPr>
            <p:cNvPr id="10" name="Freeform 10"/>
            <p:cNvSpPr/>
            <p:nvPr/>
          </p:nvSpPr>
          <p:spPr>
            <a:xfrm>
              <a:off x="0" y="0"/>
              <a:ext cx="7449608" cy="609600"/>
            </a:xfrm>
            <a:custGeom>
              <a:avLst/>
              <a:gdLst/>
              <a:ahLst/>
              <a:cxnLst/>
              <a:rect l="l" t="t" r="r" b="b"/>
              <a:pathLst>
                <a:path w="7449608" h="609600">
                  <a:moveTo>
                    <a:pt x="7246408" y="0"/>
                  </a:moveTo>
                  <a:lnTo>
                    <a:pt x="0" y="0"/>
                  </a:lnTo>
                  <a:lnTo>
                    <a:pt x="203200" y="609600"/>
                  </a:lnTo>
                  <a:lnTo>
                    <a:pt x="7449608" y="609600"/>
                  </a:lnTo>
                  <a:lnTo>
                    <a:pt x="7246408" y="0"/>
                  </a:lnTo>
                  <a:close/>
                </a:path>
              </a:pathLst>
            </a:custGeom>
            <a:solidFill>
              <a:srgbClr val="E9E1DB"/>
            </a:solidFill>
          </p:spPr>
          <p:txBody>
            <a:bodyPr/>
            <a:lstStyle/>
            <a:p>
              <a:endParaRPr lang="ar-SA"/>
            </a:p>
          </p:txBody>
        </p:sp>
        <p:sp>
          <p:nvSpPr>
            <p:cNvPr id="11" name="TextBox 11"/>
            <p:cNvSpPr txBox="1"/>
            <p:nvPr/>
          </p:nvSpPr>
          <p:spPr>
            <a:xfrm>
              <a:off x="101600" y="-38100"/>
              <a:ext cx="7246408" cy="647700"/>
            </a:xfrm>
            <a:prstGeom prst="rect">
              <a:avLst/>
            </a:prstGeom>
          </p:spPr>
          <p:txBody>
            <a:bodyPr lIns="50800" tIns="50800" rIns="50800" bIns="50800" rtlCol="0" anchor="ctr"/>
            <a:lstStyle/>
            <a:p>
              <a:pPr algn="ctr">
                <a:lnSpc>
                  <a:spcPts val="2659"/>
                </a:lnSpc>
                <a:spcBef>
                  <a:spcPct val="0"/>
                </a:spcBef>
              </a:pPr>
              <a:endParaRPr/>
            </a:p>
          </p:txBody>
        </p:sp>
      </p:grpSp>
      <p:sp>
        <p:nvSpPr>
          <p:cNvPr id="12" name="TextBox 12"/>
          <p:cNvSpPr txBox="1"/>
          <p:nvPr/>
        </p:nvSpPr>
        <p:spPr>
          <a:xfrm>
            <a:off x="1028700" y="904875"/>
            <a:ext cx="15176990" cy="604520"/>
          </a:xfrm>
          <a:prstGeom prst="rect">
            <a:avLst/>
          </a:prstGeom>
        </p:spPr>
        <p:txBody>
          <a:bodyPr lIns="0" tIns="0" rIns="0" bIns="0" rtlCol="0" anchor="t">
            <a:spAutoFit/>
          </a:bodyPr>
          <a:lstStyle/>
          <a:p>
            <a:pPr algn="just">
              <a:lnSpc>
                <a:spcPts val="4480"/>
              </a:lnSpc>
            </a:pPr>
            <a:r>
              <a:rPr lang="en-US" sz="3200">
                <a:solidFill>
                  <a:srgbClr val="E9E1DB"/>
                </a:solidFill>
                <a:latin typeface="Times New Roman"/>
                <a:ea typeface="Times New Roman"/>
                <a:cs typeface="Times New Roman"/>
                <a:sym typeface="Times New Roman"/>
              </a:rPr>
              <a:t>COURSES ATTENDED DURING THE TRAINING</a:t>
            </a:r>
          </a:p>
        </p:txBody>
      </p:sp>
      <p:sp>
        <p:nvSpPr>
          <p:cNvPr id="13" name="TextBox 13"/>
          <p:cNvSpPr txBox="1"/>
          <p:nvPr/>
        </p:nvSpPr>
        <p:spPr>
          <a:xfrm>
            <a:off x="2325850" y="1785355"/>
            <a:ext cx="13636300" cy="663576"/>
          </a:xfrm>
          <a:prstGeom prst="rect">
            <a:avLst/>
          </a:prstGeom>
        </p:spPr>
        <p:txBody>
          <a:bodyPr lIns="0" tIns="0" rIns="0" bIns="0" rtlCol="0" anchor="t">
            <a:spAutoFit/>
          </a:bodyPr>
          <a:lstStyle/>
          <a:p>
            <a:pPr algn="l" rtl="1">
              <a:lnSpc>
                <a:spcPts val="4899"/>
              </a:lnSpc>
              <a:spcBef>
                <a:spcPct val="0"/>
              </a:spcBef>
            </a:pPr>
            <a:r>
              <a:rPr lang="en-US" sz="3499">
                <a:solidFill>
                  <a:srgbClr val="E9E1DB"/>
                </a:solidFill>
                <a:latin typeface="Times New Roman"/>
                <a:ea typeface="Times New Roman"/>
                <a:cs typeface="Times New Roman"/>
                <a:sym typeface="Times New Roman"/>
              </a:rPr>
              <a:t>Microsoft AI &amp; ML Engineering Professional Certificate</a:t>
            </a:r>
            <a:r>
              <a:rPr lang="ar-EG" sz="3499">
                <a:solidFill>
                  <a:srgbClr val="E9E1DB"/>
                </a:solidFill>
                <a:latin typeface="Times New Roman"/>
                <a:ea typeface="Times New Roman"/>
                <a:cs typeface="Times New Roman"/>
                <a:sym typeface="Times New Roman"/>
                <a:rtl/>
              </a:rPr>
              <a:t> </a:t>
            </a:r>
          </a:p>
        </p:txBody>
      </p:sp>
      <p:sp>
        <p:nvSpPr>
          <p:cNvPr id="14" name="TextBox 14"/>
          <p:cNvSpPr txBox="1"/>
          <p:nvPr/>
        </p:nvSpPr>
        <p:spPr>
          <a:xfrm>
            <a:off x="1760689" y="3266006"/>
            <a:ext cx="15445071" cy="3133091"/>
          </a:xfrm>
          <a:prstGeom prst="rect">
            <a:avLst/>
          </a:prstGeom>
        </p:spPr>
        <p:txBody>
          <a:bodyPr lIns="0" tIns="0" rIns="0" bIns="0" rtlCol="0" anchor="t">
            <a:spAutoFit/>
          </a:bodyPr>
          <a:lstStyle/>
          <a:p>
            <a:pPr algn="l">
              <a:lnSpc>
                <a:spcPts val="4199"/>
              </a:lnSpc>
              <a:spcBef>
                <a:spcPct val="0"/>
              </a:spcBef>
            </a:pPr>
            <a:r>
              <a:rPr lang="en-US" sz="2999" b="1" dirty="0">
                <a:solidFill>
                  <a:srgbClr val="E9E1DB"/>
                </a:solidFill>
                <a:latin typeface="Times New Roman Bold"/>
                <a:ea typeface="Times New Roman Bold"/>
                <a:cs typeface="Times New Roman Bold"/>
                <a:sym typeface="Times New Roman Bold"/>
              </a:rPr>
              <a:t>Introduction</a:t>
            </a:r>
          </a:p>
          <a:p>
            <a:pPr algn="l">
              <a:lnSpc>
                <a:spcPts val="4479"/>
              </a:lnSpc>
              <a:spcBef>
                <a:spcPct val="0"/>
              </a:spcBef>
            </a:pPr>
            <a:endParaRPr lang="en-US" sz="2999" b="1" dirty="0">
              <a:solidFill>
                <a:srgbClr val="E9E1DB"/>
              </a:solidFill>
              <a:latin typeface="Times New Roman Bold"/>
              <a:ea typeface="Times New Roman Bold"/>
              <a:cs typeface="Times New Roman Bold"/>
              <a:sym typeface="Times New Roman Bold"/>
            </a:endParaRPr>
          </a:p>
          <a:p>
            <a:pPr algn="l">
              <a:lnSpc>
                <a:spcPts val="3219"/>
              </a:lnSpc>
              <a:spcBef>
                <a:spcPct val="0"/>
              </a:spcBef>
            </a:pPr>
            <a:r>
              <a:rPr lang="en-US" sz="2299" dirty="0">
                <a:solidFill>
                  <a:srgbClr val="E9E1DB"/>
                </a:solidFill>
                <a:latin typeface="Times New Roman"/>
                <a:ea typeface="Times New Roman"/>
                <a:cs typeface="Times New Roman"/>
                <a:sym typeface="Times New Roman"/>
              </a:rPr>
              <a:t>In this part, I will summarize my learning journey while completing the Microsoft AI &amp; ML Engineering Professional Certificate, a comprehensive 178-hour program offered through Microsoft and Coursera. The program included five structured courses covering the foundations of AI/ML, algorithms, troubleshooting agents, cloud-based AI/ML engineering, and advanced techniques. Each course provided me with theoretical knowledge, practical applications, and reflective experiences that significantly strengthened my expertise in artificial intelligence and machine learning.</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400235" y="-2280012"/>
            <a:ext cx="21938561" cy="13496146"/>
          </a:xfrm>
          <a:custGeom>
            <a:avLst/>
            <a:gdLst/>
            <a:ahLst/>
            <a:cxnLst/>
            <a:rect l="l" t="t" r="r" b="b"/>
            <a:pathLst>
              <a:path w="21938561" h="13496146">
                <a:moveTo>
                  <a:pt x="0" y="0"/>
                </a:moveTo>
                <a:lnTo>
                  <a:pt x="21938560" y="0"/>
                </a:lnTo>
                <a:lnTo>
                  <a:pt x="21938560" y="13496146"/>
                </a:lnTo>
                <a:lnTo>
                  <a:pt x="0" y="13496146"/>
                </a:lnTo>
                <a:lnTo>
                  <a:pt x="0" y="0"/>
                </a:lnTo>
                <a:close/>
              </a:path>
            </a:pathLst>
          </a:custGeom>
          <a:blipFill>
            <a:blip r:embed="rId2"/>
            <a:stretch>
              <a:fillRect l="-32641" t="-36451" r="-34370" b="-16258"/>
            </a:stretch>
          </a:blipFill>
        </p:spPr>
        <p:txBody>
          <a:bodyPr/>
          <a:lstStyle/>
          <a:p>
            <a:endParaRPr lang="ar-SA"/>
          </a:p>
        </p:txBody>
      </p:sp>
      <p:grpSp>
        <p:nvGrpSpPr>
          <p:cNvPr id="3" name="Group 3"/>
          <p:cNvGrpSpPr/>
          <p:nvPr/>
        </p:nvGrpSpPr>
        <p:grpSpPr>
          <a:xfrm rot="-2088381">
            <a:off x="-654014" y="5935649"/>
            <a:ext cx="7946576" cy="1601596"/>
            <a:chOff x="0" y="0"/>
            <a:chExt cx="3539030" cy="713275"/>
          </a:xfrm>
        </p:grpSpPr>
        <p:sp>
          <p:nvSpPr>
            <p:cNvPr id="4" name="Freeform 4"/>
            <p:cNvSpPr/>
            <p:nvPr/>
          </p:nvSpPr>
          <p:spPr>
            <a:xfrm>
              <a:off x="0" y="0"/>
              <a:ext cx="3539030" cy="713275"/>
            </a:xfrm>
            <a:custGeom>
              <a:avLst/>
              <a:gdLst/>
              <a:ahLst/>
              <a:cxnLst/>
              <a:rect l="l" t="t" r="r" b="b"/>
              <a:pathLst>
                <a:path w="3539030" h="713275">
                  <a:moveTo>
                    <a:pt x="203200" y="0"/>
                  </a:moveTo>
                  <a:lnTo>
                    <a:pt x="3539030" y="0"/>
                  </a:lnTo>
                  <a:lnTo>
                    <a:pt x="3335830" y="713275"/>
                  </a:lnTo>
                  <a:lnTo>
                    <a:pt x="0" y="713275"/>
                  </a:lnTo>
                  <a:lnTo>
                    <a:pt x="203200" y="0"/>
                  </a:lnTo>
                  <a:close/>
                </a:path>
              </a:pathLst>
            </a:custGeom>
            <a:solidFill>
              <a:srgbClr val="66574D"/>
            </a:solidFill>
          </p:spPr>
          <p:txBody>
            <a:bodyPr/>
            <a:lstStyle/>
            <a:p>
              <a:endParaRPr lang="ar-SA"/>
            </a:p>
          </p:txBody>
        </p:sp>
        <p:sp>
          <p:nvSpPr>
            <p:cNvPr id="5" name="TextBox 5"/>
            <p:cNvSpPr txBox="1"/>
            <p:nvPr/>
          </p:nvSpPr>
          <p:spPr>
            <a:xfrm>
              <a:off x="101600" y="-38100"/>
              <a:ext cx="3335830" cy="751375"/>
            </a:xfrm>
            <a:prstGeom prst="rect">
              <a:avLst/>
            </a:prstGeom>
          </p:spPr>
          <p:txBody>
            <a:bodyPr lIns="50800" tIns="50800" rIns="50800" bIns="50800" rtlCol="0" anchor="ctr"/>
            <a:lstStyle/>
            <a:p>
              <a:pPr algn="ctr">
                <a:lnSpc>
                  <a:spcPts val="2659"/>
                </a:lnSpc>
              </a:pPr>
              <a:endParaRPr/>
            </a:p>
          </p:txBody>
        </p:sp>
      </p:grpSp>
      <p:grpSp>
        <p:nvGrpSpPr>
          <p:cNvPr id="6" name="Group 6"/>
          <p:cNvGrpSpPr/>
          <p:nvPr/>
        </p:nvGrpSpPr>
        <p:grpSpPr>
          <a:xfrm>
            <a:off x="-1226391" y="419167"/>
            <a:ext cx="21419231" cy="9086516"/>
            <a:chOff x="0" y="0"/>
            <a:chExt cx="1540308" cy="653433"/>
          </a:xfrm>
        </p:grpSpPr>
        <p:sp>
          <p:nvSpPr>
            <p:cNvPr id="7" name="Freeform 7"/>
            <p:cNvSpPr/>
            <p:nvPr/>
          </p:nvSpPr>
          <p:spPr>
            <a:xfrm>
              <a:off x="0" y="0"/>
              <a:ext cx="1540308" cy="653433"/>
            </a:xfrm>
            <a:custGeom>
              <a:avLst/>
              <a:gdLst/>
              <a:ahLst/>
              <a:cxnLst/>
              <a:rect l="l" t="t" r="r" b="b"/>
              <a:pathLst>
                <a:path w="1540308" h="653433">
                  <a:moveTo>
                    <a:pt x="1337108" y="0"/>
                  </a:moveTo>
                  <a:lnTo>
                    <a:pt x="0" y="0"/>
                  </a:lnTo>
                  <a:lnTo>
                    <a:pt x="203200" y="653433"/>
                  </a:lnTo>
                  <a:lnTo>
                    <a:pt x="1540308" y="653433"/>
                  </a:lnTo>
                  <a:lnTo>
                    <a:pt x="1337108" y="0"/>
                  </a:lnTo>
                  <a:close/>
                </a:path>
              </a:pathLst>
            </a:custGeom>
            <a:solidFill>
              <a:srgbClr val="3D3735"/>
            </a:solidFill>
          </p:spPr>
          <p:txBody>
            <a:bodyPr/>
            <a:lstStyle/>
            <a:p>
              <a:endParaRPr lang="ar-SA"/>
            </a:p>
          </p:txBody>
        </p:sp>
        <p:sp>
          <p:nvSpPr>
            <p:cNvPr id="8" name="TextBox 8"/>
            <p:cNvSpPr txBox="1"/>
            <p:nvPr/>
          </p:nvSpPr>
          <p:spPr>
            <a:xfrm>
              <a:off x="101600" y="-38100"/>
              <a:ext cx="1337108" cy="691533"/>
            </a:xfrm>
            <a:prstGeom prst="rect">
              <a:avLst/>
            </a:prstGeom>
          </p:spPr>
          <p:txBody>
            <a:bodyPr lIns="50800" tIns="50800" rIns="50800" bIns="50800" rtlCol="0" anchor="ctr"/>
            <a:lstStyle/>
            <a:p>
              <a:pPr algn="ctr">
                <a:lnSpc>
                  <a:spcPts val="2659"/>
                </a:lnSpc>
                <a:spcBef>
                  <a:spcPct val="0"/>
                </a:spcBef>
              </a:pPr>
              <a:endParaRPr/>
            </a:p>
          </p:txBody>
        </p:sp>
      </p:grpSp>
      <p:grpSp>
        <p:nvGrpSpPr>
          <p:cNvPr id="9" name="Group 9"/>
          <p:cNvGrpSpPr/>
          <p:nvPr/>
        </p:nvGrpSpPr>
        <p:grpSpPr>
          <a:xfrm>
            <a:off x="0" y="8107296"/>
            <a:ext cx="18998529" cy="1554646"/>
            <a:chOff x="0" y="0"/>
            <a:chExt cx="7449608" cy="609600"/>
          </a:xfrm>
        </p:grpSpPr>
        <p:sp>
          <p:nvSpPr>
            <p:cNvPr id="10" name="Freeform 10"/>
            <p:cNvSpPr/>
            <p:nvPr/>
          </p:nvSpPr>
          <p:spPr>
            <a:xfrm>
              <a:off x="0" y="0"/>
              <a:ext cx="7449608" cy="609600"/>
            </a:xfrm>
            <a:custGeom>
              <a:avLst/>
              <a:gdLst/>
              <a:ahLst/>
              <a:cxnLst/>
              <a:rect l="l" t="t" r="r" b="b"/>
              <a:pathLst>
                <a:path w="7449608" h="609600">
                  <a:moveTo>
                    <a:pt x="7246408" y="0"/>
                  </a:moveTo>
                  <a:lnTo>
                    <a:pt x="0" y="0"/>
                  </a:lnTo>
                  <a:lnTo>
                    <a:pt x="203200" y="609600"/>
                  </a:lnTo>
                  <a:lnTo>
                    <a:pt x="7449608" y="609600"/>
                  </a:lnTo>
                  <a:lnTo>
                    <a:pt x="7246408" y="0"/>
                  </a:lnTo>
                  <a:close/>
                </a:path>
              </a:pathLst>
            </a:custGeom>
            <a:solidFill>
              <a:srgbClr val="E9E1DB"/>
            </a:solidFill>
          </p:spPr>
          <p:txBody>
            <a:bodyPr/>
            <a:lstStyle/>
            <a:p>
              <a:endParaRPr lang="ar-SA"/>
            </a:p>
          </p:txBody>
        </p:sp>
        <p:sp>
          <p:nvSpPr>
            <p:cNvPr id="11" name="TextBox 11"/>
            <p:cNvSpPr txBox="1"/>
            <p:nvPr/>
          </p:nvSpPr>
          <p:spPr>
            <a:xfrm>
              <a:off x="101600" y="-38100"/>
              <a:ext cx="7246408" cy="647700"/>
            </a:xfrm>
            <a:prstGeom prst="rect">
              <a:avLst/>
            </a:prstGeom>
          </p:spPr>
          <p:txBody>
            <a:bodyPr lIns="50800" tIns="50800" rIns="50800" bIns="50800" rtlCol="0" anchor="ctr"/>
            <a:lstStyle/>
            <a:p>
              <a:pPr algn="ctr">
                <a:lnSpc>
                  <a:spcPts val="2659"/>
                </a:lnSpc>
                <a:spcBef>
                  <a:spcPct val="0"/>
                </a:spcBef>
              </a:pPr>
              <a:endParaRPr/>
            </a:p>
          </p:txBody>
        </p:sp>
      </p:grpSp>
      <p:sp>
        <p:nvSpPr>
          <p:cNvPr id="12" name="TextBox 12"/>
          <p:cNvSpPr txBox="1"/>
          <p:nvPr/>
        </p:nvSpPr>
        <p:spPr>
          <a:xfrm>
            <a:off x="1028700" y="904875"/>
            <a:ext cx="15176990" cy="604520"/>
          </a:xfrm>
          <a:prstGeom prst="rect">
            <a:avLst/>
          </a:prstGeom>
        </p:spPr>
        <p:txBody>
          <a:bodyPr lIns="0" tIns="0" rIns="0" bIns="0" rtlCol="0" anchor="t">
            <a:spAutoFit/>
          </a:bodyPr>
          <a:lstStyle/>
          <a:p>
            <a:pPr algn="just">
              <a:lnSpc>
                <a:spcPts val="4480"/>
              </a:lnSpc>
            </a:pPr>
            <a:r>
              <a:rPr lang="en-US" sz="3200">
                <a:solidFill>
                  <a:srgbClr val="E9E1DB"/>
                </a:solidFill>
                <a:latin typeface="Times New Roman"/>
                <a:ea typeface="Times New Roman"/>
                <a:cs typeface="Times New Roman"/>
                <a:sym typeface="Times New Roman"/>
              </a:rPr>
              <a:t>COURSES ATTENDED DURING THE TRAINING</a:t>
            </a:r>
          </a:p>
        </p:txBody>
      </p:sp>
      <p:sp>
        <p:nvSpPr>
          <p:cNvPr id="13" name="TextBox 13"/>
          <p:cNvSpPr txBox="1"/>
          <p:nvPr/>
        </p:nvSpPr>
        <p:spPr>
          <a:xfrm>
            <a:off x="2325850" y="1785355"/>
            <a:ext cx="13636300" cy="663576"/>
          </a:xfrm>
          <a:prstGeom prst="rect">
            <a:avLst/>
          </a:prstGeom>
        </p:spPr>
        <p:txBody>
          <a:bodyPr lIns="0" tIns="0" rIns="0" bIns="0" rtlCol="0" anchor="t">
            <a:spAutoFit/>
          </a:bodyPr>
          <a:lstStyle/>
          <a:p>
            <a:pPr algn="l" rtl="1">
              <a:lnSpc>
                <a:spcPts val="4899"/>
              </a:lnSpc>
              <a:spcBef>
                <a:spcPct val="0"/>
              </a:spcBef>
            </a:pPr>
            <a:r>
              <a:rPr lang="en-US" sz="3499">
                <a:solidFill>
                  <a:srgbClr val="E9E1DB"/>
                </a:solidFill>
                <a:latin typeface="Times New Roman"/>
                <a:ea typeface="Times New Roman"/>
                <a:cs typeface="Times New Roman"/>
                <a:sym typeface="Times New Roman"/>
              </a:rPr>
              <a:t>Microsoft AI &amp; ML Engineering Professional Certificate</a:t>
            </a:r>
            <a:r>
              <a:rPr lang="ar-EG" sz="3499">
                <a:solidFill>
                  <a:srgbClr val="E9E1DB"/>
                </a:solidFill>
                <a:latin typeface="Times New Roman"/>
                <a:ea typeface="Times New Roman"/>
                <a:cs typeface="Times New Roman"/>
                <a:sym typeface="Times New Roman"/>
                <a:rtl/>
              </a:rPr>
              <a:t> </a:t>
            </a:r>
          </a:p>
        </p:txBody>
      </p:sp>
      <p:sp>
        <p:nvSpPr>
          <p:cNvPr id="14" name="TextBox 14"/>
          <p:cNvSpPr txBox="1"/>
          <p:nvPr/>
        </p:nvSpPr>
        <p:spPr>
          <a:xfrm>
            <a:off x="2325850" y="3261677"/>
            <a:ext cx="13326811" cy="3649346"/>
          </a:xfrm>
          <a:prstGeom prst="rect">
            <a:avLst/>
          </a:prstGeom>
        </p:spPr>
        <p:txBody>
          <a:bodyPr lIns="0" tIns="0" rIns="0" bIns="0" rtlCol="0" anchor="t">
            <a:spAutoFit/>
          </a:bodyPr>
          <a:lstStyle/>
          <a:p>
            <a:pPr algn="l">
              <a:lnSpc>
                <a:spcPts val="4199"/>
              </a:lnSpc>
              <a:spcBef>
                <a:spcPct val="0"/>
              </a:spcBef>
            </a:pPr>
            <a:r>
              <a:rPr lang="en-US" sz="2999" b="1">
                <a:solidFill>
                  <a:srgbClr val="E9E1DB"/>
                </a:solidFill>
                <a:latin typeface="Times New Roman Bold"/>
                <a:ea typeface="Times New Roman Bold"/>
                <a:cs typeface="Times New Roman Bold"/>
                <a:sym typeface="Times New Roman Bold"/>
              </a:rPr>
              <a:t>1. Foundations of AI and Machine Learning</a:t>
            </a:r>
          </a:p>
          <a:p>
            <a:pPr algn="l">
              <a:lnSpc>
                <a:spcPts val="4059"/>
              </a:lnSpc>
              <a:spcBef>
                <a:spcPct val="0"/>
              </a:spcBef>
            </a:pPr>
            <a:endParaRPr lang="en-US" sz="2999" b="1">
              <a:solidFill>
                <a:srgbClr val="E9E1DB"/>
              </a:solidFill>
              <a:latin typeface="Times New Roman Bold"/>
              <a:ea typeface="Times New Roman Bold"/>
              <a:cs typeface="Times New Roman Bold"/>
              <a:sym typeface="Times New Roman Bold"/>
            </a:endParaRPr>
          </a:p>
          <a:p>
            <a:pPr algn="l">
              <a:lnSpc>
                <a:spcPts val="4059"/>
              </a:lnSpc>
              <a:spcBef>
                <a:spcPct val="0"/>
              </a:spcBef>
            </a:pPr>
            <a:r>
              <a:rPr lang="en-US" sz="2899">
                <a:solidFill>
                  <a:srgbClr val="E9E1DB"/>
                </a:solidFill>
                <a:latin typeface="Times New Roman"/>
                <a:ea typeface="Times New Roman"/>
                <a:cs typeface="Times New Roman"/>
                <a:sym typeface="Times New Roman"/>
              </a:rPr>
              <a:t>The first course introduced me to the AI/ML environment, focusing on the lifecycle of data-driven solutions. I learned about data management strategies, preprocessing methods, and the significance of high-quality datasets. I also studied major model frameworks such as TensorFlow, PyTorch, and Scikit-learn, reflecting on their use cases in research and enterprise settings. </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400235" y="-2280012"/>
            <a:ext cx="21938561" cy="13496146"/>
          </a:xfrm>
          <a:custGeom>
            <a:avLst/>
            <a:gdLst/>
            <a:ahLst/>
            <a:cxnLst/>
            <a:rect l="l" t="t" r="r" b="b"/>
            <a:pathLst>
              <a:path w="21938561" h="13496146">
                <a:moveTo>
                  <a:pt x="0" y="0"/>
                </a:moveTo>
                <a:lnTo>
                  <a:pt x="21938560" y="0"/>
                </a:lnTo>
                <a:lnTo>
                  <a:pt x="21938560" y="13496146"/>
                </a:lnTo>
                <a:lnTo>
                  <a:pt x="0" y="13496146"/>
                </a:lnTo>
                <a:lnTo>
                  <a:pt x="0" y="0"/>
                </a:lnTo>
                <a:close/>
              </a:path>
            </a:pathLst>
          </a:custGeom>
          <a:blipFill>
            <a:blip r:embed="rId2"/>
            <a:stretch>
              <a:fillRect l="-32641" t="-36451" r="-34370" b="-16258"/>
            </a:stretch>
          </a:blipFill>
        </p:spPr>
        <p:txBody>
          <a:bodyPr/>
          <a:lstStyle/>
          <a:p>
            <a:endParaRPr lang="ar-SA"/>
          </a:p>
        </p:txBody>
      </p:sp>
      <p:grpSp>
        <p:nvGrpSpPr>
          <p:cNvPr id="3" name="Group 3"/>
          <p:cNvGrpSpPr/>
          <p:nvPr/>
        </p:nvGrpSpPr>
        <p:grpSpPr>
          <a:xfrm rot="-2088381">
            <a:off x="-654014" y="5935649"/>
            <a:ext cx="7946576" cy="1601596"/>
            <a:chOff x="0" y="0"/>
            <a:chExt cx="3539030" cy="713275"/>
          </a:xfrm>
        </p:grpSpPr>
        <p:sp>
          <p:nvSpPr>
            <p:cNvPr id="4" name="Freeform 4"/>
            <p:cNvSpPr/>
            <p:nvPr/>
          </p:nvSpPr>
          <p:spPr>
            <a:xfrm>
              <a:off x="0" y="0"/>
              <a:ext cx="3539030" cy="713275"/>
            </a:xfrm>
            <a:custGeom>
              <a:avLst/>
              <a:gdLst/>
              <a:ahLst/>
              <a:cxnLst/>
              <a:rect l="l" t="t" r="r" b="b"/>
              <a:pathLst>
                <a:path w="3539030" h="713275">
                  <a:moveTo>
                    <a:pt x="203200" y="0"/>
                  </a:moveTo>
                  <a:lnTo>
                    <a:pt x="3539030" y="0"/>
                  </a:lnTo>
                  <a:lnTo>
                    <a:pt x="3335830" y="713275"/>
                  </a:lnTo>
                  <a:lnTo>
                    <a:pt x="0" y="713275"/>
                  </a:lnTo>
                  <a:lnTo>
                    <a:pt x="203200" y="0"/>
                  </a:lnTo>
                  <a:close/>
                </a:path>
              </a:pathLst>
            </a:custGeom>
            <a:solidFill>
              <a:srgbClr val="66574D"/>
            </a:solidFill>
          </p:spPr>
          <p:txBody>
            <a:bodyPr/>
            <a:lstStyle/>
            <a:p>
              <a:endParaRPr lang="ar-SA"/>
            </a:p>
          </p:txBody>
        </p:sp>
        <p:sp>
          <p:nvSpPr>
            <p:cNvPr id="5" name="TextBox 5"/>
            <p:cNvSpPr txBox="1"/>
            <p:nvPr/>
          </p:nvSpPr>
          <p:spPr>
            <a:xfrm>
              <a:off x="101600" y="-38100"/>
              <a:ext cx="3335830" cy="751375"/>
            </a:xfrm>
            <a:prstGeom prst="rect">
              <a:avLst/>
            </a:prstGeom>
          </p:spPr>
          <p:txBody>
            <a:bodyPr lIns="50800" tIns="50800" rIns="50800" bIns="50800" rtlCol="0" anchor="ctr"/>
            <a:lstStyle/>
            <a:p>
              <a:pPr algn="ctr">
                <a:lnSpc>
                  <a:spcPts val="2659"/>
                </a:lnSpc>
              </a:pPr>
              <a:endParaRPr/>
            </a:p>
          </p:txBody>
        </p:sp>
      </p:grpSp>
      <p:grpSp>
        <p:nvGrpSpPr>
          <p:cNvPr id="6" name="Group 6"/>
          <p:cNvGrpSpPr/>
          <p:nvPr/>
        </p:nvGrpSpPr>
        <p:grpSpPr>
          <a:xfrm>
            <a:off x="-1226391" y="419167"/>
            <a:ext cx="21419231" cy="9086516"/>
            <a:chOff x="0" y="0"/>
            <a:chExt cx="1540308" cy="653433"/>
          </a:xfrm>
        </p:grpSpPr>
        <p:sp>
          <p:nvSpPr>
            <p:cNvPr id="7" name="Freeform 7"/>
            <p:cNvSpPr/>
            <p:nvPr/>
          </p:nvSpPr>
          <p:spPr>
            <a:xfrm>
              <a:off x="0" y="0"/>
              <a:ext cx="1540308" cy="653433"/>
            </a:xfrm>
            <a:custGeom>
              <a:avLst/>
              <a:gdLst/>
              <a:ahLst/>
              <a:cxnLst/>
              <a:rect l="l" t="t" r="r" b="b"/>
              <a:pathLst>
                <a:path w="1540308" h="653433">
                  <a:moveTo>
                    <a:pt x="1337108" y="0"/>
                  </a:moveTo>
                  <a:lnTo>
                    <a:pt x="0" y="0"/>
                  </a:lnTo>
                  <a:lnTo>
                    <a:pt x="203200" y="653433"/>
                  </a:lnTo>
                  <a:lnTo>
                    <a:pt x="1540308" y="653433"/>
                  </a:lnTo>
                  <a:lnTo>
                    <a:pt x="1337108" y="0"/>
                  </a:lnTo>
                  <a:close/>
                </a:path>
              </a:pathLst>
            </a:custGeom>
            <a:solidFill>
              <a:srgbClr val="3D3735"/>
            </a:solidFill>
          </p:spPr>
          <p:txBody>
            <a:bodyPr/>
            <a:lstStyle/>
            <a:p>
              <a:endParaRPr lang="ar-SA"/>
            </a:p>
          </p:txBody>
        </p:sp>
        <p:sp>
          <p:nvSpPr>
            <p:cNvPr id="8" name="TextBox 8"/>
            <p:cNvSpPr txBox="1"/>
            <p:nvPr/>
          </p:nvSpPr>
          <p:spPr>
            <a:xfrm>
              <a:off x="101600" y="-38100"/>
              <a:ext cx="1337108" cy="691533"/>
            </a:xfrm>
            <a:prstGeom prst="rect">
              <a:avLst/>
            </a:prstGeom>
          </p:spPr>
          <p:txBody>
            <a:bodyPr lIns="50800" tIns="50800" rIns="50800" bIns="50800" rtlCol="0" anchor="ctr"/>
            <a:lstStyle/>
            <a:p>
              <a:pPr algn="ctr">
                <a:lnSpc>
                  <a:spcPts val="2659"/>
                </a:lnSpc>
                <a:spcBef>
                  <a:spcPct val="0"/>
                </a:spcBef>
              </a:pPr>
              <a:endParaRPr/>
            </a:p>
          </p:txBody>
        </p:sp>
      </p:grpSp>
      <p:grpSp>
        <p:nvGrpSpPr>
          <p:cNvPr id="9" name="Group 9"/>
          <p:cNvGrpSpPr/>
          <p:nvPr/>
        </p:nvGrpSpPr>
        <p:grpSpPr>
          <a:xfrm>
            <a:off x="0" y="8107296"/>
            <a:ext cx="18998529" cy="1554646"/>
            <a:chOff x="0" y="0"/>
            <a:chExt cx="7449608" cy="609600"/>
          </a:xfrm>
        </p:grpSpPr>
        <p:sp>
          <p:nvSpPr>
            <p:cNvPr id="10" name="Freeform 10"/>
            <p:cNvSpPr/>
            <p:nvPr/>
          </p:nvSpPr>
          <p:spPr>
            <a:xfrm>
              <a:off x="0" y="0"/>
              <a:ext cx="7449608" cy="609600"/>
            </a:xfrm>
            <a:custGeom>
              <a:avLst/>
              <a:gdLst/>
              <a:ahLst/>
              <a:cxnLst/>
              <a:rect l="l" t="t" r="r" b="b"/>
              <a:pathLst>
                <a:path w="7449608" h="609600">
                  <a:moveTo>
                    <a:pt x="7246408" y="0"/>
                  </a:moveTo>
                  <a:lnTo>
                    <a:pt x="0" y="0"/>
                  </a:lnTo>
                  <a:lnTo>
                    <a:pt x="203200" y="609600"/>
                  </a:lnTo>
                  <a:lnTo>
                    <a:pt x="7449608" y="609600"/>
                  </a:lnTo>
                  <a:lnTo>
                    <a:pt x="7246408" y="0"/>
                  </a:lnTo>
                  <a:close/>
                </a:path>
              </a:pathLst>
            </a:custGeom>
            <a:solidFill>
              <a:srgbClr val="E9E1DB"/>
            </a:solidFill>
          </p:spPr>
          <p:txBody>
            <a:bodyPr/>
            <a:lstStyle/>
            <a:p>
              <a:endParaRPr lang="ar-SA"/>
            </a:p>
          </p:txBody>
        </p:sp>
        <p:sp>
          <p:nvSpPr>
            <p:cNvPr id="11" name="TextBox 11"/>
            <p:cNvSpPr txBox="1"/>
            <p:nvPr/>
          </p:nvSpPr>
          <p:spPr>
            <a:xfrm>
              <a:off x="101600" y="-38100"/>
              <a:ext cx="7246408" cy="647700"/>
            </a:xfrm>
            <a:prstGeom prst="rect">
              <a:avLst/>
            </a:prstGeom>
          </p:spPr>
          <p:txBody>
            <a:bodyPr lIns="50800" tIns="50800" rIns="50800" bIns="50800" rtlCol="0" anchor="ctr"/>
            <a:lstStyle/>
            <a:p>
              <a:pPr algn="ctr">
                <a:lnSpc>
                  <a:spcPts val="2659"/>
                </a:lnSpc>
                <a:spcBef>
                  <a:spcPct val="0"/>
                </a:spcBef>
              </a:pPr>
              <a:endParaRPr/>
            </a:p>
          </p:txBody>
        </p:sp>
      </p:grpSp>
      <p:sp>
        <p:nvSpPr>
          <p:cNvPr id="12" name="TextBox 12"/>
          <p:cNvSpPr txBox="1"/>
          <p:nvPr/>
        </p:nvSpPr>
        <p:spPr>
          <a:xfrm>
            <a:off x="1028700" y="904875"/>
            <a:ext cx="15176990" cy="604520"/>
          </a:xfrm>
          <a:prstGeom prst="rect">
            <a:avLst/>
          </a:prstGeom>
        </p:spPr>
        <p:txBody>
          <a:bodyPr lIns="0" tIns="0" rIns="0" bIns="0" rtlCol="0" anchor="t">
            <a:spAutoFit/>
          </a:bodyPr>
          <a:lstStyle/>
          <a:p>
            <a:pPr algn="just">
              <a:lnSpc>
                <a:spcPts val="4480"/>
              </a:lnSpc>
            </a:pPr>
            <a:r>
              <a:rPr lang="en-US" sz="3200">
                <a:solidFill>
                  <a:srgbClr val="E9E1DB"/>
                </a:solidFill>
                <a:latin typeface="Times New Roman"/>
                <a:ea typeface="Times New Roman"/>
                <a:cs typeface="Times New Roman"/>
                <a:sym typeface="Times New Roman"/>
              </a:rPr>
              <a:t>COURSES ATTENDED DURING THE TRAINING</a:t>
            </a:r>
          </a:p>
        </p:txBody>
      </p:sp>
      <p:sp>
        <p:nvSpPr>
          <p:cNvPr id="13" name="TextBox 13"/>
          <p:cNvSpPr txBox="1"/>
          <p:nvPr/>
        </p:nvSpPr>
        <p:spPr>
          <a:xfrm>
            <a:off x="2325850" y="1785355"/>
            <a:ext cx="13636300" cy="663576"/>
          </a:xfrm>
          <a:prstGeom prst="rect">
            <a:avLst/>
          </a:prstGeom>
        </p:spPr>
        <p:txBody>
          <a:bodyPr lIns="0" tIns="0" rIns="0" bIns="0" rtlCol="0" anchor="t">
            <a:spAutoFit/>
          </a:bodyPr>
          <a:lstStyle/>
          <a:p>
            <a:pPr algn="l" rtl="1">
              <a:lnSpc>
                <a:spcPts val="4899"/>
              </a:lnSpc>
              <a:spcBef>
                <a:spcPct val="0"/>
              </a:spcBef>
            </a:pPr>
            <a:r>
              <a:rPr lang="en-US" sz="3499">
                <a:solidFill>
                  <a:srgbClr val="E9E1DB"/>
                </a:solidFill>
                <a:latin typeface="Times New Roman"/>
                <a:ea typeface="Times New Roman"/>
                <a:cs typeface="Times New Roman"/>
                <a:sym typeface="Times New Roman"/>
              </a:rPr>
              <a:t>Microsoft AI &amp; ML Engineering Professional Certificate</a:t>
            </a:r>
            <a:r>
              <a:rPr lang="ar-EG" sz="3499">
                <a:solidFill>
                  <a:srgbClr val="E9E1DB"/>
                </a:solidFill>
                <a:latin typeface="Times New Roman"/>
                <a:ea typeface="Times New Roman"/>
                <a:cs typeface="Times New Roman"/>
                <a:sym typeface="Times New Roman"/>
                <a:rtl/>
              </a:rPr>
              <a:t> </a:t>
            </a:r>
          </a:p>
        </p:txBody>
      </p:sp>
      <p:sp>
        <p:nvSpPr>
          <p:cNvPr id="14" name="TextBox 14"/>
          <p:cNvSpPr txBox="1"/>
          <p:nvPr/>
        </p:nvSpPr>
        <p:spPr>
          <a:xfrm>
            <a:off x="2325850" y="3261677"/>
            <a:ext cx="13326811" cy="3641091"/>
          </a:xfrm>
          <a:prstGeom prst="rect">
            <a:avLst/>
          </a:prstGeom>
        </p:spPr>
        <p:txBody>
          <a:bodyPr lIns="0" tIns="0" rIns="0" bIns="0" rtlCol="0" anchor="t">
            <a:spAutoFit/>
          </a:bodyPr>
          <a:lstStyle/>
          <a:p>
            <a:pPr algn="l">
              <a:lnSpc>
                <a:spcPts val="4059"/>
              </a:lnSpc>
              <a:spcBef>
                <a:spcPct val="0"/>
              </a:spcBef>
            </a:pPr>
            <a:r>
              <a:rPr lang="en-US" sz="2899" b="1">
                <a:solidFill>
                  <a:srgbClr val="E9E1DB"/>
                </a:solidFill>
                <a:latin typeface="Times New Roman Bold"/>
                <a:ea typeface="Times New Roman Bold"/>
                <a:cs typeface="Times New Roman Bold"/>
                <a:sym typeface="Times New Roman Bold"/>
              </a:rPr>
              <a:t>2. AI and Machine Learning Algorithms and Techniques</a:t>
            </a:r>
          </a:p>
          <a:p>
            <a:pPr algn="l">
              <a:lnSpc>
                <a:spcPts val="4059"/>
              </a:lnSpc>
              <a:spcBef>
                <a:spcPct val="0"/>
              </a:spcBef>
            </a:pPr>
            <a:endParaRPr lang="en-US" sz="2899" b="1">
              <a:solidFill>
                <a:srgbClr val="E9E1DB"/>
              </a:solidFill>
              <a:latin typeface="Times New Roman Bold"/>
              <a:ea typeface="Times New Roman Bold"/>
              <a:cs typeface="Times New Roman Bold"/>
              <a:sym typeface="Times New Roman Bold"/>
            </a:endParaRPr>
          </a:p>
          <a:p>
            <a:pPr algn="l">
              <a:lnSpc>
                <a:spcPts val="4059"/>
              </a:lnSpc>
              <a:spcBef>
                <a:spcPct val="0"/>
              </a:spcBef>
            </a:pPr>
            <a:r>
              <a:rPr lang="en-US" sz="2899">
                <a:solidFill>
                  <a:srgbClr val="E9E1DB"/>
                </a:solidFill>
                <a:latin typeface="Times New Roman"/>
                <a:ea typeface="Times New Roman"/>
                <a:cs typeface="Times New Roman"/>
                <a:sym typeface="Times New Roman"/>
              </a:rPr>
              <a:t>In this course deepened my understanding of machine learning paradigms. I studied supervised learning techniques such as regression and classification, and unsupervised learning techniques such as clustering and dimensionality reduction. Reinforcement learning introduced me to the agent-environment interaction model, while deep learning covered neural network architectures. </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400235" y="-2280012"/>
            <a:ext cx="21938561" cy="13496146"/>
          </a:xfrm>
          <a:custGeom>
            <a:avLst/>
            <a:gdLst/>
            <a:ahLst/>
            <a:cxnLst/>
            <a:rect l="l" t="t" r="r" b="b"/>
            <a:pathLst>
              <a:path w="21938561" h="13496146">
                <a:moveTo>
                  <a:pt x="0" y="0"/>
                </a:moveTo>
                <a:lnTo>
                  <a:pt x="21938560" y="0"/>
                </a:lnTo>
                <a:lnTo>
                  <a:pt x="21938560" y="13496146"/>
                </a:lnTo>
                <a:lnTo>
                  <a:pt x="0" y="13496146"/>
                </a:lnTo>
                <a:lnTo>
                  <a:pt x="0" y="0"/>
                </a:lnTo>
                <a:close/>
              </a:path>
            </a:pathLst>
          </a:custGeom>
          <a:blipFill>
            <a:blip r:embed="rId2"/>
            <a:stretch>
              <a:fillRect l="-32641" t="-36451" r="-34370" b="-16258"/>
            </a:stretch>
          </a:blipFill>
        </p:spPr>
        <p:txBody>
          <a:bodyPr/>
          <a:lstStyle/>
          <a:p>
            <a:endParaRPr lang="ar-SA"/>
          </a:p>
        </p:txBody>
      </p:sp>
      <p:grpSp>
        <p:nvGrpSpPr>
          <p:cNvPr id="3" name="Group 3"/>
          <p:cNvGrpSpPr/>
          <p:nvPr/>
        </p:nvGrpSpPr>
        <p:grpSpPr>
          <a:xfrm rot="-2088381">
            <a:off x="-654014" y="5935649"/>
            <a:ext cx="7946576" cy="1601596"/>
            <a:chOff x="0" y="0"/>
            <a:chExt cx="3539030" cy="713275"/>
          </a:xfrm>
        </p:grpSpPr>
        <p:sp>
          <p:nvSpPr>
            <p:cNvPr id="4" name="Freeform 4"/>
            <p:cNvSpPr/>
            <p:nvPr/>
          </p:nvSpPr>
          <p:spPr>
            <a:xfrm>
              <a:off x="0" y="0"/>
              <a:ext cx="3539030" cy="713275"/>
            </a:xfrm>
            <a:custGeom>
              <a:avLst/>
              <a:gdLst/>
              <a:ahLst/>
              <a:cxnLst/>
              <a:rect l="l" t="t" r="r" b="b"/>
              <a:pathLst>
                <a:path w="3539030" h="713275">
                  <a:moveTo>
                    <a:pt x="203200" y="0"/>
                  </a:moveTo>
                  <a:lnTo>
                    <a:pt x="3539030" y="0"/>
                  </a:lnTo>
                  <a:lnTo>
                    <a:pt x="3335830" y="713275"/>
                  </a:lnTo>
                  <a:lnTo>
                    <a:pt x="0" y="713275"/>
                  </a:lnTo>
                  <a:lnTo>
                    <a:pt x="203200" y="0"/>
                  </a:lnTo>
                  <a:close/>
                </a:path>
              </a:pathLst>
            </a:custGeom>
            <a:solidFill>
              <a:srgbClr val="66574D"/>
            </a:solidFill>
          </p:spPr>
          <p:txBody>
            <a:bodyPr/>
            <a:lstStyle/>
            <a:p>
              <a:endParaRPr lang="ar-SA"/>
            </a:p>
          </p:txBody>
        </p:sp>
        <p:sp>
          <p:nvSpPr>
            <p:cNvPr id="5" name="TextBox 5"/>
            <p:cNvSpPr txBox="1"/>
            <p:nvPr/>
          </p:nvSpPr>
          <p:spPr>
            <a:xfrm>
              <a:off x="101600" y="-38100"/>
              <a:ext cx="3335830" cy="751375"/>
            </a:xfrm>
            <a:prstGeom prst="rect">
              <a:avLst/>
            </a:prstGeom>
          </p:spPr>
          <p:txBody>
            <a:bodyPr lIns="50800" tIns="50800" rIns="50800" bIns="50800" rtlCol="0" anchor="ctr"/>
            <a:lstStyle/>
            <a:p>
              <a:pPr algn="ctr">
                <a:lnSpc>
                  <a:spcPts val="2659"/>
                </a:lnSpc>
              </a:pPr>
              <a:endParaRPr/>
            </a:p>
          </p:txBody>
        </p:sp>
      </p:grpSp>
      <p:grpSp>
        <p:nvGrpSpPr>
          <p:cNvPr id="6" name="Group 6"/>
          <p:cNvGrpSpPr/>
          <p:nvPr/>
        </p:nvGrpSpPr>
        <p:grpSpPr>
          <a:xfrm>
            <a:off x="-1226391" y="419167"/>
            <a:ext cx="21419231" cy="9086516"/>
            <a:chOff x="0" y="0"/>
            <a:chExt cx="1540308" cy="653433"/>
          </a:xfrm>
        </p:grpSpPr>
        <p:sp>
          <p:nvSpPr>
            <p:cNvPr id="7" name="Freeform 7"/>
            <p:cNvSpPr/>
            <p:nvPr/>
          </p:nvSpPr>
          <p:spPr>
            <a:xfrm>
              <a:off x="0" y="0"/>
              <a:ext cx="1540308" cy="653433"/>
            </a:xfrm>
            <a:custGeom>
              <a:avLst/>
              <a:gdLst/>
              <a:ahLst/>
              <a:cxnLst/>
              <a:rect l="l" t="t" r="r" b="b"/>
              <a:pathLst>
                <a:path w="1540308" h="653433">
                  <a:moveTo>
                    <a:pt x="1337108" y="0"/>
                  </a:moveTo>
                  <a:lnTo>
                    <a:pt x="0" y="0"/>
                  </a:lnTo>
                  <a:lnTo>
                    <a:pt x="203200" y="653433"/>
                  </a:lnTo>
                  <a:lnTo>
                    <a:pt x="1540308" y="653433"/>
                  </a:lnTo>
                  <a:lnTo>
                    <a:pt x="1337108" y="0"/>
                  </a:lnTo>
                  <a:close/>
                </a:path>
              </a:pathLst>
            </a:custGeom>
            <a:solidFill>
              <a:srgbClr val="3D3735"/>
            </a:solidFill>
          </p:spPr>
          <p:txBody>
            <a:bodyPr/>
            <a:lstStyle/>
            <a:p>
              <a:endParaRPr lang="ar-SA"/>
            </a:p>
          </p:txBody>
        </p:sp>
        <p:sp>
          <p:nvSpPr>
            <p:cNvPr id="8" name="TextBox 8"/>
            <p:cNvSpPr txBox="1"/>
            <p:nvPr/>
          </p:nvSpPr>
          <p:spPr>
            <a:xfrm>
              <a:off x="101600" y="-38100"/>
              <a:ext cx="1337108" cy="691533"/>
            </a:xfrm>
            <a:prstGeom prst="rect">
              <a:avLst/>
            </a:prstGeom>
          </p:spPr>
          <p:txBody>
            <a:bodyPr lIns="50800" tIns="50800" rIns="50800" bIns="50800" rtlCol="0" anchor="ctr"/>
            <a:lstStyle/>
            <a:p>
              <a:pPr algn="ctr">
                <a:lnSpc>
                  <a:spcPts val="2659"/>
                </a:lnSpc>
                <a:spcBef>
                  <a:spcPct val="0"/>
                </a:spcBef>
              </a:pPr>
              <a:endParaRPr/>
            </a:p>
          </p:txBody>
        </p:sp>
      </p:grpSp>
      <p:grpSp>
        <p:nvGrpSpPr>
          <p:cNvPr id="9" name="Group 9"/>
          <p:cNvGrpSpPr/>
          <p:nvPr/>
        </p:nvGrpSpPr>
        <p:grpSpPr>
          <a:xfrm>
            <a:off x="0" y="8107296"/>
            <a:ext cx="18998529" cy="1554646"/>
            <a:chOff x="0" y="0"/>
            <a:chExt cx="7449608" cy="609600"/>
          </a:xfrm>
        </p:grpSpPr>
        <p:sp>
          <p:nvSpPr>
            <p:cNvPr id="10" name="Freeform 10"/>
            <p:cNvSpPr/>
            <p:nvPr/>
          </p:nvSpPr>
          <p:spPr>
            <a:xfrm>
              <a:off x="0" y="0"/>
              <a:ext cx="7449608" cy="609600"/>
            </a:xfrm>
            <a:custGeom>
              <a:avLst/>
              <a:gdLst/>
              <a:ahLst/>
              <a:cxnLst/>
              <a:rect l="l" t="t" r="r" b="b"/>
              <a:pathLst>
                <a:path w="7449608" h="609600">
                  <a:moveTo>
                    <a:pt x="7246408" y="0"/>
                  </a:moveTo>
                  <a:lnTo>
                    <a:pt x="0" y="0"/>
                  </a:lnTo>
                  <a:lnTo>
                    <a:pt x="203200" y="609600"/>
                  </a:lnTo>
                  <a:lnTo>
                    <a:pt x="7449608" y="609600"/>
                  </a:lnTo>
                  <a:lnTo>
                    <a:pt x="7246408" y="0"/>
                  </a:lnTo>
                  <a:close/>
                </a:path>
              </a:pathLst>
            </a:custGeom>
            <a:solidFill>
              <a:srgbClr val="E9E1DB"/>
            </a:solidFill>
          </p:spPr>
          <p:txBody>
            <a:bodyPr/>
            <a:lstStyle/>
            <a:p>
              <a:endParaRPr lang="ar-SA"/>
            </a:p>
          </p:txBody>
        </p:sp>
        <p:sp>
          <p:nvSpPr>
            <p:cNvPr id="11" name="TextBox 11"/>
            <p:cNvSpPr txBox="1"/>
            <p:nvPr/>
          </p:nvSpPr>
          <p:spPr>
            <a:xfrm>
              <a:off x="101600" y="-38100"/>
              <a:ext cx="7246408" cy="647700"/>
            </a:xfrm>
            <a:prstGeom prst="rect">
              <a:avLst/>
            </a:prstGeom>
          </p:spPr>
          <p:txBody>
            <a:bodyPr lIns="50800" tIns="50800" rIns="50800" bIns="50800" rtlCol="0" anchor="ctr"/>
            <a:lstStyle/>
            <a:p>
              <a:pPr algn="ctr">
                <a:lnSpc>
                  <a:spcPts val="2659"/>
                </a:lnSpc>
                <a:spcBef>
                  <a:spcPct val="0"/>
                </a:spcBef>
              </a:pPr>
              <a:endParaRPr/>
            </a:p>
          </p:txBody>
        </p:sp>
      </p:grpSp>
      <p:sp>
        <p:nvSpPr>
          <p:cNvPr id="12" name="TextBox 12"/>
          <p:cNvSpPr txBox="1"/>
          <p:nvPr/>
        </p:nvSpPr>
        <p:spPr>
          <a:xfrm>
            <a:off x="1028700" y="904875"/>
            <a:ext cx="15176990" cy="604520"/>
          </a:xfrm>
          <a:prstGeom prst="rect">
            <a:avLst/>
          </a:prstGeom>
        </p:spPr>
        <p:txBody>
          <a:bodyPr lIns="0" tIns="0" rIns="0" bIns="0" rtlCol="0" anchor="t">
            <a:spAutoFit/>
          </a:bodyPr>
          <a:lstStyle/>
          <a:p>
            <a:pPr algn="just">
              <a:lnSpc>
                <a:spcPts val="4480"/>
              </a:lnSpc>
            </a:pPr>
            <a:r>
              <a:rPr lang="en-US" sz="3200">
                <a:solidFill>
                  <a:srgbClr val="E9E1DB"/>
                </a:solidFill>
                <a:latin typeface="Times New Roman"/>
                <a:ea typeface="Times New Roman"/>
                <a:cs typeface="Times New Roman"/>
                <a:sym typeface="Times New Roman"/>
              </a:rPr>
              <a:t>COURSES ATTENDED DURING THE TRAINING</a:t>
            </a:r>
          </a:p>
        </p:txBody>
      </p:sp>
      <p:sp>
        <p:nvSpPr>
          <p:cNvPr id="13" name="TextBox 13"/>
          <p:cNvSpPr txBox="1"/>
          <p:nvPr/>
        </p:nvSpPr>
        <p:spPr>
          <a:xfrm>
            <a:off x="2325850" y="1785355"/>
            <a:ext cx="13636300" cy="663576"/>
          </a:xfrm>
          <a:prstGeom prst="rect">
            <a:avLst/>
          </a:prstGeom>
        </p:spPr>
        <p:txBody>
          <a:bodyPr lIns="0" tIns="0" rIns="0" bIns="0" rtlCol="0" anchor="t">
            <a:spAutoFit/>
          </a:bodyPr>
          <a:lstStyle/>
          <a:p>
            <a:pPr algn="l" rtl="1">
              <a:lnSpc>
                <a:spcPts val="4899"/>
              </a:lnSpc>
              <a:spcBef>
                <a:spcPct val="0"/>
              </a:spcBef>
            </a:pPr>
            <a:r>
              <a:rPr lang="en-US" sz="3499">
                <a:solidFill>
                  <a:srgbClr val="E9E1DB"/>
                </a:solidFill>
                <a:latin typeface="Times New Roman"/>
                <a:ea typeface="Times New Roman"/>
                <a:cs typeface="Times New Roman"/>
                <a:sym typeface="Times New Roman"/>
              </a:rPr>
              <a:t>Microsoft AI &amp; ML Engineering Professional Certificate</a:t>
            </a:r>
            <a:r>
              <a:rPr lang="ar-EG" sz="3499">
                <a:solidFill>
                  <a:srgbClr val="E9E1DB"/>
                </a:solidFill>
                <a:latin typeface="Times New Roman"/>
                <a:ea typeface="Times New Roman"/>
                <a:cs typeface="Times New Roman"/>
                <a:sym typeface="Times New Roman"/>
                <a:rtl/>
              </a:rPr>
              <a:t> </a:t>
            </a:r>
          </a:p>
        </p:txBody>
      </p:sp>
      <p:sp>
        <p:nvSpPr>
          <p:cNvPr id="14" name="TextBox 14"/>
          <p:cNvSpPr txBox="1"/>
          <p:nvPr/>
        </p:nvSpPr>
        <p:spPr>
          <a:xfrm>
            <a:off x="2325850" y="3261677"/>
            <a:ext cx="13326811" cy="3126741"/>
          </a:xfrm>
          <a:prstGeom prst="rect">
            <a:avLst/>
          </a:prstGeom>
        </p:spPr>
        <p:txBody>
          <a:bodyPr lIns="0" tIns="0" rIns="0" bIns="0" rtlCol="0" anchor="t">
            <a:spAutoFit/>
          </a:bodyPr>
          <a:lstStyle/>
          <a:p>
            <a:pPr algn="l">
              <a:lnSpc>
                <a:spcPts val="4059"/>
              </a:lnSpc>
              <a:spcBef>
                <a:spcPct val="0"/>
              </a:spcBef>
            </a:pPr>
            <a:r>
              <a:rPr lang="en-US" sz="2899" b="1">
                <a:solidFill>
                  <a:srgbClr val="E9E1DB"/>
                </a:solidFill>
                <a:latin typeface="Times New Roman Bold"/>
                <a:ea typeface="Times New Roman Bold"/>
                <a:cs typeface="Times New Roman Bold"/>
                <a:sym typeface="Times New Roman Bold"/>
              </a:rPr>
              <a:t>3. Building Intelligent Troubleshooting Agents</a:t>
            </a:r>
          </a:p>
          <a:p>
            <a:pPr algn="l">
              <a:lnSpc>
                <a:spcPts val="4059"/>
              </a:lnSpc>
              <a:spcBef>
                <a:spcPct val="0"/>
              </a:spcBef>
            </a:pPr>
            <a:endParaRPr lang="en-US" sz="2899" b="1">
              <a:solidFill>
                <a:srgbClr val="E9E1DB"/>
              </a:solidFill>
              <a:latin typeface="Times New Roman Bold"/>
              <a:ea typeface="Times New Roman Bold"/>
              <a:cs typeface="Times New Roman Bold"/>
              <a:sym typeface="Times New Roman Bold"/>
            </a:endParaRPr>
          </a:p>
          <a:p>
            <a:pPr algn="l">
              <a:lnSpc>
                <a:spcPts val="4059"/>
              </a:lnSpc>
              <a:spcBef>
                <a:spcPct val="0"/>
              </a:spcBef>
            </a:pPr>
            <a:r>
              <a:rPr lang="en-US" sz="2899">
                <a:solidFill>
                  <a:srgbClr val="E9E1DB"/>
                </a:solidFill>
                <a:latin typeface="Times New Roman"/>
                <a:ea typeface="Times New Roman"/>
                <a:cs typeface="Times New Roman"/>
                <a:sym typeface="Times New Roman"/>
              </a:rPr>
              <a:t>In this course, I moved from algorithms to applied AI. I studied fine-tuning large language models (LLMs) for domain-specific tasks, and the fundamentals of AI agents. I explored natural language processing techniques such as intent recognition, named entity recognition, and sentiment analysis for troubleshooting contexts. </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400235" y="-2280012"/>
            <a:ext cx="21938561" cy="13496146"/>
          </a:xfrm>
          <a:custGeom>
            <a:avLst/>
            <a:gdLst/>
            <a:ahLst/>
            <a:cxnLst/>
            <a:rect l="l" t="t" r="r" b="b"/>
            <a:pathLst>
              <a:path w="21938561" h="13496146">
                <a:moveTo>
                  <a:pt x="0" y="0"/>
                </a:moveTo>
                <a:lnTo>
                  <a:pt x="21938560" y="0"/>
                </a:lnTo>
                <a:lnTo>
                  <a:pt x="21938560" y="13496146"/>
                </a:lnTo>
                <a:lnTo>
                  <a:pt x="0" y="13496146"/>
                </a:lnTo>
                <a:lnTo>
                  <a:pt x="0" y="0"/>
                </a:lnTo>
                <a:close/>
              </a:path>
            </a:pathLst>
          </a:custGeom>
          <a:blipFill>
            <a:blip r:embed="rId2"/>
            <a:stretch>
              <a:fillRect l="-32641" t="-36451" r="-34370" b="-16258"/>
            </a:stretch>
          </a:blipFill>
        </p:spPr>
        <p:txBody>
          <a:bodyPr/>
          <a:lstStyle/>
          <a:p>
            <a:endParaRPr lang="ar-SA"/>
          </a:p>
        </p:txBody>
      </p:sp>
      <p:grpSp>
        <p:nvGrpSpPr>
          <p:cNvPr id="3" name="Group 3"/>
          <p:cNvGrpSpPr/>
          <p:nvPr/>
        </p:nvGrpSpPr>
        <p:grpSpPr>
          <a:xfrm rot="-2088381">
            <a:off x="-654014" y="5935649"/>
            <a:ext cx="7946576" cy="1601596"/>
            <a:chOff x="0" y="0"/>
            <a:chExt cx="3539030" cy="713275"/>
          </a:xfrm>
        </p:grpSpPr>
        <p:sp>
          <p:nvSpPr>
            <p:cNvPr id="4" name="Freeform 4"/>
            <p:cNvSpPr/>
            <p:nvPr/>
          </p:nvSpPr>
          <p:spPr>
            <a:xfrm>
              <a:off x="0" y="0"/>
              <a:ext cx="3539030" cy="713275"/>
            </a:xfrm>
            <a:custGeom>
              <a:avLst/>
              <a:gdLst/>
              <a:ahLst/>
              <a:cxnLst/>
              <a:rect l="l" t="t" r="r" b="b"/>
              <a:pathLst>
                <a:path w="3539030" h="713275">
                  <a:moveTo>
                    <a:pt x="203200" y="0"/>
                  </a:moveTo>
                  <a:lnTo>
                    <a:pt x="3539030" y="0"/>
                  </a:lnTo>
                  <a:lnTo>
                    <a:pt x="3335830" y="713275"/>
                  </a:lnTo>
                  <a:lnTo>
                    <a:pt x="0" y="713275"/>
                  </a:lnTo>
                  <a:lnTo>
                    <a:pt x="203200" y="0"/>
                  </a:lnTo>
                  <a:close/>
                </a:path>
              </a:pathLst>
            </a:custGeom>
            <a:solidFill>
              <a:srgbClr val="66574D"/>
            </a:solidFill>
          </p:spPr>
          <p:txBody>
            <a:bodyPr/>
            <a:lstStyle/>
            <a:p>
              <a:endParaRPr lang="ar-SA"/>
            </a:p>
          </p:txBody>
        </p:sp>
        <p:sp>
          <p:nvSpPr>
            <p:cNvPr id="5" name="TextBox 5"/>
            <p:cNvSpPr txBox="1"/>
            <p:nvPr/>
          </p:nvSpPr>
          <p:spPr>
            <a:xfrm>
              <a:off x="101600" y="-38100"/>
              <a:ext cx="3335830" cy="751375"/>
            </a:xfrm>
            <a:prstGeom prst="rect">
              <a:avLst/>
            </a:prstGeom>
          </p:spPr>
          <p:txBody>
            <a:bodyPr lIns="50800" tIns="50800" rIns="50800" bIns="50800" rtlCol="0" anchor="ctr"/>
            <a:lstStyle/>
            <a:p>
              <a:pPr algn="ctr">
                <a:lnSpc>
                  <a:spcPts val="2659"/>
                </a:lnSpc>
              </a:pPr>
              <a:endParaRPr/>
            </a:p>
          </p:txBody>
        </p:sp>
      </p:grpSp>
      <p:grpSp>
        <p:nvGrpSpPr>
          <p:cNvPr id="6" name="Group 6"/>
          <p:cNvGrpSpPr/>
          <p:nvPr/>
        </p:nvGrpSpPr>
        <p:grpSpPr>
          <a:xfrm>
            <a:off x="-1226391" y="419167"/>
            <a:ext cx="21419231" cy="9086516"/>
            <a:chOff x="0" y="0"/>
            <a:chExt cx="1540308" cy="653433"/>
          </a:xfrm>
        </p:grpSpPr>
        <p:sp>
          <p:nvSpPr>
            <p:cNvPr id="7" name="Freeform 7"/>
            <p:cNvSpPr/>
            <p:nvPr/>
          </p:nvSpPr>
          <p:spPr>
            <a:xfrm>
              <a:off x="0" y="0"/>
              <a:ext cx="1540308" cy="653433"/>
            </a:xfrm>
            <a:custGeom>
              <a:avLst/>
              <a:gdLst/>
              <a:ahLst/>
              <a:cxnLst/>
              <a:rect l="l" t="t" r="r" b="b"/>
              <a:pathLst>
                <a:path w="1540308" h="653433">
                  <a:moveTo>
                    <a:pt x="1337108" y="0"/>
                  </a:moveTo>
                  <a:lnTo>
                    <a:pt x="0" y="0"/>
                  </a:lnTo>
                  <a:lnTo>
                    <a:pt x="203200" y="653433"/>
                  </a:lnTo>
                  <a:lnTo>
                    <a:pt x="1540308" y="653433"/>
                  </a:lnTo>
                  <a:lnTo>
                    <a:pt x="1337108" y="0"/>
                  </a:lnTo>
                  <a:close/>
                </a:path>
              </a:pathLst>
            </a:custGeom>
            <a:solidFill>
              <a:srgbClr val="3D3735"/>
            </a:solidFill>
          </p:spPr>
          <p:txBody>
            <a:bodyPr/>
            <a:lstStyle/>
            <a:p>
              <a:endParaRPr lang="ar-SA"/>
            </a:p>
          </p:txBody>
        </p:sp>
        <p:sp>
          <p:nvSpPr>
            <p:cNvPr id="8" name="TextBox 8"/>
            <p:cNvSpPr txBox="1"/>
            <p:nvPr/>
          </p:nvSpPr>
          <p:spPr>
            <a:xfrm>
              <a:off x="101600" y="-38100"/>
              <a:ext cx="1337108" cy="691533"/>
            </a:xfrm>
            <a:prstGeom prst="rect">
              <a:avLst/>
            </a:prstGeom>
          </p:spPr>
          <p:txBody>
            <a:bodyPr lIns="50800" tIns="50800" rIns="50800" bIns="50800" rtlCol="0" anchor="ctr"/>
            <a:lstStyle/>
            <a:p>
              <a:pPr algn="ctr">
                <a:lnSpc>
                  <a:spcPts val="2659"/>
                </a:lnSpc>
                <a:spcBef>
                  <a:spcPct val="0"/>
                </a:spcBef>
              </a:pPr>
              <a:endParaRPr/>
            </a:p>
          </p:txBody>
        </p:sp>
      </p:grpSp>
      <p:grpSp>
        <p:nvGrpSpPr>
          <p:cNvPr id="9" name="Group 9"/>
          <p:cNvGrpSpPr/>
          <p:nvPr/>
        </p:nvGrpSpPr>
        <p:grpSpPr>
          <a:xfrm>
            <a:off x="0" y="8107296"/>
            <a:ext cx="18998529" cy="1554646"/>
            <a:chOff x="0" y="0"/>
            <a:chExt cx="7449608" cy="609600"/>
          </a:xfrm>
        </p:grpSpPr>
        <p:sp>
          <p:nvSpPr>
            <p:cNvPr id="10" name="Freeform 10"/>
            <p:cNvSpPr/>
            <p:nvPr/>
          </p:nvSpPr>
          <p:spPr>
            <a:xfrm>
              <a:off x="0" y="0"/>
              <a:ext cx="7449608" cy="609600"/>
            </a:xfrm>
            <a:custGeom>
              <a:avLst/>
              <a:gdLst/>
              <a:ahLst/>
              <a:cxnLst/>
              <a:rect l="l" t="t" r="r" b="b"/>
              <a:pathLst>
                <a:path w="7449608" h="609600">
                  <a:moveTo>
                    <a:pt x="7246408" y="0"/>
                  </a:moveTo>
                  <a:lnTo>
                    <a:pt x="0" y="0"/>
                  </a:lnTo>
                  <a:lnTo>
                    <a:pt x="203200" y="609600"/>
                  </a:lnTo>
                  <a:lnTo>
                    <a:pt x="7449608" y="609600"/>
                  </a:lnTo>
                  <a:lnTo>
                    <a:pt x="7246408" y="0"/>
                  </a:lnTo>
                  <a:close/>
                </a:path>
              </a:pathLst>
            </a:custGeom>
            <a:solidFill>
              <a:srgbClr val="E9E1DB"/>
            </a:solidFill>
          </p:spPr>
          <p:txBody>
            <a:bodyPr/>
            <a:lstStyle/>
            <a:p>
              <a:endParaRPr lang="ar-SA"/>
            </a:p>
          </p:txBody>
        </p:sp>
        <p:sp>
          <p:nvSpPr>
            <p:cNvPr id="11" name="TextBox 11"/>
            <p:cNvSpPr txBox="1"/>
            <p:nvPr/>
          </p:nvSpPr>
          <p:spPr>
            <a:xfrm>
              <a:off x="101600" y="-38100"/>
              <a:ext cx="7246408" cy="647700"/>
            </a:xfrm>
            <a:prstGeom prst="rect">
              <a:avLst/>
            </a:prstGeom>
          </p:spPr>
          <p:txBody>
            <a:bodyPr lIns="50800" tIns="50800" rIns="50800" bIns="50800" rtlCol="0" anchor="ctr"/>
            <a:lstStyle/>
            <a:p>
              <a:pPr algn="ctr">
                <a:lnSpc>
                  <a:spcPts val="2659"/>
                </a:lnSpc>
                <a:spcBef>
                  <a:spcPct val="0"/>
                </a:spcBef>
              </a:pPr>
              <a:endParaRPr/>
            </a:p>
          </p:txBody>
        </p:sp>
      </p:grpSp>
      <p:sp>
        <p:nvSpPr>
          <p:cNvPr id="12" name="TextBox 12"/>
          <p:cNvSpPr txBox="1"/>
          <p:nvPr/>
        </p:nvSpPr>
        <p:spPr>
          <a:xfrm>
            <a:off x="1028700" y="904875"/>
            <a:ext cx="15176990" cy="604520"/>
          </a:xfrm>
          <a:prstGeom prst="rect">
            <a:avLst/>
          </a:prstGeom>
        </p:spPr>
        <p:txBody>
          <a:bodyPr lIns="0" tIns="0" rIns="0" bIns="0" rtlCol="0" anchor="t">
            <a:spAutoFit/>
          </a:bodyPr>
          <a:lstStyle/>
          <a:p>
            <a:pPr algn="just">
              <a:lnSpc>
                <a:spcPts val="4480"/>
              </a:lnSpc>
            </a:pPr>
            <a:r>
              <a:rPr lang="en-US" sz="3200">
                <a:solidFill>
                  <a:srgbClr val="E9E1DB"/>
                </a:solidFill>
                <a:latin typeface="Times New Roman"/>
                <a:ea typeface="Times New Roman"/>
                <a:cs typeface="Times New Roman"/>
                <a:sym typeface="Times New Roman"/>
              </a:rPr>
              <a:t>COURSES ATTENDED DURING THE TRAINING</a:t>
            </a:r>
          </a:p>
        </p:txBody>
      </p:sp>
      <p:sp>
        <p:nvSpPr>
          <p:cNvPr id="13" name="TextBox 13"/>
          <p:cNvSpPr txBox="1"/>
          <p:nvPr/>
        </p:nvSpPr>
        <p:spPr>
          <a:xfrm>
            <a:off x="2325850" y="1785355"/>
            <a:ext cx="13636300" cy="663576"/>
          </a:xfrm>
          <a:prstGeom prst="rect">
            <a:avLst/>
          </a:prstGeom>
        </p:spPr>
        <p:txBody>
          <a:bodyPr lIns="0" tIns="0" rIns="0" bIns="0" rtlCol="0" anchor="t">
            <a:spAutoFit/>
          </a:bodyPr>
          <a:lstStyle/>
          <a:p>
            <a:pPr algn="l" rtl="1">
              <a:lnSpc>
                <a:spcPts val="4899"/>
              </a:lnSpc>
              <a:spcBef>
                <a:spcPct val="0"/>
              </a:spcBef>
            </a:pPr>
            <a:r>
              <a:rPr lang="en-US" sz="3499">
                <a:solidFill>
                  <a:srgbClr val="E9E1DB"/>
                </a:solidFill>
                <a:latin typeface="Times New Roman"/>
                <a:ea typeface="Times New Roman"/>
                <a:cs typeface="Times New Roman"/>
                <a:sym typeface="Times New Roman"/>
              </a:rPr>
              <a:t>Microsoft AI &amp; ML Engineering Professional Certificate</a:t>
            </a:r>
            <a:r>
              <a:rPr lang="ar-EG" sz="3499">
                <a:solidFill>
                  <a:srgbClr val="E9E1DB"/>
                </a:solidFill>
                <a:latin typeface="Times New Roman"/>
                <a:ea typeface="Times New Roman"/>
                <a:cs typeface="Times New Roman"/>
                <a:sym typeface="Times New Roman"/>
                <a:rtl/>
              </a:rPr>
              <a:t> </a:t>
            </a:r>
          </a:p>
        </p:txBody>
      </p:sp>
      <p:sp>
        <p:nvSpPr>
          <p:cNvPr id="14" name="TextBox 14"/>
          <p:cNvSpPr txBox="1"/>
          <p:nvPr/>
        </p:nvSpPr>
        <p:spPr>
          <a:xfrm>
            <a:off x="2325850" y="2923155"/>
            <a:ext cx="14933450" cy="5184141"/>
          </a:xfrm>
          <a:prstGeom prst="rect">
            <a:avLst/>
          </a:prstGeom>
        </p:spPr>
        <p:txBody>
          <a:bodyPr lIns="0" tIns="0" rIns="0" bIns="0" rtlCol="0" anchor="t">
            <a:spAutoFit/>
          </a:bodyPr>
          <a:lstStyle/>
          <a:p>
            <a:pPr algn="l">
              <a:lnSpc>
                <a:spcPts val="4059"/>
              </a:lnSpc>
              <a:spcBef>
                <a:spcPct val="0"/>
              </a:spcBef>
            </a:pPr>
            <a:r>
              <a:rPr lang="en-US" sz="2899" b="1">
                <a:solidFill>
                  <a:srgbClr val="E9E1DB"/>
                </a:solidFill>
                <a:latin typeface="Times New Roman Bold"/>
                <a:ea typeface="Times New Roman Bold"/>
                <a:cs typeface="Times New Roman Bold"/>
                <a:sym typeface="Times New Roman Bold"/>
              </a:rPr>
              <a:t>4. Microsoft Azure for AI and Machine Learning</a:t>
            </a:r>
          </a:p>
          <a:p>
            <a:pPr algn="l">
              <a:lnSpc>
                <a:spcPts val="4059"/>
              </a:lnSpc>
              <a:spcBef>
                <a:spcPct val="0"/>
              </a:spcBef>
            </a:pPr>
            <a:endParaRPr lang="en-US" sz="2899" b="1">
              <a:solidFill>
                <a:srgbClr val="E9E1DB"/>
              </a:solidFill>
              <a:latin typeface="Times New Roman Bold"/>
              <a:ea typeface="Times New Roman Bold"/>
              <a:cs typeface="Times New Roman Bold"/>
              <a:sym typeface="Times New Roman Bold"/>
            </a:endParaRPr>
          </a:p>
          <a:p>
            <a:pPr algn="l">
              <a:lnSpc>
                <a:spcPts val="4059"/>
              </a:lnSpc>
              <a:spcBef>
                <a:spcPct val="0"/>
              </a:spcBef>
            </a:pPr>
            <a:r>
              <a:rPr lang="en-US" sz="2899">
                <a:solidFill>
                  <a:srgbClr val="E9E1DB"/>
                </a:solidFill>
                <a:latin typeface="Times New Roman"/>
                <a:ea typeface="Times New Roman"/>
                <a:cs typeface="Times New Roman"/>
                <a:sym typeface="Times New Roman"/>
              </a:rPr>
              <a:t>I began by setting up the Azure AI/ML environment, where I realized how integrated services streamline the workflow. I then managed data preparation and training pipelines using Azure Data Factory. I learned the basic steps for setting up an effective Azure environment for AI and machine learning projects. I understood how to create and configure Azure machine learning workspaces. I discussed the importance of choosing the right Azure subscriptions and resources to ensure optimal performance. I realized that properly setting up an environment is the first step toward building scalable and reliable AI and machine learning solutions.</a:t>
            </a:r>
          </a:p>
          <a:p>
            <a:pPr algn="l">
              <a:lnSpc>
                <a:spcPts val="4059"/>
              </a:lnSpc>
              <a:spcBef>
                <a:spcPct val="0"/>
              </a:spcBef>
            </a:pPr>
            <a:endParaRPr lang="en-US" sz="2899">
              <a:solidFill>
                <a:srgbClr val="E9E1DB"/>
              </a:solidFill>
              <a:latin typeface="Times New Roman"/>
              <a:ea typeface="Times New Roman"/>
              <a:cs typeface="Times New Roman"/>
              <a:sym typeface="Times New Roman"/>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400235" y="-2280012"/>
            <a:ext cx="21938561" cy="13496146"/>
          </a:xfrm>
          <a:custGeom>
            <a:avLst/>
            <a:gdLst/>
            <a:ahLst/>
            <a:cxnLst/>
            <a:rect l="l" t="t" r="r" b="b"/>
            <a:pathLst>
              <a:path w="21938561" h="13496146">
                <a:moveTo>
                  <a:pt x="0" y="0"/>
                </a:moveTo>
                <a:lnTo>
                  <a:pt x="21938560" y="0"/>
                </a:lnTo>
                <a:lnTo>
                  <a:pt x="21938560" y="13496146"/>
                </a:lnTo>
                <a:lnTo>
                  <a:pt x="0" y="13496146"/>
                </a:lnTo>
                <a:lnTo>
                  <a:pt x="0" y="0"/>
                </a:lnTo>
                <a:close/>
              </a:path>
            </a:pathLst>
          </a:custGeom>
          <a:blipFill>
            <a:blip r:embed="rId2"/>
            <a:stretch>
              <a:fillRect l="-32641" t="-36451" r="-34370" b="-16258"/>
            </a:stretch>
          </a:blipFill>
        </p:spPr>
        <p:txBody>
          <a:bodyPr/>
          <a:lstStyle/>
          <a:p>
            <a:endParaRPr lang="ar-SA"/>
          </a:p>
        </p:txBody>
      </p:sp>
      <p:grpSp>
        <p:nvGrpSpPr>
          <p:cNvPr id="3" name="Group 3"/>
          <p:cNvGrpSpPr/>
          <p:nvPr/>
        </p:nvGrpSpPr>
        <p:grpSpPr>
          <a:xfrm rot="-2088381">
            <a:off x="-654014" y="5935649"/>
            <a:ext cx="7946576" cy="1601596"/>
            <a:chOff x="0" y="0"/>
            <a:chExt cx="3539030" cy="713275"/>
          </a:xfrm>
        </p:grpSpPr>
        <p:sp>
          <p:nvSpPr>
            <p:cNvPr id="4" name="Freeform 4"/>
            <p:cNvSpPr/>
            <p:nvPr/>
          </p:nvSpPr>
          <p:spPr>
            <a:xfrm>
              <a:off x="0" y="0"/>
              <a:ext cx="3539030" cy="713275"/>
            </a:xfrm>
            <a:custGeom>
              <a:avLst/>
              <a:gdLst/>
              <a:ahLst/>
              <a:cxnLst/>
              <a:rect l="l" t="t" r="r" b="b"/>
              <a:pathLst>
                <a:path w="3539030" h="713275">
                  <a:moveTo>
                    <a:pt x="203200" y="0"/>
                  </a:moveTo>
                  <a:lnTo>
                    <a:pt x="3539030" y="0"/>
                  </a:lnTo>
                  <a:lnTo>
                    <a:pt x="3335830" y="713275"/>
                  </a:lnTo>
                  <a:lnTo>
                    <a:pt x="0" y="713275"/>
                  </a:lnTo>
                  <a:lnTo>
                    <a:pt x="203200" y="0"/>
                  </a:lnTo>
                  <a:close/>
                </a:path>
              </a:pathLst>
            </a:custGeom>
            <a:solidFill>
              <a:srgbClr val="66574D"/>
            </a:solidFill>
          </p:spPr>
          <p:txBody>
            <a:bodyPr/>
            <a:lstStyle/>
            <a:p>
              <a:endParaRPr lang="ar-SA"/>
            </a:p>
          </p:txBody>
        </p:sp>
        <p:sp>
          <p:nvSpPr>
            <p:cNvPr id="5" name="TextBox 5"/>
            <p:cNvSpPr txBox="1"/>
            <p:nvPr/>
          </p:nvSpPr>
          <p:spPr>
            <a:xfrm>
              <a:off x="101600" y="-38100"/>
              <a:ext cx="3335830" cy="751375"/>
            </a:xfrm>
            <a:prstGeom prst="rect">
              <a:avLst/>
            </a:prstGeom>
          </p:spPr>
          <p:txBody>
            <a:bodyPr lIns="50800" tIns="50800" rIns="50800" bIns="50800" rtlCol="0" anchor="ctr"/>
            <a:lstStyle/>
            <a:p>
              <a:pPr algn="ctr">
                <a:lnSpc>
                  <a:spcPts val="2659"/>
                </a:lnSpc>
              </a:pPr>
              <a:endParaRPr/>
            </a:p>
          </p:txBody>
        </p:sp>
      </p:grpSp>
      <p:grpSp>
        <p:nvGrpSpPr>
          <p:cNvPr id="6" name="Group 6"/>
          <p:cNvGrpSpPr/>
          <p:nvPr/>
        </p:nvGrpSpPr>
        <p:grpSpPr>
          <a:xfrm>
            <a:off x="-1226391" y="419167"/>
            <a:ext cx="21419231" cy="9086516"/>
            <a:chOff x="0" y="0"/>
            <a:chExt cx="1540308" cy="653433"/>
          </a:xfrm>
        </p:grpSpPr>
        <p:sp>
          <p:nvSpPr>
            <p:cNvPr id="7" name="Freeform 7"/>
            <p:cNvSpPr/>
            <p:nvPr/>
          </p:nvSpPr>
          <p:spPr>
            <a:xfrm>
              <a:off x="0" y="0"/>
              <a:ext cx="1540308" cy="653433"/>
            </a:xfrm>
            <a:custGeom>
              <a:avLst/>
              <a:gdLst/>
              <a:ahLst/>
              <a:cxnLst/>
              <a:rect l="l" t="t" r="r" b="b"/>
              <a:pathLst>
                <a:path w="1540308" h="653433">
                  <a:moveTo>
                    <a:pt x="1337108" y="0"/>
                  </a:moveTo>
                  <a:lnTo>
                    <a:pt x="0" y="0"/>
                  </a:lnTo>
                  <a:lnTo>
                    <a:pt x="203200" y="653433"/>
                  </a:lnTo>
                  <a:lnTo>
                    <a:pt x="1540308" y="653433"/>
                  </a:lnTo>
                  <a:lnTo>
                    <a:pt x="1337108" y="0"/>
                  </a:lnTo>
                  <a:close/>
                </a:path>
              </a:pathLst>
            </a:custGeom>
            <a:solidFill>
              <a:srgbClr val="3D3735"/>
            </a:solidFill>
          </p:spPr>
          <p:txBody>
            <a:bodyPr/>
            <a:lstStyle/>
            <a:p>
              <a:endParaRPr lang="ar-SA"/>
            </a:p>
          </p:txBody>
        </p:sp>
        <p:sp>
          <p:nvSpPr>
            <p:cNvPr id="8" name="TextBox 8"/>
            <p:cNvSpPr txBox="1"/>
            <p:nvPr/>
          </p:nvSpPr>
          <p:spPr>
            <a:xfrm>
              <a:off x="101600" y="-38100"/>
              <a:ext cx="1337108" cy="691533"/>
            </a:xfrm>
            <a:prstGeom prst="rect">
              <a:avLst/>
            </a:prstGeom>
          </p:spPr>
          <p:txBody>
            <a:bodyPr lIns="50800" tIns="50800" rIns="50800" bIns="50800" rtlCol="0" anchor="ctr"/>
            <a:lstStyle/>
            <a:p>
              <a:pPr algn="ctr">
                <a:lnSpc>
                  <a:spcPts val="2659"/>
                </a:lnSpc>
                <a:spcBef>
                  <a:spcPct val="0"/>
                </a:spcBef>
              </a:pPr>
              <a:endParaRPr/>
            </a:p>
          </p:txBody>
        </p:sp>
      </p:grpSp>
      <p:grpSp>
        <p:nvGrpSpPr>
          <p:cNvPr id="9" name="Group 9"/>
          <p:cNvGrpSpPr/>
          <p:nvPr/>
        </p:nvGrpSpPr>
        <p:grpSpPr>
          <a:xfrm>
            <a:off x="0" y="8107296"/>
            <a:ext cx="18998529" cy="1554646"/>
            <a:chOff x="0" y="0"/>
            <a:chExt cx="7449608" cy="609600"/>
          </a:xfrm>
        </p:grpSpPr>
        <p:sp>
          <p:nvSpPr>
            <p:cNvPr id="10" name="Freeform 10"/>
            <p:cNvSpPr/>
            <p:nvPr/>
          </p:nvSpPr>
          <p:spPr>
            <a:xfrm>
              <a:off x="0" y="0"/>
              <a:ext cx="7449608" cy="609600"/>
            </a:xfrm>
            <a:custGeom>
              <a:avLst/>
              <a:gdLst/>
              <a:ahLst/>
              <a:cxnLst/>
              <a:rect l="l" t="t" r="r" b="b"/>
              <a:pathLst>
                <a:path w="7449608" h="609600">
                  <a:moveTo>
                    <a:pt x="7246408" y="0"/>
                  </a:moveTo>
                  <a:lnTo>
                    <a:pt x="0" y="0"/>
                  </a:lnTo>
                  <a:lnTo>
                    <a:pt x="203200" y="609600"/>
                  </a:lnTo>
                  <a:lnTo>
                    <a:pt x="7449608" y="609600"/>
                  </a:lnTo>
                  <a:lnTo>
                    <a:pt x="7246408" y="0"/>
                  </a:lnTo>
                  <a:close/>
                </a:path>
              </a:pathLst>
            </a:custGeom>
            <a:solidFill>
              <a:srgbClr val="E9E1DB"/>
            </a:solidFill>
          </p:spPr>
          <p:txBody>
            <a:bodyPr/>
            <a:lstStyle/>
            <a:p>
              <a:endParaRPr lang="ar-SA"/>
            </a:p>
          </p:txBody>
        </p:sp>
        <p:sp>
          <p:nvSpPr>
            <p:cNvPr id="11" name="TextBox 11"/>
            <p:cNvSpPr txBox="1"/>
            <p:nvPr/>
          </p:nvSpPr>
          <p:spPr>
            <a:xfrm>
              <a:off x="101600" y="-38100"/>
              <a:ext cx="7246408" cy="647700"/>
            </a:xfrm>
            <a:prstGeom prst="rect">
              <a:avLst/>
            </a:prstGeom>
          </p:spPr>
          <p:txBody>
            <a:bodyPr lIns="50800" tIns="50800" rIns="50800" bIns="50800" rtlCol="0" anchor="ctr"/>
            <a:lstStyle/>
            <a:p>
              <a:pPr algn="ctr">
                <a:lnSpc>
                  <a:spcPts val="2659"/>
                </a:lnSpc>
                <a:spcBef>
                  <a:spcPct val="0"/>
                </a:spcBef>
              </a:pPr>
              <a:endParaRPr/>
            </a:p>
          </p:txBody>
        </p:sp>
      </p:grpSp>
      <p:sp>
        <p:nvSpPr>
          <p:cNvPr id="12" name="TextBox 12"/>
          <p:cNvSpPr txBox="1"/>
          <p:nvPr/>
        </p:nvSpPr>
        <p:spPr>
          <a:xfrm>
            <a:off x="1028700" y="904875"/>
            <a:ext cx="15176990" cy="604520"/>
          </a:xfrm>
          <a:prstGeom prst="rect">
            <a:avLst/>
          </a:prstGeom>
        </p:spPr>
        <p:txBody>
          <a:bodyPr lIns="0" tIns="0" rIns="0" bIns="0" rtlCol="0" anchor="t">
            <a:spAutoFit/>
          </a:bodyPr>
          <a:lstStyle/>
          <a:p>
            <a:pPr algn="just">
              <a:lnSpc>
                <a:spcPts val="4480"/>
              </a:lnSpc>
            </a:pPr>
            <a:r>
              <a:rPr lang="en-US" sz="3200">
                <a:solidFill>
                  <a:srgbClr val="E9E1DB"/>
                </a:solidFill>
                <a:latin typeface="Times New Roman"/>
                <a:ea typeface="Times New Roman"/>
                <a:cs typeface="Times New Roman"/>
                <a:sym typeface="Times New Roman"/>
              </a:rPr>
              <a:t>COURSES ATTENDED DURING THE TRAINING</a:t>
            </a:r>
          </a:p>
        </p:txBody>
      </p:sp>
      <p:sp>
        <p:nvSpPr>
          <p:cNvPr id="13" name="TextBox 13"/>
          <p:cNvSpPr txBox="1"/>
          <p:nvPr/>
        </p:nvSpPr>
        <p:spPr>
          <a:xfrm>
            <a:off x="2325850" y="1785355"/>
            <a:ext cx="13636300" cy="663576"/>
          </a:xfrm>
          <a:prstGeom prst="rect">
            <a:avLst/>
          </a:prstGeom>
        </p:spPr>
        <p:txBody>
          <a:bodyPr lIns="0" tIns="0" rIns="0" bIns="0" rtlCol="0" anchor="t">
            <a:spAutoFit/>
          </a:bodyPr>
          <a:lstStyle/>
          <a:p>
            <a:pPr algn="l" rtl="1">
              <a:lnSpc>
                <a:spcPts val="4899"/>
              </a:lnSpc>
              <a:spcBef>
                <a:spcPct val="0"/>
              </a:spcBef>
            </a:pPr>
            <a:r>
              <a:rPr lang="en-US" sz="3499">
                <a:solidFill>
                  <a:srgbClr val="E9E1DB"/>
                </a:solidFill>
                <a:latin typeface="Times New Roman"/>
                <a:ea typeface="Times New Roman"/>
                <a:cs typeface="Times New Roman"/>
                <a:sym typeface="Times New Roman"/>
              </a:rPr>
              <a:t>Microsoft AI &amp; ML Engineering Professional Certificate</a:t>
            </a:r>
            <a:r>
              <a:rPr lang="ar-EG" sz="3499">
                <a:solidFill>
                  <a:srgbClr val="E9E1DB"/>
                </a:solidFill>
                <a:latin typeface="Times New Roman"/>
                <a:ea typeface="Times New Roman"/>
                <a:cs typeface="Times New Roman"/>
                <a:sym typeface="Times New Roman"/>
                <a:rtl/>
              </a:rPr>
              <a:t> </a:t>
            </a:r>
          </a:p>
        </p:txBody>
      </p:sp>
      <p:sp>
        <p:nvSpPr>
          <p:cNvPr id="14" name="TextBox 14"/>
          <p:cNvSpPr txBox="1"/>
          <p:nvPr/>
        </p:nvSpPr>
        <p:spPr>
          <a:xfrm>
            <a:off x="2325850" y="3261677"/>
            <a:ext cx="13326811" cy="3641091"/>
          </a:xfrm>
          <a:prstGeom prst="rect">
            <a:avLst/>
          </a:prstGeom>
        </p:spPr>
        <p:txBody>
          <a:bodyPr lIns="0" tIns="0" rIns="0" bIns="0" rtlCol="0" anchor="t">
            <a:spAutoFit/>
          </a:bodyPr>
          <a:lstStyle/>
          <a:p>
            <a:pPr algn="l">
              <a:lnSpc>
                <a:spcPts val="4059"/>
              </a:lnSpc>
              <a:spcBef>
                <a:spcPct val="0"/>
              </a:spcBef>
            </a:pPr>
            <a:r>
              <a:rPr lang="en-US" sz="2899" b="1">
                <a:solidFill>
                  <a:srgbClr val="E9E1DB"/>
                </a:solidFill>
                <a:latin typeface="Times New Roman Bold"/>
                <a:ea typeface="Times New Roman Bold"/>
                <a:cs typeface="Times New Roman Bold"/>
                <a:sym typeface="Times New Roman Bold"/>
              </a:rPr>
              <a:t>5. Advanced AI and Machine Learning Techniques </a:t>
            </a:r>
          </a:p>
          <a:p>
            <a:pPr algn="l">
              <a:lnSpc>
                <a:spcPts val="4059"/>
              </a:lnSpc>
              <a:spcBef>
                <a:spcPct val="0"/>
              </a:spcBef>
            </a:pPr>
            <a:endParaRPr lang="en-US" sz="2899" b="1">
              <a:solidFill>
                <a:srgbClr val="E9E1DB"/>
              </a:solidFill>
              <a:latin typeface="Times New Roman Bold"/>
              <a:ea typeface="Times New Roman Bold"/>
              <a:cs typeface="Times New Roman Bold"/>
              <a:sym typeface="Times New Roman Bold"/>
            </a:endParaRPr>
          </a:p>
          <a:p>
            <a:pPr algn="l">
              <a:lnSpc>
                <a:spcPts val="4059"/>
              </a:lnSpc>
              <a:spcBef>
                <a:spcPct val="0"/>
              </a:spcBef>
            </a:pPr>
            <a:r>
              <a:rPr lang="en-US" sz="2899">
                <a:solidFill>
                  <a:srgbClr val="E9E1DB"/>
                </a:solidFill>
                <a:latin typeface="Times New Roman"/>
                <a:ea typeface="Times New Roman"/>
                <a:cs typeface="Times New Roman"/>
                <a:sym typeface="Times New Roman"/>
              </a:rPr>
              <a:t>I studied advanced ML techniques such as ensemble learning, boosting, and hyperparameter tuning. I reflected on trade-offs between model accuracy, interpretability, and efficiency. I also deeply explored ethical considerations, such as fairness, bias mitigation, and accountability. I understood that AI/ML systems can unintentionally discriminate, and engineers must design with transparency in mind</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E9E1DB"/>
        </a:solidFill>
        <a:effectLst/>
      </p:bgPr>
    </p:bg>
    <p:spTree>
      <p:nvGrpSpPr>
        <p:cNvPr id="1" name=""/>
        <p:cNvGrpSpPr/>
        <p:nvPr/>
      </p:nvGrpSpPr>
      <p:grpSpPr>
        <a:xfrm>
          <a:off x="0" y="0"/>
          <a:ext cx="0" cy="0"/>
          <a:chOff x="0" y="0"/>
          <a:chExt cx="0" cy="0"/>
        </a:xfrm>
      </p:grpSpPr>
      <p:sp>
        <p:nvSpPr>
          <p:cNvPr id="2" name="TextBox 2"/>
          <p:cNvSpPr txBox="1"/>
          <p:nvPr/>
        </p:nvSpPr>
        <p:spPr>
          <a:xfrm>
            <a:off x="9144000" y="3198535"/>
            <a:ext cx="7892870" cy="5982335"/>
          </a:xfrm>
          <a:prstGeom prst="rect">
            <a:avLst/>
          </a:prstGeom>
        </p:spPr>
        <p:txBody>
          <a:bodyPr lIns="0" tIns="0" rIns="0" bIns="0" rtlCol="0" anchor="t">
            <a:spAutoFit/>
          </a:bodyPr>
          <a:lstStyle/>
          <a:p>
            <a:pPr marL="561337" lvl="1" indent="-280669" algn="just">
              <a:lnSpc>
                <a:spcPts val="3639"/>
              </a:lnSpc>
              <a:buFont typeface="Arial"/>
              <a:buChar char="•"/>
            </a:pPr>
            <a:r>
              <a:rPr lang="en-US" sz="2599" b="1">
                <a:solidFill>
                  <a:srgbClr val="66574D"/>
                </a:solidFill>
                <a:latin typeface="Times New Roman Bold"/>
                <a:ea typeface="Times New Roman Bold"/>
                <a:cs typeface="Times New Roman Bold"/>
                <a:sym typeface="Times New Roman Bold"/>
              </a:rPr>
              <a:t>Analysis of the alignment of outputs with educational objectives</a:t>
            </a:r>
          </a:p>
          <a:p>
            <a:pPr algn="just">
              <a:lnSpc>
                <a:spcPts val="3639"/>
              </a:lnSpc>
            </a:pPr>
            <a:endParaRPr lang="en-US" sz="2599" b="1">
              <a:solidFill>
                <a:srgbClr val="66574D"/>
              </a:solidFill>
              <a:latin typeface="Times New Roman Bold"/>
              <a:ea typeface="Times New Roman Bold"/>
              <a:cs typeface="Times New Roman Bold"/>
              <a:sym typeface="Times New Roman Bold"/>
            </a:endParaRPr>
          </a:p>
          <a:p>
            <a:pPr marL="561337" lvl="1" indent="-280669" algn="just">
              <a:lnSpc>
                <a:spcPts val="3639"/>
              </a:lnSpc>
              <a:buFont typeface="Arial"/>
              <a:buChar char="•"/>
            </a:pPr>
            <a:r>
              <a:rPr lang="en-US" sz="2599" b="1">
                <a:solidFill>
                  <a:srgbClr val="66574D"/>
                </a:solidFill>
                <a:latin typeface="Times New Roman Bold"/>
                <a:ea typeface="Times New Roman Bold"/>
                <a:cs typeface="Times New Roman Bold"/>
                <a:sym typeface="Times New Roman Bold"/>
              </a:rPr>
              <a:t>Create a common errors guide and identify model limitations</a:t>
            </a:r>
          </a:p>
          <a:p>
            <a:pPr algn="just">
              <a:lnSpc>
                <a:spcPts val="3639"/>
              </a:lnSpc>
            </a:pPr>
            <a:endParaRPr lang="en-US" sz="2599" b="1">
              <a:solidFill>
                <a:srgbClr val="66574D"/>
              </a:solidFill>
              <a:latin typeface="Times New Roman Bold"/>
              <a:ea typeface="Times New Roman Bold"/>
              <a:cs typeface="Times New Roman Bold"/>
              <a:sym typeface="Times New Roman Bold"/>
            </a:endParaRPr>
          </a:p>
          <a:p>
            <a:pPr marL="561337" lvl="1" indent="-280669" algn="just">
              <a:lnSpc>
                <a:spcPts val="3639"/>
              </a:lnSpc>
              <a:buFont typeface="Arial"/>
              <a:buChar char="•"/>
            </a:pPr>
            <a:r>
              <a:rPr lang="en-US" sz="2599" b="1">
                <a:solidFill>
                  <a:srgbClr val="66574D"/>
                </a:solidFill>
                <a:latin typeface="Times New Roman Bold"/>
                <a:ea typeface="Times New Roman Bold"/>
                <a:cs typeface="Times New Roman Bold"/>
                <a:sym typeface="Times New Roman Bold"/>
              </a:rPr>
              <a:t>Build a simple application for generating content</a:t>
            </a:r>
          </a:p>
          <a:p>
            <a:pPr algn="just">
              <a:lnSpc>
                <a:spcPts val="3639"/>
              </a:lnSpc>
            </a:pPr>
            <a:endParaRPr lang="en-US" sz="2599" b="1">
              <a:solidFill>
                <a:srgbClr val="66574D"/>
              </a:solidFill>
              <a:latin typeface="Times New Roman Bold"/>
              <a:ea typeface="Times New Roman Bold"/>
              <a:cs typeface="Times New Roman Bold"/>
              <a:sym typeface="Times New Roman Bold"/>
            </a:endParaRPr>
          </a:p>
          <a:p>
            <a:pPr marL="561337" lvl="1" indent="-280669" algn="just">
              <a:lnSpc>
                <a:spcPts val="3639"/>
              </a:lnSpc>
              <a:buFont typeface="Arial"/>
              <a:buChar char="•"/>
            </a:pPr>
            <a:r>
              <a:rPr lang="en-US" sz="2599" b="1">
                <a:solidFill>
                  <a:srgbClr val="66574D"/>
                </a:solidFill>
                <a:latin typeface="Times New Roman Bold"/>
                <a:ea typeface="Times New Roman Bold"/>
                <a:cs typeface="Times New Roman Bold"/>
                <a:sym typeface="Times New Roman Bold"/>
              </a:rPr>
              <a:t>Precisely control model behavior</a:t>
            </a:r>
          </a:p>
          <a:p>
            <a:pPr algn="just">
              <a:lnSpc>
                <a:spcPts val="3639"/>
              </a:lnSpc>
            </a:pPr>
            <a:endParaRPr lang="en-US" sz="2599" b="1">
              <a:solidFill>
                <a:srgbClr val="66574D"/>
              </a:solidFill>
              <a:latin typeface="Times New Roman Bold"/>
              <a:ea typeface="Times New Roman Bold"/>
              <a:cs typeface="Times New Roman Bold"/>
              <a:sym typeface="Times New Roman Bold"/>
            </a:endParaRPr>
          </a:p>
          <a:p>
            <a:pPr marL="561337" lvl="1" indent="-280669" algn="just">
              <a:lnSpc>
                <a:spcPts val="3639"/>
              </a:lnSpc>
              <a:buFont typeface="Arial"/>
              <a:buChar char="•"/>
            </a:pPr>
            <a:r>
              <a:rPr lang="en-US" sz="2599" b="1">
                <a:solidFill>
                  <a:srgbClr val="66574D"/>
                </a:solidFill>
                <a:latin typeface="Times New Roman Bold"/>
                <a:ea typeface="Times New Roman Bold"/>
                <a:cs typeface="Times New Roman Bold"/>
                <a:sym typeface="Times New Roman Bold"/>
              </a:rPr>
              <a:t>Organize presentations and textual output</a:t>
            </a:r>
          </a:p>
          <a:p>
            <a:pPr algn="just">
              <a:lnSpc>
                <a:spcPts val="3639"/>
              </a:lnSpc>
            </a:pPr>
            <a:endParaRPr lang="en-US" sz="2599" b="1">
              <a:solidFill>
                <a:srgbClr val="66574D"/>
              </a:solidFill>
              <a:latin typeface="Times New Roman Bold"/>
              <a:ea typeface="Times New Roman Bold"/>
              <a:cs typeface="Times New Roman Bold"/>
              <a:sym typeface="Times New Roman Bold"/>
            </a:endParaRPr>
          </a:p>
          <a:p>
            <a:pPr marL="561337" lvl="1" indent="-280669" algn="just">
              <a:lnSpc>
                <a:spcPts val="3639"/>
              </a:lnSpc>
              <a:buFont typeface="Arial"/>
              <a:buChar char="•"/>
            </a:pPr>
            <a:r>
              <a:rPr lang="en-US" sz="2599" b="1">
                <a:solidFill>
                  <a:srgbClr val="66574D"/>
                </a:solidFill>
                <a:latin typeface="Times New Roman Bold"/>
                <a:ea typeface="Times New Roman Bold"/>
                <a:cs typeface="Times New Roman Bold"/>
                <a:sym typeface="Times New Roman Bold"/>
              </a:rPr>
              <a:t>Combine theoretical and practical knowledge</a:t>
            </a:r>
          </a:p>
        </p:txBody>
      </p:sp>
      <p:sp>
        <p:nvSpPr>
          <p:cNvPr id="3" name="TextBox 3"/>
          <p:cNvSpPr txBox="1"/>
          <p:nvPr/>
        </p:nvSpPr>
        <p:spPr>
          <a:xfrm>
            <a:off x="1997193" y="819150"/>
            <a:ext cx="14293614" cy="1942728"/>
          </a:xfrm>
          <a:prstGeom prst="rect">
            <a:avLst/>
          </a:prstGeom>
        </p:spPr>
        <p:txBody>
          <a:bodyPr lIns="0" tIns="0" rIns="0" bIns="0" rtlCol="0" anchor="t">
            <a:spAutoFit/>
          </a:bodyPr>
          <a:lstStyle/>
          <a:p>
            <a:pPr algn="ctr">
              <a:lnSpc>
                <a:spcPts val="7370"/>
              </a:lnSpc>
            </a:pPr>
            <a:r>
              <a:rPr lang="en-US" sz="5264">
                <a:solidFill>
                  <a:srgbClr val="66574D"/>
                </a:solidFill>
                <a:latin typeface="Times New Roman"/>
                <a:ea typeface="Times New Roman"/>
                <a:cs typeface="Times New Roman"/>
                <a:sym typeface="Times New Roman"/>
              </a:rPr>
              <a:t>GAINED SKILLS AND PRACTICAL EXPERIENCE</a:t>
            </a:r>
          </a:p>
        </p:txBody>
      </p:sp>
      <p:sp>
        <p:nvSpPr>
          <p:cNvPr id="4" name="TextBox 4"/>
          <p:cNvSpPr txBox="1"/>
          <p:nvPr/>
        </p:nvSpPr>
        <p:spPr>
          <a:xfrm>
            <a:off x="712224" y="3198535"/>
            <a:ext cx="8431776" cy="6896736"/>
          </a:xfrm>
          <a:prstGeom prst="rect">
            <a:avLst/>
          </a:prstGeom>
        </p:spPr>
        <p:txBody>
          <a:bodyPr lIns="0" tIns="0" rIns="0" bIns="0" rtlCol="0" anchor="t">
            <a:spAutoFit/>
          </a:bodyPr>
          <a:lstStyle/>
          <a:p>
            <a:pPr marL="561336" lvl="1" indent="-280668" algn="l">
              <a:lnSpc>
                <a:spcPts val="3639"/>
              </a:lnSpc>
              <a:buFont typeface="Arial"/>
              <a:buChar char="•"/>
            </a:pPr>
            <a:r>
              <a:rPr lang="en-US" sz="2599" b="1">
                <a:solidFill>
                  <a:srgbClr val="66574D"/>
                </a:solidFill>
                <a:latin typeface="Times New Roman Bold"/>
                <a:ea typeface="Times New Roman Bold"/>
                <a:cs typeface="Times New Roman Bold"/>
                <a:sym typeface="Times New Roman Bold"/>
              </a:rPr>
              <a:t>Understand the basic concepts of generative AI</a:t>
            </a:r>
          </a:p>
          <a:p>
            <a:pPr algn="l">
              <a:lnSpc>
                <a:spcPts val="3639"/>
              </a:lnSpc>
            </a:pPr>
            <a:endParaRPr lang="en-US" sz="2599" b="1">
              <a:solidFill>
                <a:srgbClr val="66574D"/>
              </a:solidFill>
              <a:latin typeface="Times New Roman Bold"/>
              <a:ea typeface="Times New Roman Bold"/>
              <a:cs typeface="Times New Roman Bold"/>
              <a:sym typeface="Times New Roman Bold"/>
            </a:endParaRPr>
          </a:p>
          <a:p>
            <a:pPr marL="561336" lvl="1" indent="-280668" algn="l">
              <a:lnSpc>
                <a:spcPts val="3639"/>
              </a:lnSpc>
              <a:buFont typeface="Arial"/>
              <a:buChar char="•"/>
            </a:pPr>
            <a:r>
              <a:rPr lang="en-US" sz="2599" b="1">
                <a:solidFill>
                  <a:srgbClr val="66574D"/>
                </a:solidFill>
                <a:latin typeface="Times New Roman Bold"/>
                <a:ea typeface="Times New Roman Bold"/>
                <a:cs typeface="Times New Roman Bold"/>
                <a:sym typeface="Times New Roman Bold"/>
              </a:rPr>
              <a:t>Be able to interpret the Transforme architecture</a:t>
            </a:r>
          </a:p>
          <a:p>
            <a:pPr algn="l">
              <a:lnSpc>
                <a:spcPts val="3639"/>
              </a:lnSpc>
            </a:pPr>
            <a:endParaRPr lang="en-US" sz="2599" b="1">
              <a:solidFill>
                <a:srgbClr val="66574D"/>
              </a:solidFill>
              <a:latin typeface="Times New Roman Bold"/>
              <a:ea typeface="Times New Roman Bold"/>
              <a:cs typeface="Times New Roman Bold"/>
              <a:sym typeface="Times New Roman Bold"/>
            </a:endParaRPr>
          </a:p>
          <a:p>
            <a:pPr marL="561336" lvl="1" indent="-280668" algn="l">
              <a:lnSpc>
                <a:spcPts val="3639"/>
              </a:lnSpc>
              <a:buFont typeface="Arial"/>
              <a:buChar char="•"/>
            </a:pPr>
            <a:r>
              <a:rPr lang="en-US" sz="2599" b="1">
                <a:solidFill>
                  <a:srgbClr val="66574D"/>
                </a:solidFill>
                <a:latin typeface="Times New Roman Bold"/>
                <a:ea typeface="Times New Roman Bold"/>
                <a:cs typeface="Times New Roman Bold"/>
                <a:sym typeface="Times New Roman Bold"/>
              </a:rPr>
              <a:t>Understand the (LLM) model lifecycle</a:t>
            </a:r>
          </a:p>
          <a:p>
            <a:pPr algn="l">
              <a:lnSpc>
                <a:spcPts val="3639"/>
              </a:lnSpc>
            </a:pPr>
            <a:endParaRPr lang="en-US" sz="2599" b="1">
              <a:solidFill>
                <a:srgbClr val="66574D"/>
              </a:solidFill>
              <a:latin typeface="Times New Roman Bold"/>
              <a:ea typeface="Times New Roman Bold"/>
              <a:cs typeface="Times New Roman Bold"/>
              <a:sym typeface="Times New Roman Bold"/>
            </a:endParaRPr>
          </a:p>
          <a:p>
            <a:pPr marL="561336" lvl="1" indent="-280668" algn="l">
              <a:lnSpc>
                <a:spcPts val="3639"/>
              </a:lnSpc>
              <a:buFont typeface="Arial"/>
              <a:buChar char="•"/>
            </a:pPr>
            <a:r>
              <a:rPr lang="en-US" sz="2599" b="1">
                <a:solidFill>
                  <a:srgbClr val="66574D"/>
                </a:solidFill>
                <a:latin typeface="Times New Roman Bold"/>
                <a:ea typeface="Times New Roman Bold"/>
                <a:cs typeface="Times New Roman Bold"/>
                <a:sym typeface="Times New Roman Bold"/>
              </a:rPr>
              <a:t>Run a ready-made model via API</a:t>
            </a:r>
          </a:p>
          <a:p>
            <a:pPr algn="l">
              <a:lnSpc>
                <a:spcPts val="3639"/>
              </a:lnSpc>
            </a:pPr>
            <a:endParaRPr lang="en-US" sz="2599" b="1">
              <a:solidFill>
                <a:srgbClr val="66574D"/>
              </a:solidFill>
              <a:latin typeface="Times New Roman Bold"/>
              <a:ea typeface="Times New Roman Bold"/>
              <a:cs typeface="Times New Roman Bold"/>
              <a:sym typeface="Times New Roman Bold"/>
            </a:endParaRPr>
          </a:p>
          <a:p>
            <a:pPr marL="561336" lvl="1" indent="-280668" algn="l">
              <a:lnSpc>
                <a:spcPts val="3639"/>
              </a:lnSpc>
              <a:buFont typeface="Arial"/>
              <a:buChar char="•"/>
            </a:pPr>
            <a:r>
              <a:rPr lang="en-US" sz="2599" b="1">
                <a:solidFill>
                  <a:srgbClr val="66574D"/>
                </a:solidFill>
                <a:latin typeface="Times New Roman Bold"/>
                <a:ea typeface="Times New Roman Bold"/>
                <a:cs typeface="Times New Roman Bold"/>
                <a:sym typeface="Times New Roman Bold"/>
              </a:rPr>
              <a:t>Design commands appropriate for the educational content</a:t>
            </a:r>
          </a:p>
          <a:p>
            <a:pPr algn="l">
              <a:lnSpc>
                <a:spcPts val="3639"/>
              </a:lnSpc>
            </a:pPr>
            <a:endParaRPr lang="en-US" sz="2599" b="1">
              <a:solidFill>
                <a:srgbClr val="66574D"/>
              </a:solidFill>
              <a:latin typeface="Times New Roman Bold"/>
              <a:ea typeface="Times New Roman Bold"/>
              <a:cs typeface="Times New Roman Bold"/>
              <a:sym typeface="Times New Roman Bold"/>
            </a:endParaRPr>
          </a:p>
          <a:p>
            <a:pPr marL="561336" lvl="1" indent="-280668" algn="l">
              <a:lnSpc>
                <a:spcPts val="3639"/>
              </a:lnSpc>
              <a:buFont typeface="Arial"/>
              <a:buChar char="•"/>
            </a:pPr>
            <a:r>
              <a:rPr lang="en-US" sz="2599" b="1">
                <a:solidFill>
                  <a:srgbClr val="66574D"/>
                </a:solidFill>
                <a:latin typeface="Times New Roman Bold"/>
                <a:ea typeface="Times New Roman Bold"/>
                <a:cs typeface="Times New Roman Bold"/>
                <a:sym typeface="Times New Roman Bold"/>
              </a:rPr>
              <a:t>Critical thinking in evaluating output</a:t>
            </a:r>
          </a:p>
          <a:p>
            <a:pPr algn="l">
              <a:lnSpc>
                <a:spcPts val="3639"/>
              </a:lnSpc>
            </a:pPr>
            <a:endParaRPr lang="en-US" sz="2599" b="1">
              <a:solidFill>
                <a:srgbClr val="66574D"/>
              </a:solidFill>
              <a:latin typeface="Times New Roman Bold"/>
              <a:ea typeface="Times New Roman Bold"/>
              <a:cs typeface="Times New Roman Bold"/>
              <a:sym typeface="Times New Roman Bold"/>
            </a:endParaRPr>
          </a:p>
          <a:p>
            <a:pPr marL="561336" lvl="1" indent="-280668" algn="l">
              <a:lnSpc>
                <a:spcPts val="3639"/>
              </a:lnSpc>
              <a:buFont typeface="Arial"/>
              <a:buChar char="•"/>
            </a:pPr>
            <a:r>
              <a:rPr lang="en-US" sz="2599" b="1">
                <a:solidFill>
                  <a:srgbClr val="66574D"/>
                </a:solidFill>
                <a:latin typeface="Times New Roman Bold"/>
                <a:ea typeface="Times New Roman Bold"/>
                <a:cs typeface="Times New Roman Bold"/>
                <a:sym typeface="Times New Roman Bold"/>
              </a:rPr>
              <a:t>Design reusable tools</a:t>
            </a:r>
          </a:p>
          <a:p>
            <a:pPr algn="l">
              <a:lnSpc>
                <a:spcPts val="3639"/>
              </a:lnSpc>
            </a:pPr>
            <a:endParaRPr lang="en-US" sz="2599" b="1">
              <a:solidFill>
                <a:srgbClr val="66574D"/>
              </a:solidFill>
              <a:latin typeface="Times New Roman Bold"/>
              <a:ea typeface="Times New Roman Bold"/>
              <a:cs typeface="Times New Roman Bold"/>
              <a:sym typeface="Times New Roman Bold"/>
            </a:endParaRPr>
          </a:p>
          <a:p>
            <a:pPr algn="l">
              <a:lnSpc>
                <a:spcPts val="3639"/>
              </a:lnSpc>
            </a:pPr>
            <a:endParaRPr lang="en-US" sz="2599" b="1">
              <a:solidFill>
                <a:srgbClr val="66574D"/>
              </a:solidFill>
              <a:latin typeface="Times New Roman Bold"/>
              <a:ea typeface="Times New Roman Bold"/>
              <a:cs typeface="Times New Roman Bold"/>
              <a:sym typeface="Times New Roman Bold"/>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10613" y="-742179"/>
            <a:ext cx="18398613" cy="11344737"/>
          </a:xfrm>
          <a:custGeom>
            <a:avLst/>
            <a:gdLst/>
            <a:ahLst/>
            <a:cxnLst/>
            <a:rect l="l" t="t" r="r" b="b"/>
            <a:pathLst>
              <a:path w="18398613" h="11344737">
                <a:moveTo>
                  <a:pt x="0" y="0"/>
                </a:moveTo>
                <a:lnTo>
                  <a:pt x="18398613" y="0"/>
                </a:lnTo>
                <a:lnTo>
                  <a:pt x="18398613" y="11344737"/>
                </a:lnTo>
                <a:lnTo>
                  <a:pt x="0" y="11344737"/>
                </a:lnTo>
                <a:lnTo>
                  <a:pt x="0" y="0"/>
                </a:lnTo>
                <a:close/>
              </a:path>
            </a:pathLst>
          </a:custGeom>
          <a:blipFill>
            <a:blip r:embed="rId2">
              <a:alphaModFix amt="54000"/>
            </a:blip>
            <a:stretch>
              <a:fillRect l="-33672" t="-41712" r="-37018" b="-13999"/>
            </a:stretch>
          </a:blipFill>
        </p:spPr>
        <p:txBody>
          <a:bodyPr/>
          <a:lstStyle/>
          <a:p>
            <a:endParaRPr lang="ar-SA"/>
          </a:p>
        </p:txBody>
      </p:sp>
      <p:grpSp>
        <p:nvGrpSpPr>
          <p:cNvPr id="3" name="Group 3"/>
          <p:cNvGrpSpPr/>
          <p:nvPr/>
        </p:nvGrpSpPr>
        <p:grpSpPr>
          <a:xfrm>
            <a:off x="-4930038" y="2329678"/>
            <a:ext cx="28056400" cy="5462703"/>
            <a:chOff x="0" y="0"/>
            <a:chExt cx="2017602" cy="392836"/>
          </a:xfrm>
        </p:grpSpPr>
        <p:sp>
          <p:nvSpPr>
            <p:cNvPr id="4" name="Freeform 4"/>
            <p:cNvSpPr/>
            <p:nvPr/>
          </p:nvSpPr>
          <p:spPr>
            <a:xfrm>
              <a:off x="0" y="0"/>
              <a:ext cx="2017602" cy="392836"/>
            </a:xfrm>
            <a:custGeom>
              <a:avLst/>
              <a:gdLst/>
              <a:ahLst/>
              <a:cxnLst/>
              <a:rect l="l" t="t" r="r" b="b"/>
              <a:pathLst>
                <a:path w="2017602" h="392836">
                  <a:moveTo>
                    <a:pt x="1814402" y="0"/>
                  </a:moveTo>
                  <a:lnTo>
                    <a:pt x="0" y="0"/>
                  </a:lnTo>
                  <a:lnTo>
                    <a:pt x="203200" y="392836"/>
                  </a:lnTo>
                  <a:lnTo>
                    <a:pt x="2017602" y="392836"/>
                  </a:lnTo>
                  <a:lnTo>
                    <a:pt x="1814402" y="0"/>
                  </a:lnTo>
                  <a:close/>
                </a:path>
              </a:pathLst>
            </a:custGeom>
            <a:solidFill>
              <a:srgbClr val="E9E1DB"/>
            </a:solidFill>
          </p:spPr>
          <p:txBody>
            <a:bodyPr/>
            <a:lstStyle/>
            <a:p>
              <a:endParaRPr lang="ar-SA"/>
            </a:p>
          </p:txBody>
        </p:sp>
        <p:sp>
          <p:nvSpPr>
            <p:cNvPr id="5" name="TextBox 5"/>
            <p:cNvSpPr txBox="1"/>
            <p:nvPr/>
          </p:nvSpPr>
          <p:spPr>
            <a:xfrm>
              <a:off x="101600" y="-38100"/>
              <a:ext cx="1814402" cy="430936"/>
            </a:xfrm>
            <a:prstGeom prst="rect">
              <a:avLst/>
            </a:prstGeom>
          </p:spPr>
          <p:txBody>
            <a:bodyPr lIns="50800" tIns="50800" rIns="50800" bIns="50800" rtlCol="0" anchor="ctr"/>
            <a:lstStyle/>
            <a:p>
              <a:pPr algn="ctr">
                <a:lnSpc>
                  <a:spcPts val="2659"/>
                </a:lnSpc>
                <a:spcBef>
                  <a:spcPct val="0"/>
                </a:spcBef>
              </a:pPr>
              <a:endParaRPr/>
            </a:p>
          </p:txBody>
        </p:sp>
      </p:grpSp>
      <p:grpSp>
        <p:nvGrpSpPr>
          <p:cNvPr id="6" name="Group 6"/>
          <p:cNvGrpSpPr/>
          <p:nvPr/>
        </p:nvGrpSpPr>
        <p:grpSpPr>
          <a:xfrm rot="8711618">
            <a:off x="3592643" y="5908807"/>
            <a:ext cx="3155655" cy="1625941"/>
            <a:chOff x="0" y="0"/>
            <a:chExt cx="1384337" cy="713275"/>
          </a:xfrm>
        </p:grpSpPr>
        <p:sp>
          <p:nvSpPr>
            <p:cNvPr id="7" name="Freeform 7"/>
            <p:cNvSpPr/>
            <p:nvPr/>
          </p:nvSpPr>
          <p:spPr>
            <a:xfrm>
              <a:off x="0" y="0"/>
              <a:ext cx="1384337" cy="713275"/>
            </a:xfrm>
            <a:custGeom>
              <a:avLst/>
              <a:gdLst/>
              <a:ahLst/>
              <a:cxnLst/>
              <a:rect l="l" t="t" r="r" b="b"/>
              <a:pathLst>
                <a:path w="1384337" h="713275">
                  <a:moveTo>
                    <a:pt x="203200" y="0"/>
                  </a:moveTo>
                  <a:lnTo>
                    <a:pt x="1384337" y="0"/>
                  </a:lnTo>
                  <a:lnTo>
                    <a:pt x="1181137" y="713275"/>
                  </a:lnTo>
                  <a:lnTo>
                    <a:pt x="0" y="713275"/>
                  </a:lnTo>
                  <a:lnTo>
                    <a:pt x="203200" y="0"/>
                  </a:lnTo>
                  <a:close/>
                </a:path>
              </a:pathLst>
            </a:custGeom>
            <a:solidFill>
              <a:srgbClr val="3D3735"/>
            </a:solidFill>
          </p:spPr>
          <p:txBody>
            <a:bodyPr/>
            <a:lstStyle/>
            <a:p>
              <a:endParaRPr lang="ar-SA"/>
            </a:p>
          </p:txBody>
        </p:sp>
        <p:sp>
          <p:nvSpPr>
            <p:cNvPr id="8" name="TextBox 8"/>
            <p:cNvSpPr txBox="1"/>
            <p:nvPr/>
          </p:nvSpPr>
          <p:spPr>
            <a:xfrm>
              <a:off x="101600" y="-38100"/>
              <a:ext cx="1181137" cy="751375"/>
            </a:xfrm>
            <a:prstGeom prst="rect">
              <a:avLst/>
            </a:prstGeom>
          </p:spPr>
          <p:txBody>
            <a:bodyPr lIns="50800" tIns="50800" rIns="50800" bIns="50800" rtlCol="0" anchor="ctr"/>
            <a:lstStyle/>
            <a:p>
              <a:pPr algn="ctr">
                <a:lnSpc>
                  <a:spcPts val="2659"/>
                </a:lnSpc>
              </a:pPr>
              <a:endParaRPr/>
            </a:p>
          </p:txBody>
        </p:sp>
      </p:grpSp>
      <p:grpSp>
        <p:nvGrpSpPr>
          <p:cNvPr id="9" name="Group 9"/>
          <p:cNvGrpSpPr/>
          <p:nvPr/>
        </p:nvGrpSpPr>
        <p:grpSpPr>
          <a:xfrm rot="5400000">
            <a:off x="-1241921" y="3041123"/>
            <a:ext cx="9305625" cy="4204754"/>
            <a:chOff x="0" y="0"/>
            <a:chExt cx="1081264" cy="488570"/>
          </a:xfrm>
        </p:grpSpPr>
        <p:sp>
          <p:nvSpPr>
            <p:cNvPr id="10" name="Freeform 10"/>
            <p:cNvSpPr/>
            <p:nvPr/>
          </p:nvSpPr>
          <p:spPr>
            <a:xfrm rot="-5400000">
              <a:off x="296347" y="-296347"/>
              <a:ext cx="488570" cy="1081264"/>
            </a:xfrm>
            <a:custGeom>
              <a:avLst/>
              <a:gdLst/>
              <a:ahLst/>
              <a:cxnLst/>
              <a:rect l="l" t="t" r="r" b="b"/>
              <a:pathLst>
                <a:path w="488570" h="1081264">
                  <a:moveTo>
                    <a:pt x="488570" y="878064"/>
                  </a:moveTo>
                  <a:lnTo>
                    <a:pt x="488570" y="0"/>
                  </a:lnTo>
                  <a:lnTo>
                    <a:pt x="0" y="203200"/>
                  </a:lnTo>
                  <a:lnTo>
                    <a:pt x="0" y="1081264"/>
                  </a:lnTo>
                  <a:lnTo>
                    <a:pt x="488570" y="878064"/>
                  </a:lnTo>
                  <a:close/>
                </a:path>
              </a:pathLst>
            </a:custGeom>
            <a:blipFill>
              <a:blip r:embed="rId3"/>
              <a:stretch>
                <a:fillRect l="-240552" t="-34828" r="-227355" b="-9514"/>
              </a:stretch>
            </a:blipFill>
            <a:ln cap="sq">
              <a:noFill/>
              <a:prstDash val="solid"/>
              <a:miter/>
            </a:ln>
          </p:spPr>
          <p:txBody>
            <a:bodyPr/>
            <a:lstStyle/>
            <a:p>
              <a:endParaRPr lang="ar-SA"/>
            </a:p>
          </p:txBody>
        </p:sp>
      </p:grpSp>
      <p:grpSp>
        <p:nvGrpSpPr>
          <p:cNvPr id="11" name="Group 11"/>
          <p:cNvGrpSpPr/>
          <p:nvPr/>
        </p:nvGrpSpPr>
        <p:grpSpPr>
          <a:xfrm rot="-10800000">
            <a:off x="-7335103" y="5143500"/>
            <a:ext cx="13898056" cy="1578278"/>
            <a:chOff x="0" y="0"/>
            <a:chExt cx="5368038" cy="609600"/>
          </a:xfrm>
        </p:grpSpPr>
        <p:sp>
          <p:nvSpPr>
            <p:cNvPr id="12" name="Freeform 12"/>
            <p:cNvSpPr/>
            <p:nvPr/>
          </p:nvSpPr>
          <p:spPr>
            <a:xfrm>
              <a:off x="0" y="0"/>
              <a:ext cx="5368038" cy="609600"/>
            </a:xfrm>
            <a:custGeom>
              <a:avLst/>
              <a:gdLst/>
              <a:ahLst/>
              <a:cxnLst/>
              <a:rect l="l" t="t" r="r" b="b"/>
              <a:pathLst>
                <a:path w="5368038" h="609600">
                  <a:moveTo>
                    <a:pt x="5164838" y="0"/>
                  </a:moveTo>
                  <a:lnTo>
                    <a:pt x="0" y="0"/>
                  </a:lnTo>
                  <a:lnTo>
                    <a:pt x="203200" y="609600"/>
                  </a:lnTo>
                  <a:lnTo>
                    <a:pt x="5368038" y="609600"/>
                  </a:lnTo>
                  <a:lnTo>
                    <a:pt x="5164838" y="0"/>
                  </a:lnTo>
                  <a:close/>
                </a:path>
              </a:pathLst>
            </a:custGeom>
            <a:solidFill>
              <a:srgbClr val="66574D"/>
            </a:solidFill>
          </p:spPr>
          <p:txBody>
            <a:bodyPr/>
            <a:lstStyle/>
            <a:p>
              <a:endParaRPr lang="ar-SA"/>
            </a:p>
          </p:txBody>
        </p:sp>
        <p:sp>
          <p:nvSpPr>
            <p:cNvPr id="13" name="TextBox 13"/>
            <p:cNvSpPr txBox="1"/>
            <p:nvPr/>
          </p:nvSpPr>
          <p:spPr>
            <a:xfrm>
              <a:off x="101600" y="-38100"/>
              <a:ext cx="5164838" cy="647700"/>
            </a:xfrm>
            <a:prstGeom prst="rect">
              <a:avLst/>
            </a:prstGeom>
          </p:spPr>
          <p:txBody>
            <a:bodyPr lIns="50800" tIns="50800" rIns="50800" bIns="50800" rtlCol="0" anchor="ctr"/>
            <a:lstStyle/>
            <a:p>
              <a:pPr algn="ctr">
                <a:lnSpc>
                  <a:spcPts val="2659"/>
                </a:lnSpc>
                <a:spcBef>
                  <a:spcPct val="0"/>
                </a:spcBef>
              </a:pPr>
              <a:endParaRPr/>
            </a:p>
          </p:txBody>
        </p:sp>
      </p:grpSp>
      <p:sp>
        <p:nvSpPr>
          <p:cNvPr id="14" name="TextBox 14"/>
          <p:cNvSpPr txBox="1"/>
          <p:nvPr/>
        </p:nvSpPr>
        <p:spPr>
          <a:xfrm>
            <a:off x="6930050" y="4141070"/>
            <a:ext cx="10299227" cy="1311539"/>
          </a:xfrm>
          <a:prstGeom prst="rect">
            <a:avLst/>
          </a:prstGeom>
        </p:spPr>
        <p:txBody>
          <a:bodyPr lIns="0" tIns="0" rIns="0" bIns="0" rtlCol="0" anchor="t">
            <a:spAutoFit/>
          </a:bodyPr>
          <a:lstStyle/>
          <a:p>
            <a:pPr algn="ctr">
              <a:lnSpc>
                <a:spcPts val="9610"/>
              </a:lnSpc>
            </a:pPr>
            <a:r>
              <a:rPr lang="en-US" sz="6864">
                <a:solidFill>
                  <a:srgbClr val="66574D"/>
                </a:solidFill>
                <a:latin typeface="Times New Roman"/>
                <a:ea typeface="Times New Roman"/>
                <a:cs typeface="Times New Roman"/>
                <a:sym typeface="Times New Roman"/>
              </a:rPr>
              <a:t>CONCLUSION</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4683794" y="-1057737"/>
            <a:ext cx="18398613" cy="11344737"/>
          </a:xfrm>
          <a:custGeom>
            <a:avLst/>
            <a:gdLst/>
            <a:ahLst/>
            <a:cxnLst/>
            <a:rect l="l" t="t" r="r" b="b"/>
            <a:pathLst>
              <a:path w="18398613" h="11344737">
                <a:moveTo>
                  <a:pt x="0" y="0"/>
                </a:moveTo>
                <a:lnTo>
                  <a:pt x="18398613" y="0"/>
                </a:lnTo>
                <a:lnTo>
                  <a:pt x="18398613" y="11344737"/>
                </a:lnTo>
                <a:lnTo>
                  <a:pt x="0" y="11344737"/>
                </a:lnTo>
                <a:lnTo>
                  <a:pt x="0" y="0"/>
                </a:lnTo>
                <a:close/>
              </a:path>
            </a:pathLst>
          </a:custGeom>
          <a:blipFill>
            <a:blip r:embed="rId2"/>
            <a:stretch>
              <a:fillRect l="-33672" t="-41712" r="-37018" b="-13999"/>
            </a:stretch>
          </a:blipFill>
        </p:spPr>
        <p:txBody>
          <a:bodyPr/>
          <a:lstStyle/>
          <a:p>
            <a:endParaRPr lang="ar-SA"/>
          </a:p>
        </p:txBody>
      </p:sp>
      <p:grpSp>
        <p:nvGrpSpPr>
          <p:cNvPr id="3" name="Group 3"/>
          <p:cNvGrpSpPr/>
          <p:nvPr/>
        </p:nvGrpSpPr>
        <p:grpSpPr>
          <a:xfrm rot="-2088381">
            <a:off x="6234676" y="5034634"/>
            <a:ext cx="7946576" cy="1601596"/>
            <a:chOff x="0" y="0"/>
            <a:chExt cx="3539030" cy="713275"/>
          </a:xfrm>
        </p:grpSpPr>
        <p:sp>
          <p:nvSpPr>
            <p:cNvPr id="4" name="Freeform 4"/>
            <p:cNvSpPr/>
            <p:nvPr/>
          </p:nvSpPr>
          <p:spPr>
            <a:xfrm>
              <a:off x="0" y="0"/>
              <a:ext cx="3539030" cy="713275"/>
            </a:xfrm>
            <a:custGeom>
              <a:avLst/>
              <a:gdLst/>
              <a:ahLst/>
              <a:cxnLst/>
              <a:rect l="l" t="t" r="r" b="b"/>
              <a:pathLst>
                <a:path w="3539030" h="713275">
                  <a:moveTo>
                    <a:pt x="203200" y="0"/>
                  </a:moveTo>
                  <a:lnTo>
                    <a:pt x="3539030" y="0"/>
                  </a:lnTo>
                  <a:lnTo>
                    <a:pt x="3335830" y="713275"/>
                  </a:lnTo>
                  <a:lnTo>
                    <a:pt x="0" y="713275"/>
                  </a:lnTo>
                  <a:lnTo>
                    <a:pt x="203200" y="0"/>
                  </a:lnTo>
                  <a:close/>
                </a:path>
              </a:pathLst>
            </a:custGeom>
            <a:solidFill>
              <a:srgbClr val="66574D"/>
            </a:solidFill>
          </p:spPr>
          <p:txBody>
            <a:bodyPr/>
            <a:lstStyle/>
            <a:p>
              <a:endParaRPr lang="ar-SA"/>
            </a:p>
          </p:txBody>
        </p:sp>
        <p:sp>
          <p:nvSpPr>
            <p:cNvPr id="5" name="TextBox 5"/>
            <p:cNvSpPr txBox="1"/>
            <p:nvPr/>
          </p:nvSpPr>
          <p:spPr>
            <a:xfrm>
              <a:off x="101600" y="-38100"/>
              <a:ext cx="3335830" cy="751375"/>
            </a:xfrm>
            <a:prstGeom prst="rect">
              <a:avLst/>
            </a:prstGeom>
          </p:spPr>
          <p:txBody>
            <a:bodyPr lIns="50800" tIns="50800" rIns="50800" bIns="50800" rtlCol="0" anchor="ctr"/>
            <a:lstStyle/>
            <a:p>
              <a:pPr algn="ctr">
                <a:lnSpc>
                  <a:spcPts val="2659"/>
                </a:lnSpc>
              </a:pPr>
              <a:endParaRPr/>
            </a:p>
          </p:txBody>
        </p:sp>
      </p:grpSp>
      <p:grpSp>
        <p:nvGrpSpPr>
          <p:cNvPr id="6" name="Group 6"/>
          <p:cNvGrpSpPr/>
          <p:nvPr/>
        </p:nvGrpSpPr>
        <p:grpSpPr>
          <a:xfrm>
            <a:off x="6869839" y="905009"/>
            <a:ext cx="14248619" cy="8476983"/>
            <a:chOff x="0" y="0"/>
            <a:chExt cx="1024652" cy="609600"/>
          </a:xfrm>
        </p:grpSpPr>
        <p:sp>
          <p:nvSpPr>
            <p:cNvPr id="7" name="Freeform 7"/>
            <p:cNvSpPr/>
            <p:nvPr/>
          </p:nvSpPr>
          <p:spPr>
            <a:xfrm>
              <a:off x="0" y="0"/>
              <a:ext cx="1024652" cy="609600"/>
            </a:xfrm>
            <a:custGeom>
              <a:avLst/>
              <a:gdLst/>
              <a:ahLst/>
              <a:cxnLst/>
              <a:rect l="l" t="t" r="r" b="b"/>
              <a:pathLst>
                <a:path w="1024652" h="609600">
                  <a:moveTo>
                    <a:pt x="821452" y="0"/>
                  </a:moveTo>
                  <a:lnTo>
                    <a:pt x="0" y="0"/>
                  </a:lnTo>
                  <a:lnTo>
                    <a:pt x="203200" y="609600"/>
                  </a:lnTo>
                  <a:lnTo>
                    <a:pt x="1024652" y="609600"/>
                  </a:lnTo>
                  <a:lnTo>
                    <a:pt x="821452" y="0"/>
                  </a:lnTo>
                  <a:close/>
                </a:path>
              </a:pathLst>
            </a:custGeom>
            <a:solidFill>
              <a:srgbClr val="3D3735"/>
            </a:solidFill>
          </p:spPr>
          <p:txBody>
            <a:bodyPr/>
            <a:lstStyle/>
            <a:p>
              <a:endParaRPr lang="ar-SA"/>
            </a:p>
          </p:txBody>
        </p:sp>
        <p:sp>
          <p:nvSpPr>
            <p:cNvPr id="8" name="TextBox 8"/>
            <p:cNvSpPr txBox="1"/>
            <p:nvPr/>
          </p:nvSpPr>
          <p:spPr>
            <a:xfrm>
              <a:off x="101600" y="-38100"/>
              <a:ext cx="821452" cy="647700"/>
            </a:xfrm>
            <a:prstGeom prst="rect">
              <a:avLst/>
            </a:prstGeom>
          </p:spPr>
          <p:txBody>
            <a:bodyPr lIns="50800" tIns="50800" rIns="50800" bIns="50800" rtlCol="0" anchor="ctr"/>
            <a:lstStyle/>
            <a:p>
              <a:pPr algn="ctr">
                <a:lnSpc>
                  <a:spcPts val="2659"/>
                </a:lnSpc>
                <a:spcBef>
                  <a:spcPct val="0"/>
                </a:spcBef>
              </a:pPr>
              <a:endParaRPr/>
            </a:p>
          </p:txBody>
        </p:sp>
      </p:grpSp>
      <p:grpSp>
        <p:nvGrpSpPr>
          <p:cNvPr id="9" name="Group 9"/>
          <p:cNvGrpSpPr/>
          <p:nvPr/>
        </p:nvGrpSpPr>
        <p:grpSpPr>
          <a:xfrm>
            <a:off x="6869839" y="7206282"/>
            <a:ext cx="13689960" cy="1554646"/>
            <a:chOff x="0" y="0"/>
            <a:chExt cx="5368038" cy="609600"/>
          </a:xfrm>
        </p:grpSpPr>
        <p:sp>
          <p:nvSpPr>
            <p:cNvPr id="10" name="Freeform 10"/>
            <p:cNvSpPr/>
            <p:nvPr/>
          </p:nvSpPr>
          <p:spPr>
            <a:xfrm>
              <a:off x="0" y="0"/>
              <a:ext cx="5368038" cy="609600"/>
            </a:xfrm>
            <a:custGeom>
              <a:avLst/>
              <a:gdLst/>
              <a:ahLst/>
              <a:cxnLst/>
              <a:rect l="l" t="t" r="r" b="b"/>
              <a:pathLst>
                <a:path w="5368038" h="609600">
                  <a:moveTo>
                    <a:pt x="5164838" y="0"/>
                  </a:moveTo>
                  <a:lnTo>
                    <a:pt x="0" y="0"/>
                  </a:lnTo>
                  <a:lnTo>
                    <a:pt x="203200" y="609600"/>
                  </a:lnTo>
                  <a:lnTo>
                    <a:pt x="5368038" y="609600"/>
                  </a:lnTo>
                  <a:lnTo>
                    <a:pt x="5164838" y="0"/>
                  </a:lnTo>
                  <a:close/>
                </a:path>
              </a:pathLst>
            </a:custGeom>
            <a:solidFill>
              <a:srgbClr val="E9E1DB"/>
            </a:solidFill>
          </p:spPr>
          <p:txBody>
            <a:bodyPr/>
            <a:lstStyle/>
            <a:p>
              <a:endParaRPr lang="ar-SA"/>
            </a:p>
          </p:txBody>
        </p:sp>
        <p:sp>
          <p:nvSpPr>
            <p:cNvPr id="11" name="TextBox 11"/>
            <p:cNvSpPr txBox="1"/>
            <p:nvPr/>
          </p:nvSpPr>
          <p:spPr>
            <a:xfrm>
              <a:off x="101600" y="-38100"/>
              <a:ext cx="5164838" cy="647700"/>
            </a:xfrm>
            <a:prstGeom prst="rect">
              <a:avLst/>
            </a:prstGeom>
          </p:spPr>
          <p:txBody>
            <a:bodyPr lIns="50800" tIns="50800" rIns="50800" bIns="50800" rtlCol="0" anchor="ctr"/>
            <a:lstStyle/>
            <a:p>
              <a:pPr algn="ctr">
                <a:lnSpc>
                  <a:spcPts val="2659"/>
                </a:lnSpc>
                <a:spcBef>
                  <a:spcPct val="0"/>
                </a:spcBef>
              </a:pPr>
              <a:endParaRPr/>
            </a:p>
          </p:txBody>
        </p:sp>
      </p:grpSp>
      <p:grpSp>
        <p:nvGrpSpPr>
          <p:cNvPr id="12" name="Group 12"/>
          <p:cNvGrpSpPr/>
          <p:nvPr/>
        </p:nvGrpSpPr>
        <p:grpSpPr>
          <a:xfrm rot="8711618">
            <a:off x="-4404721" y="9273126"/>
            <a:ext cx="7946576" cy="1601596"/>
            <a:chOff x="0" y="0"/>
            <a:chExt cx="3539030" cy="713275"/>
          </a:xfrm>
        </p:grpSpPr>
        <p:sp>
          <p:nvSpPr>
            <p:cNvPr id="13" name="Freeform 13"/>
            <p:cNvSpPr/>
            <p:nvPr/>
          </p:nvSpPr>
          <p:spPr>
            <a:xfrm>
              <a:off x="0" y="0"/>
              <a:ext cx="3539030" cy="713275"/>
            </a:xfrm>
            <a:custGeom>
              <a:avLst/>
              <a:gdLst/>
              <a:ahLst/>
              <a:cxnLst/>
              <a:rect l="l" t="t" r="r" b="b"/>
              <a:pathLst>
                <a:path w="3539030" h="713275">
                  <a:moveTo>
                    <a:pt x="203200" y="0"/>
                  </a:moveTo>
                  <a:lnTo>
                    <a:pt x="3539030" y="0"/>
                  </a:lnTo>
                  <a:lnTo>
                    <a:pt x="3335830" y="713275"/>
                  </a:lnTo>
                  <a:lnTo>
                    <a:pt x="0" y="713275"/>
                  </a:lnTo>
                  <a:lnTo>
                    <a:pt x="203200" y="0"/>
                  </a:lnTo>
                  <a:close/>
                </a:path>
              </a:pathLst>
            </a:custGeom>
            <a:solidFill>
              <a:srgbClr val="66574D"/>
            </a:solidFill>
          </p:spPr>
          <p:txBody>
            <a:bodyPr/>
            <a:lstStyle/>
            <a:p>
              <a:endParaRPr lang="ar-SA"/>
            </a:p>
          </p:txBody>
        </p:sp>
        <p:sp>
          <p:nvSpPr>
            <p:cNvPr id="14" name="TextBox 14"/>
            <p:cNvSpPr txBox="1"/>
            <p:nvPr/>
          </p:nvSpPr>
          <p:spPr>
            <a:xfrm>
              <a:off x="101600" y="-38100"/>
              <a:ext cx="3335830" cy="751375"/>
            </a:xfrm>
            <a:prstGeom prst="rect">
              <a:avLst/>
            </a:prstGeom>
          </p:spPr>
          <p:txBody>
            <a:bodyPr lIns="50800" tIns="50800" rIns="50800" bIns="50800" rtlCol="0" anchor="ctr"/>
            <a:lstStyle/>
            <a:p>
              <a:pPr algn="ctr">
                <a:lnSpc>
                  <a:spcPts val="2659"/>
                </a:lnSpc>
              </a:pPr>
              <a:endParaRPr/>
            </a:p>
          </p:txBody>
        </p:sp>
      </p:grpSp>
      <p:grpSp>
        <p:nvGrpSpPr>
          <p:cNvPr id="15" name="Group 15"/>
          <p:cNvGrpSpPr/>
          <p:nvPr/>
        </p:nvGrpSpPr>
        <p:grpSpPr>
          <a:xfrm>
            <a:off x="-10960542" y="5835432"/>
            <a:ext cx="14248619" cy="8476983"/>
            <a:chOff x="0" y="0"/>
            <a:chExt cx="1024652" cy="609600"/>
          </a:xfrm>
        </p:grpSpPr>
        <p:sp>
          <p:nvSpPr>
            <p:cNvPr id="16" name="Freeform 16"/>
            <p:cNvSpPr/>
            <p:nvPr/>
          </p:nvSpPr>
          <p:spPr>
            <a:xfrm>
              <a:off x="0" y="0"/>
              <a:ext cx="1024652" cy="609600"/>
            </a:xfrm>
            <a:custGeom>
              <a:avLst/>
              <a:gdLst/>
              <a:ahLst/>
              <a:cxnLst/>
              <a:rect l="l" t="t" r="r" b="b"/>
              <a:pathLst>
                <a:path w="1024652" h="609600">
                  <a:moveTo>
                    <a:pt x="821452" y="0"/>
                  </a:moveTo>
                  <a:lnTo>
                    <a:pt x="0" y="0"/>
                  </a:lnTo>
                  <a:lnTo>
                    <a:pt x="203200" y="609600"/>
                  </a:lnTo>
                  <a:lnTo>
                    <a:pt x="1024652" y="609600"/>
                  </a:lnTo>
                  <a:lnTo>
                    <a:pt x="821452" y="0"/>
                  </a:lnTo>
                  <a:close/>
                </a:path>
              </a:pathLst>
            </a:custGeom>
            <a:solidFill>
              <a:srgbClr val="3D3735"/>
            </a:solidFill>
          </p:spPr>
          <p:txBody>
            <a:bodyPr/>
            <a:lstStyle/>
            <a:p>
              <a:endParaRPr lang="ar-SA"/>
            </a:p>
          </p:txBody>
        </p:sp>
        <p:sp>
          <p:nvSpPr>
            <p:cNvPr id="17" name="TextBox 17"/>
            <p:cNvSpPr txBox="1"/>
            <p:nvPr/>
          </p:nvSpPr>
          <p:spPr>
            <a:xfrm>
              <a:off x="101600" y="-38100"/>
              <a:ext cx="821452" cy="647700"/>
            </a:xfrm>
            <a:prstGeom prst="rect">
              <a:avLst/>
            </a:prstGeom>
          </p:spPr>
          <p:txBody>
            <a:bodyPr lIns="50800" tIns="50800" rIns="50800" bIns="50800" rtlCol="0" anchor="ctr"/>
            <a:lstStyle/>
            <a:p>
              <a:pPr algn="ctr">
                <a:lnSpc>
                  <a:spcPts val="2659"/>
                </a:lnSpc>
                <a:spcBef>
                  <a:spcPct val="0"/>
                </a:spcBef>
              </a:pPr>
              <a:endParaRPr/>
            </a:p>
          </p:txBody>
        </p:sp>
      </p:grpSp>
      <p:grpSp>
        <p:nvGrpSpPr>
          <p:cNvPr id="18" name="Group 18"/>
          <p:cNvGrpSpPr/>
          <p:nvPr/>
        </p:nvGrpSpPr>
        <p:grpSpPr>
          <a:xfrm rot="-10800000">
            <a:off x="-10792952" y="7148428"/>
            <a:ext cx="13689960" cy="1554646"/>
            <a:chOff x="0" y="0"/>
            <a:chExt cx="5368038" cy="609600"/>
          </a:xfrm>
        </p:grpSpPr>
        <p:sp>
          <p:nvSpPr>
            <p:cNvPr id="19" name="Freeform 19"/>
            <p:cNvSpPr/>
            <p:nvPr/>
          </p:nvSpPr>
          <p:spPr>
            <a:xfrm>
              <a:off x="0" y="0"/>
              <a:ext cx="5368038" cy="609600"/>
            </a:xfrm>
            <a:custGeom>
              <a:avLst/>
              <a:gdLst/>
              <a:ahLst/>
              <a:cxnLst/>
              <a:rect l="l" t="t" r="r" b="b"/>
              <a:pathLst>
                <a:path w="5368038" h="609600">
                  <a:moveTo>
                    <a:pt x="5164838" y="0"/>
                  </a:moveTo>
                  <a:lnTo>
                    <a:pt x="0" y="0"/>
                  </a:lnTo>
                  <a:lnTo>
                    <a:pt x="203200" y="609600"/>
                  </a:lnTo>
                  <a:lnTo>
                    <a:pt x="5368038" y="609600"/>
                  </a:lnTo>
                  <a:lnTo>
                    <a:pt x="5164838" y="0"/>
                  </a:lnTo>
                  <a:close/>
                </a:path>
              </a:pathLst>
            </a:custGeom>
            <a:solidFill>
              <a:srgbClr val="E9E1DB"/>
            </a:solidFill>
          </p:spPr>
          <p:txBody>
            <a:bodyPr/>
            <a:lstStyle/>
            <a:p>
              <a:endParaRPr lang="ar-SA"/>
            </a:p>
          </p:txBody>
        </p:sp>
        <p:sp>
          <p:nvSpPr>
            <p:cNvPr id="20" name="TextBox 20"/>
            <p:cNvSpPr txBox="1"/>
            <p:nvPr/>
          </p:nvSpPr>
          <p:spPr>
            <a:xfrm>
              <a:off x="101600" y="-38100"/>
              <a:ext cx="5164838" cy="647700"/>
            </a:xfrm>
            <a:prstGeom prst="rect">
              <a:avLst/>
            </a:prstGeom>
          </p:spPr>
          <p:txBody>
            <a:bodyPr lIns="50800" tIns="50800" rIns="50800" bIns="50800" rtlCol="0" anchor="ctr"/>
            <a:lstStyle/>
            <a:p>
              <a:pPr algn="ctr">
                <a:lnSpc>
                  <a:spcPts val="2659"/>
                </a:lnSpc>
                <a:spcBef>
                  <a:spcPct val="0"/>
                </a:spcBef>
              </a:pPr>
              <a:endParaRPr/>
            </a:p>
          </p:txBody>
        </p:sp>
      </p:grpSp>
      <p:sp>
        <p:nvSpPr>
          <p:cNvPr id="21" name="TextBox 21"/>
          <p:cNvSpPr txBox="1"/>
          <p:nvPr/>
        </p:nvSpPr>
        <p:spPr>
          <a:xfrm>
            <a:off x="13319428" y="5787807"/>
            <a:ext cx="3939872" cy="393446"/>
          </a:xfrm>
          <a:prstGeom prst="rect">
            <a:avLst/>
          </a:prstGeom>
        </p:spPr>
        <p:txBody>
          <a:bodyPr lIns="0" tIns="0" rIns="0" bIns="0" rtlCol="0" anchor="t">
            <a:spAutoFit/>
          </a:bodyPr>
          <a:lstStyle/>
          <a:p>
            <a:pPr algn="r">
              <a:lnSpc>
                <a:spcPts val="2737"/>
              </a:lnSpc>
            </a:pPr>
            <a:r>
              <a:rPr lang="en-US" sz="2300">
                <a:solidFill>
                  <a:srgbClr val="E9E1DB"/>
                </a:solidFill>
                <a:latin typeface="Times New Roman"/>
                <a:ea typeface="Times New Roman"/>
                <a:cs typeface="Times New Roman"/>
                <a:sym typeface="Times New Roman"/>
              </a:rPr>
              <a:t>Presented By: Amjad Alamri</a:t>
            </a:r>
          </a:p>
        </p:txBody>
      </p:sp>
      <p:sp>
        <p:nvSpPr>
          <p:cNvPr id="22" name="TextBox 22"/>
          <p:cNvSpPr txBox="1"/>
          <p:nvPr/>
        </p:nvSpPr>
        <p:spPr>
          <a:xfrm>
            <a:off x="12238158" y="7652770"/>
            <a:ext cx="5021142" cy="594995"/>
          </a:xfrm>
          <a:prstGeom prst="rect">
            <a:avLst/>
          </a:prstGeom>
        </p:spPr>
        <p:txBody>
          <a:bodyPr lIns="0" tIns="0" rIns="0" bIns="0" rtlCol="0" anchor="t">
            <a:spAutoFit/>
          </a:bodyPr>
          <a:lstStyle/>
          <a:p>
            <a:pPr algn="r">
              <a:lnSpc>
                <a:spcPts val="4165"/>
              </a:lnSpc>
            </a:pPr>
            <a:r>
              <a:rPr lang="en-US" sz="3500">
                <a:solidFill>
                  <a:srgbClr val="3D3735"/>
                </a:solidFill>
                <a:latin typeface="Times New Roman"/>
                <a:ea typeface="Times New Roman"/>
                <a:cs typeface="Times New Roman"/>
                <a:sym typeface="Times New Roman"/>
              </a:rPr>
              <a:t>2025-1447 </a:t>
            </a:r>
          </a:p>
        </p:txBody>
      </p:sp>
      <p:sp>
        <p:nvSpPr>
          <p:cNvPr id="23" name="TextBox 23"/>
          <p:cNvSpPr txBox="1"/>
          <p:nvPr/>
        </p:nvSpPr>
        <p:spPr>
          <a:xfrm>
            <a:off x="9261778" y="3585942"/>
            <a:ext cx="8115300" cy="1714500"/>
          </a:xfrm>
          <a:prstGeom prst="rect">
            <a:avLst/>
          </a:prstGeom>
        </p:spPr>
        <p:txBody>
          <a:bodyPr lIns="0" tIns="0" rIns="0" bIns="0" rtlCol="0" anchor="t">
            <a:spAutoFit/>
          </a:bodyPr>
          <a:lstStyle/>
          <a:p>
            <a:pPr algn="r">
              <a:lnSpc>
                <a:spcPts val="12599"/>
              </a:lnSpc>
            </a:pPr>
            <a:r>
              <a:rPr lang="en-US" sz="9000">
                <a:solidFill>
                  <a:srgbClr val="E9E1DB"/>
                </a:solidFill>
                <a:latin typeface="Times New Roman"/>
                <a:ea typeface="Times New Roman"/>
                <a:cs typeface="Times New Roman"/>
                <a:sym typeface="Times New Roman"/>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3753</TotalTime>
  <Words>2055</Words>
  <Application>Microsoft Office PowerPoint</Application>
  <PresentationFormat>Custom</PresentationFormat>
  <Paragraphs>224</Paragraphs>
  <Slides>41</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41</vt:i4>
      </vt:variant>
    </vt:vector>
  </HeadingPairs>
  <TitlesOfParts>
    <vt:vector size="48" baseType="lpstr">
      <vt:lpstr>Times New Roman</vt:lpstr>
      <vt:lpstr>Glacial Indifference</vt:lpstr>
      <vt:lpstr>Arial</vt:lpstr>
      <vt:lpstr>Times New Roman Bold</vt:lpstr>
      <vt:lpstr>Calibri</vt:lpstr>
      <vt:lpstr>Glacial Indifference 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نسخة من نسخة من Brown and Cream Minimalist Business Proposal Presentation</dc:title>
  <dc:creator>امجاد العمري</dc:creator>
  <cp:lastModifiedBy>Amjad A. Alamri</cp:lastModifiedBy>
  <cp:revision>5</cp:revision>
  <dcterms:created xsi:type="dcterms:W3CDTF">2006-08-16T00:00:00Z</dcterms:created>
  <dcterms:modified xsi:type="dcterms:W3CDTF">2026-07-02T12:04:20Z</dcterms:modified>
  <dc:identifier>DAGxOhOl9TM</dc:identifier>
</cp:coreProperties>
</file>